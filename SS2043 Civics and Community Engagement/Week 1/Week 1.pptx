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sldIdLst>
    <p:sldId id="256" r:id="rId2"/>
    <p:sldId id="292" r:id="rId3"/>
    <p:sldId id="290" r:id="rId4"/>
    <p:sldId id="291" r:id="rId5"/>
    <p:sldId id="257" r:id="rId6"/>
    <p:sldId id="258" r:id="rId7"/>
    <p:sldId id="259" r:id="rId8"/>
    <p:sldId id="260" r:id="rId9"/>
    <p:sldId id="261" r:id="rId10"/>
    <p:sldId id="263" r:id="rId11"/>
    <p:sldId id="262" r:id="rId12"/>
    <p:sldId id="267" r:id="rId13"/>
    <p:sldId id="268" r:id="rId14"/>
    <p:sldId id="270" r:id="rId15"/>
    <p:sldId id="271" r:id="rId16"/>
    <p:sldId id="273" r:id="rId17"/>
    <p:sldId id="274"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7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E6C4AE-9146-4608-B4B6-213FF72E84E5}"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en-US"/>
        </a:p>
      </dgm:t>
    </dgm:pt>
    <dgm:pt modelId="{22E1E7A1-C2F0-4C67-9A05-3F5D73DC51F9}">
      <dgm:prSet custT="1"/>
      <dgm:spPr>
        <a:solidFill>
          <a:schemeClr val="tx2">
            <a:lumMod val="10000"/>
            <a:lumOff val="90000"/>
          </a:schemeClr>
        </a:solidFill>
      </dgm:spPr>
      <dgm:t>
        <a:bodyPr/>
        <a:lstStyle/>
        <a:p>
          <a:pPr algn="just"/>
          <a:r>
            <a:rPr lang="en-US" sz="2800" dirty="0">
              <a:latin typeface="Abadi" panose="020B0604020104020204" pitchFamily="34" charset="0"/>
            </a:rPr>
            <a:t>Understanding key terms (Civics, Community Engagement, Citizenship)</a:t>
          </a:r>
        </a:p>
      </dgm:t>
    </dgm:pt>
    <dgm:pt modelId="{5E631259-AF3F-415C-893F-91C9B67C5AC4}" type="parTrans" cxnId="{991EFC06-C5DA-478F-9D56-91F9DCEB0420}">
      <dgm:prSet/>
      <dgm:spPr/>
      <dgm:t>
        <a:bodyPr/>
        <a:lstStyle/>
        <a:p>
          <a:endParaRPr lang="en-US"/>
        </a:p>
      </dgm:t>
    </dgm:pt>
    <dgm:pt modelId="{13E02110-556A-4F89-81A2-2215DF765981}" type="sibTrans" cxnId="{991EFC06-C5DA-478F-9D56-91F9DCEB0420}">
      <dgm:prSet/>
      <dgm:spPr/>
      <dgm:t>
        <a:bodyPr/>
        <a:lstStyle/>
        <a:p>
          <a:endParaRPr lang="en-US"/>
        </a:p>
      </dgm:t>
    </dgm:pt>
    <dgm:pt modelId="{1244305C-D42D-482C-838C-6E79721064A3}">
      <dgm:prSet custT="1"/>
      <dgm:spPr>
        <a:solidFill>
          <a:schemeClr val="tx2">
            <a:lumMod val="10000"/>
            <a:lumOff val="90000"/>
          </a:schemeClr>
        </a:solidFill>
      </dgm:spPr>
      <dgm:t>
        <a:bodyPr/>
        <a:lstStyle/>
        <a:p>
          <a:pPr algn="just"/>
          <a:r>
            <a:rPr lang="en-US" sz="2800" b="0" dirty="0">
              <a:latin typeface="Abadi" panose="020B0604020104020204" pitchFamily="34" charset="0"/>
            </a:rPr>
            <a:t>Civics and Citizenship in the light of Islamic/Pakistani Framework</a:t>
          </a:r>
        </a:p>
      </dgm:t>
    </dgm:pt>
    <dgm:pt modelId="{D52CBF11-7D7A-47CC-A93A-635E4781F582}" type="parTrans" cxnId="{192C7577-B2DE-4642-B5E6-3018DC7A8919}">
      <dgm:prSet/>
      <dgm:spPr/>
      <dgm:t>
        <a:bodyPr/>
        <a:lstStyle/>
        <a:p>
          <a:endParaRPr lang="en-US"/>
        </a:p>
      </dgm:t>
    </dgm:pt>
    <dgm:pt modelId="{9D20DAB6-4F44-43F6-8306-DDC1C2CF7362}" type="sibTrans" cxnId="{192C7577-B2DE-4642-B5E6-3018DC7A8919}">
      <dgm:prSet/>
      <dgm:spPr/>
      <dgm:t>
        <a:bodyPr/>
        <a:lstStyle/>
        <a:p>
          <a:endParaRPr lang="en-US"/>
        </a:p>
      </dgm:t>
    </dgm:pt>
    <dgm:pt modelId="{D328A611-5CDE-4AB4-8FCD-B3E549732014}">
      <dgm:prSet custT="1"/>
      <dgm:spPr>
        <a:solidFill>
          <a:schemeClr val="tx2">
            <a:lumMod val="10000"/>
            <a:lumOff val="90000"/>
          </a:schemeClr>
        </a:solidFill>
      </dgm:spPr>
      <dgm:t>
        <a:bodyPr/>
        <a:lstStyle/>
        <a:p>
          <a:r>
            <a:rPr lang="en-US" sz="2800" b="0" dirty="0">
              <a:latin typeface="Abadi" panose="020B0604020104020204" pitchFamily="34" charset="0"/>
            </a:rPr>
            <a:t>Civic Duty vs. Responsibility</a:t>
          </a:r>
        </a:p>
      </dgm:t>
    </dgm:pt>
    <dgm:pt modelId="{C9B825C4-5322-47BD-B03D-03EBE2FF7DCC}" type="parTrans" cxnId="{43C26513-897C-43A6-8A6B-F545E8A1DE9A}">
      <dgm:prSet/>
      <dgm:spPr/>
      <dgm:t>
        <a:bodyPr/>
        <a:lstStyle/>
        <a:p>
          <a:endParaRPr lang="en-US"/>
        </a:p>
      </dgm:t>
    </dgm:pt>
    <dgm:pt modelId="{D4100D54-A9E0-49E9-8113-7227D83AE13F}" type="sibTrans" cxnId="{43C26513-897C-43A6-8A6B-F545E8A1DE9A}">
      <dgm:prSet/>
      <dgm:spPr/>
      <dgm:t>
        <a:bodyPr/>
        <a:lstStyle/>
        <a:p>
          <a:endParaRPr lang="en-US"/>
        </a:p>
      </dgm:t>
    </dgm:pt>
    <dgm:pt modelId="{1F1BAC49-7689-4E30-BDDA-73770BCAA26C}">
      <dgm:prSet custT="1"/>
      <dgm:spPr>
        <a:solidFill>
          <a:schemeClr val="tx2">
            <a:lumMod val="10000"/>
            <a:lumOff val="90000"/>
          </a:schemeClr>
        </a:solidFill>
      </dgm:spPr>
      <dgm:t>
        <a:bodyPr/>
        <a:lstStyle/>
        <a:p>
          <a:r>
            <a:rPr lang="en-US" sz="2800" dirty="0">
              <a:latin typeface="Abadi" panose="020B0604020104020204" pitchFamily="34" charset="0"/>
            </a:rPr>
            <a:t>Community Need Assessment Tools</a:t>
          </a:r>
        </a:p>
      </dgm:t>
    </dgm:pt>
    <dgm:pt modelId="{7007B0A9-1214-4A4F-AADB-7B7CC02C7B3B}" type="parTrans" cxnId="{2B044C44-7566-4146-A3AD-B294EDE0D795}">
      <dgm:prSet/>
      <dgm:spPr/>
      <dgm:t>
        <a:bodyPr/>
        <a:lstStyle/>
        <a:p>
          <a:endParaRPr lang="en-US"/>
        </a:p>
      </dgm:t>
    </dgm:pt>
    <dgm:pt modelId="{9721D456-5F5F-4E2B-B4BA-4D45CB4C2DF3}" type="sibTrans" cxnId="{2B044C44-7566-4146-A3AD-B294EDE0D795}">
      <dgm:prSet/>
      <dgm:spPr/>
      <dgm:t>
        <a:bodyPr/>
        <a:lstStyle/>
        <a:p>
          <a:endParaRPr lang="en-US"/>
        </a:p>
      </dgm:t>
    </dgm:pt>
    <dgm:pt modelId="{3A677E82-DED7-4650-9D09-2E77B2F52680}" type="pres">
      <dgm:prSet presAssocID="{E2E6C4AE-9146-4608-B4B6-213FF72E84E5}" presName="linear" presStyleCnt="0">
        <dgm:presLayoutVars>
          <dgm:animLvl val="lvl"/>
          <dgm:resizeHandles val="exact"/>
        </dgm:presLayoutVars>
      </dgm:prSet>
      <dgm:spPr/>
    </dgm:pt>
    <dgm:pt modelId="{515AAA6B-2AD5-4122-8932-AD1D7D18586C}" type="pres">
      <dgm:prSet presAssocID="{22E1E7A1-C2F0-4C67-9A05-3F5D73DC51F9}" presName="parentText" presStyleLbl="node1" presStyleIdx="0" presStyleCnt="4" custScaleY="104829">
        <dgm:presLayoutVars>
          <dgm:chMax val="0"/>
          <dgm:bulletEnabled val="1"/>
        </dgm:presLayoutVars>
      </dgm:prSet>
      <dgm:spPr/>
    </dgm:pt>
    <dgm:pt modelId="{80B45A65-5907-4A8C-A160-33310F8CE469}" type="pres">
      <dgm:prSet presAssocID="{13E02110-556A-4F89-81A2-2215DF765981}" presName="spacer" presStyleCnt="0"/>
      <dgm:spPr/>
    </dgm:pt>
    <dgm:pt modelId="{2AC0352F-BF22-44D6-9A16-E79E90792DB0}" type="pres">
      <dgm:prSet presAssocID="{1244305C-D42D-482C-838C-6E79721064A3}" presName="parentText" presStyleLbl="node1" presStyleIdx="1" presStyleCnt="4" custScaleY="83898">
        <dgm:presLayoutVars>
          <dgm:chMax val="0"/>
          <dgm:bulletEnabled val="1"/>
        </dgm:presLayoutVars>
      </dgm:prSet>
      <dgm:spPr/>
    </dgm:pt>
    <dgm:pt modelId="{28AD1989-0121-494F-966C-BCE4D50671CC}" type="pres">
      <dgm:prSet presAssocID="{9D20DAB6-4F44-43F6-8306-DDC1C2CF7362}" presName="spacer" presStyleCnt="0"/>
      <dgm:spPr/>
    </dgm:pt>
    <dgm:pt modelId="{3B829BBD-B86D-4010-8FF0-85AB4A6BDCFC}" type="pres">
      <dgm:prSet presAssocID="{D328A611-5CDE-4AB4-8FCD-B3E549732014}" presName="parentText" presStyleLbl="node1" presStyleIdx="2" presStyleCnt="4" custScaleY="85357" custLinFactNeighborX="185" custLinFactNeighborY="12054">
        <dgm:presLayoutVars>
          <dgm:chMax val="0"/>
          <dgm:bulletEnabled val="1"/>
        </dgm:presLayoutVars>
      </dgm:prSet>
      <dgm:spPr/>
    </dgm:pt>
    <dgm:pt modelId="{BB37CE67-47A6-400F-894B-7515C7E715A6}" type="pres">
      <dgm:prSet presAssocID="{D4100D54-A9E0-49E9-8113-7227D83AE13F}" presName="spacer" presStyleCnt="0"/>
      <dgm:spPr/>
    </dgm:pt>
    <dgm:pt modelId="{65FDE927-BF55-4C88-8249-00B73E55600A}" type="pres">
      <dgm:prSet presAssocID="{1F1BAC49-7689-4E30-BDDA-73770BCAA26C}" presName="parentText" presStyleLbl="node1" presStyleIdx="3" presStyleCnt="4" custLinFactNeighborX="-1438" custLinFactNeighborY="6050">
        <dgm:presLayoutVars>
          <dgm:chMax val="0"/>
          <dgm:bulletEnabled val="1"/>
        </dgm:presLayoutVars>
      </dgm:prSet>
      <dgm:spPr/>
    </dgm:pt>
  </dgm:ptLst>
  <dgm:cxnLst>
    <dgm:cxn modelId="{8A3F7902-EA58-4120-A51F-A2A31E99F78C}" type="presOf" srcId="{1244305C-D42D-482C-838C-6E79721064A3}" destId="{2AC0352F-BF22-44D6-9A16-E79E90792DB0}" srcOrd="0" destOrd="0" presId="urn:microsoft.com/office/officeart/2005/8/layout/vList2"/>
    <dgm:cxn modelId="{991EFC06-C5DA-478F-9D56-91F9DCEB0420}" srcId="{E2E6C4AE-9146-4608-B4B6-213FF72E84E5}" destId="{22E1E7A1-C2F0-4C67-9A05-3F5D73DC51F9}" srcOrd="0" destOrd="0" parTransId="{5E631259-AF3F-415C-893F-91C9B67C5AC4}" sibTransId="{13E02110-556A-4F89-81A2-2215DF765981}"/>
    <dgm:cxn modelId="{43C26513-897C-43A6-8A6B-F545E8A1DE9A}" srcId="{E2E6C4AE-9146-4608-B4B6-213FF72E84E5}" destId="{D328A611-5CDE-4AB4-8FCD-B3E549732014}" srcOrd="2" destOrd="0" parTransId="{C9B825C4-5322-47BD-B03D-03EBE2FF7DCC}" sibTransId="{D4100D54-A9E0-49E9-8113-7227D83AE13F}"/>
    <dgm:cxn modelId="{023A3526-2A76-45AF-9964-4F2DB7DA01E7}" type="presOf" srcId="{E2E6C4AE-9146-4608-B4B6-213FF72E84E5}" destId="{3A677E82-DED7-4650-9D09-2E77B2F52680}" srcOrd="0" destOrd="0" presId="urn:microsoft.com/office/officeart/2005/8/layout/vList2"/>
    <dgm:cxn modelId="{BBBE285E-96A0-4BC5-AF66-2DA279F2D5BD}" type="presOf" srcId="{1F1BAC49-7689-4E30-BDDA-73770BCAA26C}" destId="{65FDE927-BF55-4C88-8249-00B73E55600A}" srcOrd="0" destOrd="0" presId="urn:microsoft.com/office/officeart/2005/8/layout/vList2"/>
    <dgm:cxn modelId="{2B044C44-7566-4146-A3AD-B294EDE0D795}" srcId="{E2E6C4AE-9146-4608-B4B6-213FF72E84E5}" destId="{1F1BAC49-7689-4E30-BDDA-73770BCAA26C}" srcOrd="3" destOrd="0" parTransId="{7007B0A9-1214-4A4F-AADB-7B7CC02C7B3B}" sibTransId="{9721D456-5F5F-4E2B-B4BA-4D45CB4C2DF3}"/>
    <dgm:cxn modelId="{192C7577-B2DE-4642-B5E6-3018DC7A8919}" srcId="{E2E6C4AE-9146-4608-B4B6-213FF72E84E5}" destId="{1244305C-D42D-482C-838C-6E79721064A3}" srcOrd="1" destOrd="0" parTransId="{D52CBF11-7D7A-47CC-A93A-635E4781F582}" sibTransId="{9D20DAB6-4F44-43F6-8306-DDC1C2CF7362}"/>
    <dgm:cxn modelId="{801D3182-1F1C-4759-8306-C0F4DB798672}" type="presOf" srcId="{D328A611-5CDE-4AB4-8FCD-B3E549732014}" destId="{3B829BBD-B86D-4010-8FF0-85AB4A6BDCFC}" srcOrd="0" destOrd="0" presId="urn:microsoft.com/office/officeart/2005/8/layout/vList2"/>
    <dgm:cxn modelId="{0EAD12D6-1F05-41B8-AAF9-2CA1E5FBE710}" type="presOf" srcId="{22E1E7A1-C2F0-4C67-9A05-3F5D73DC51F9}" destId="{515AAA6B-2AD5-4122-8932-AD1D7D18586C}" srcOrd="0" destOrd="0" presId="urn:microsoft.com/office/officeart/2005/8/layout/vList2"/>
    <dgm:cxn modelId="{02E7BC0B-0CF4-49A5-97F0-7BC16173C166}" type="presParOf" srcId="{3A677E82-DED7-4650-9D09-2E77B2F52680}" destId="{515AAA6B-2AD5-4122-8932-AD1D7D18586C}" srcOrd="0" destOrd="0" presId="urn:microsoft.com/office/officeart/2005/8/layout/vList2"/>
    <dgm:cxn modelId="{7F081940-F606-4104-9057-192EA3B2FD7B}" type="presParOf" srcId="{3A677E82-DED7-4650-9D09-2E77B2F52680}" destId="{80B45A65-5907-4A8C-A160-33310F8CE469}" srcOrd="1" destOrd="0" presId="urn:microsoft.com/office/officeart/2005/8/layout/vList2"/>
    <dgm:cxn modelId="{57020BD0-8321-47E5-822E-FF9B10B05EA2}" type="presParOf" srcId="{3A677E82-DED7-4650-9D09-2E77B2F52680}" destId="{2AC0352F-BF22-44D6-9A16-E79E90792DB0}" srcOrd="2" destOrd="0" presId="urn:microsoft.com/office/officeart/2005/8/layout/vList2"/>
    <dgm:cxn modelId="{B3720E5B-B2D8-49CF-9303-7E18E56DAA1A}" type="presParOf" srcId="{3A677E82-DED7-4650-9D09-2E77B2F52680}" destId="{28AD1989-0121-494F-966C-BCE4D50671CC}" srcOrd="3" destOrd="0" presId="urn:microsoft.com/office/officeart/2005/8/layout/vList2"/>
    <dgm:cxn modelId="{4F0C31BF-7469-449E-B6C9-C367CFD413FD}" type="presParOf" srcId="{3A677E82-DED7-4650-9D09-2E77B2F52680}" destId="{3B829BBD-B86D-4010-8FF0-85AB4A6BDCFC}" srcOrd="4" destOrd="0" presId="urn:microsoft.com/office/officeart/2005/8/layout/vList2"/>
    <dgm:cxn modelId="{C9AB206E-B47B-4188-A4B5-AD44712CAAD0}" type="presParOf" srcId="{3A677E82-DED7-4650-9D09-2E77B2F52680}" destId="{BB37CE67-47A6-400F-894B-7515C7E715A6}" srcOrd="5" destOrd="0" presId="urn:microsoft.com/office/officeart/2005/8/layout/vList2"/>
    <dgm:cxn modelId="{5FA453B7-B514-4408-A1C7-C0B394589717}" type="presParOf" srcId="{3A677E82-DED7-4650-9D09-2E77B2F52680}" destId="{65FDE927-BF55-4C88-8249-00B73E55600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AAA6B-2AD5-4122-8932-AD1D7D18586C}">
      <dsp:nvSpPr>
        <dsp:cNvPr id="0" name=""/>
        <dsp:cNvSpPr/>
      </dsp:nvSpPr>
      <dsp:spPr>
        <a:xfrm>
          <a:off x="0" y="106833"/>
          <a:ext cx="6205912" cy="1255935"/>
        </a:xfrm>
        <a:prstGeom prst="roundRect">
          <a:avLst/>
        </a:prstGeom>
        <a:solidFill>
          <a:schemeClr val="tx2">
            <a:lumMod val="10000"/>
            <a:lumOff val="9000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latin typeface="Abadi" panose="020B0604020104020204" pitchFamily="34" charset="0"/>
            </a:rPr>
            <a:t>Understanding key terms (Civics, Community Engagement, Citizenship)</a:t>
          </a:r>
        </a:p>
      </dsp:txBody>
      <dsp:txXfrm>
        <a:off x="61310" y="168143"/>
        <a:ext cx="6083292" cy="1133315"/>
      </dsp:txXfrm>
    </dsp:sp>
    <dsp:sp modelId="{2AC0352F-BF22-44D6-9A16-E79E90792DB0}">
      <dsp:nvSpPr>
        <dsp:cNvPr id="0" name=""/>
        <dsp:cNvSpPr/>
      </dsp:nvSpPr>
      <dsp:spPr>
        <a:xfrm>
          <a:off x="0" y="1547088"/>
          <a:ext cx="6205912" cy="1005165"/>
        </a:xfrm>
        <a:prstGeom prst="roundRect">
          <a:avLst/>
        </a:prstGeom>
        <a:solidFill>
          <a:schemeClr val="tx2">
            <a:lumMod val="10000"/>
            <a:lumOff val="9000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b="0" kern="1200" dirty="0">
              <a:latin typeface="Abadi" panose="020B0604020104020204" pitchFamily="34" charset="0"/>
            </a:rPr>
            <a:t>Civics and Citizenship in the light of Islamic/Pakistani Framework</a:t>
          </a:r>
        </a:p>
      </dsp:txBody>
      <dsp:txXfrm>
        <a:off x="49068" y="1596156"/>
        <a:ext cx="6107776" cy="907029"/>
      </dsp:txXfrm>
    </dsp:sp>
    <dsp:sp modelId="{3B829BBD-B86D-4010-8FF0-85AB4A6BDCFC}">
      <dsp:nvSpPr>
        <dsp:cNvPr id="0" name=""/>
        <dsp:cNvSpPr/>
      </dsp:nvSpPr>
      <dsp:spPr>
        <a:xfrm>
          <a:off x="0" y="2758792"/>
          <a:ext cx="6205912" cy="1022645"/>
        </a:xfrm>
        <a:prstGeom prst="roundRect">
          <a:avLst/>
        </a:prstGeom>
        <a:solidFill>
          <a:schemeClr val="tx2">
            <a:lumMod val="10000"/>
            <a:lumOff val="9000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kern="1200" dirty="0">
              <a:latin typeface="Abadi" panose="020B0604020104020204" pitchFamily="34" charset="0"/>
            </a:rPr>
            <a:t>Civic Duty vs. Responsibility</a:t>
          </a:r>
        </a:p>
      </dsp:txBody>
      <dsp:txXfrm>
        <a:off x="49921" y="2808713"/>
        <a:ext cx="6106070" cy="922803"/>
      </dsp:txXfrm>
    </dsp:sp>
    <dsp:sp modelId="{65FDE927-BF55-4C88-8249-00B73E55600A}">
      <dsp:nvSpPr>
        <dsp:cNvPr id="0" name=""/>
        <dsp:cNvSpPr/>
      </dsp:nvSpPr>
      <dsp:spPr>
        <a:xfrm>
          <a:off x="0" y="3954690"/>
          <a:ext cx="6205912" cy="1198080"/>
        </a:xfrm>
        <a:prstGeom prst="roundRect">
          <a:avLst/>
        </a:prstGeom>
        <a:solidFill>
          <a:schemeClr val="tx2">
            <a:lumMod val="10000"/>
            <a:lumOff val="9000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latin typeface="Abadi" panose="020B0604020104020204" pitchFamily="34" charset="0"/>
            </a:rPr>
            <a:t>Community Need Assessment Tools</a:t>
          </a:r>
        </a:p>
      </dsp:txBody>
      <dsp:txXfrm>
        <a:off x="58485" y="4013175"/>
        <a:ext cx="6088942" cy="10811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56FB-E05E-443F-88A1-CFC90638997C}"/>
              </a:ext>
            </a:extLst>
          </p:cNvPr>
          <p:cNvSpPr>
            <a:spLocks noGrp="1"/>
          </p:cNvSpPr>
          <p:nvPr>
            <p:ph type="ctrTitle"/>
          </p:nvPr>
        </p:nvSpPr>
        <p:spPr>
          <a:xfrm>
            <a:off x="1084727" y="1597961"/>
            <a:ext cx="9144000" cy="31623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3C5DA97A-281B-4A77-9D2C-C5E6A860E645}"/>
              </a:ext>
            </a:extLst>
          </p:cNvPr>
          <p:cNvSpPr>
            <a:spLocks noGrp="1"/>
          </p:cNvSpPr>
          <p:nvPr>
            <p:ph type="subTitle" idx="1"/>
          </p:nvPr>
        </p:nvSpPr>
        <p:spPr>
          <a:xfrm>
            <a:off x="1084727" y="4902488"/>
            <a:ext cx="9144000" cy="985075"/>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FD7BAE-E194-4223-BB4E-5E487863F5BE}"/>
              </a:ext>
            </a:extLst>
          </p:cNvPr>
          <p:cNvSpPr>
            <a:spLocks noGrp="1"/>
          </p:cNvSpPr>
          <p:nvPr>
            <p:ph type="dt" sz="half" idx="10"/>
          </p:nvPr>
        </p:nvSpPr>
        <p:spPr/>
        <p:txBody>
          <a:bodyPr/>
          <a:lstStyle/>
          <a:p>
            <a:fld id="{8C28A28C-4C6A-46EA-90C0-4EE0B89CC5C7}" type="datetimeFigureOut">
              <a:rPr lang="en-US" smtClean="0"/>
              <a:t>1/18/2026</a:t>
            </a:fld>
            <a:endParaRPr lang="en-US" dirty="0"/>
          </a:p>
        </p:txBody>
      </p:sp>
      <p:sp>
        <p:nvSpPr>
          <p:cNvPr id="5" name="Footer Placeholder 4">
            <a:extLst>
              <a:ext uri="{FF2B5EF4-FFF2-40B4-BE49-F238E27FC236}">
                <a16:creationId xmlns:a16="http://schemas.microsoft.com/office/drawing/2014/main" id="{9721F6C9-7279-4DF8-9462-3EFEFA03F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57072-0A38-49AD-8D0D-0E42DD488E4F}"/>
              </a:ext>
            </a:extLst>
          </p:cNvPr>
          <p:cNvSpPr>
            <a:spLocks noGrp="1"/>
          </p:cNvSpPr>
          <p:nvPr>
            <p:ph type="sldNum" sz="quarter" idx="12"/>
          </p:nvPr>
        </p:nvSpPr>
        <p:spPr/>
        <p:txBody>
          <a:bodyPr/>
          <a:lstStyle/>
          <a:p>
            <a:fld id="{5DEF7F31-0B8A-474A-B86C-91F381754329}" type="slidenum">
              <a:rPr lang="en-US" smtClean="0"/>
              <a:t>‹#›</a:t>
            </a:fld>
            <a:endParaRPr lang="en-US" dirty="0"/>
          </a:p>
        </p:txBody>
      </p:sp>
    </p:spTree>
    <p:extLst>
      <p:ext uri="{BB962C8B-B14F-4D97-AF65-F5344CB8AC3E}">
        <p14:creationId xmlns:p14="http://schemas.microsoft.com/office/powerpoint/2010/main" val="289312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8199-C6CF-4DFF-A750-435F06CC7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F2D5EB-F993-411F-9DBA-971321FC0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5D216-27F9-4078-8349-ABC9F614A5E7}"/>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5" name="Footer Placeholder 4">
            <a:extLst>
              <a:ext uri="{FF2B5EF4-FFF2-40B4-BE49-F238E27FC236}">
                <a16:creationId xmlns:a16="http://schemas.microsoft.com/office/drawing/2014/main" id="{4384F8A8-FBA7-4F25-ADEA-AF346495D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609F8-5897-4724-8FA6-3EFDE8F2DD7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40342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F0C-7BA8-490D-B4C9-CCE145DCD19A}"/>
              </a:ext>
            </a:extLst>
          </p:cNvPr>
          <p:cNvSpPr>
            <a:spLocks noGrp="1"/>
          </p:cNvSpPr>
          <p:nvPr>
            <p:ph type="title"/>
          </p:nvPr>
        </p:nvSpPr>
        <p:spPr>
          <a:xfrm>
            <a:off x="1084726" y="1709738"/>
            <a:ext cx="9143999" cy="3050523"/>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290E61-B837-4BE4-9BC7-6AF706BCCA42}"/>
              </a:ext>
            </a:extLst>
          </p:cNvPr>
          <p:cNvSpPr>
            <a:spLocks noGrp="1"/>
          </p:cNvSpPr>
          <p:nvPr>
            <p:ph type="body" idx="1"/>
          </p:nvPr>
        </p:nvSpPr>
        <p:spPr>
          <a:xfrm>
            <a:off x="1084726" y="4902488"/>
            <a:ext cx="9143999" cy="985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2E15F-E46D-44C6-9FB9-07B0BC545AEF}"/>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5" name="Footer Placeholder 4">
            <a:extLst>
              <a:ext uri="{FF2B5EF4-FFF2-40B4-BE49-F238E27FC236}">
                <a16:creationId xmlns:a16="http://schemas.microsoft.com/office/drawing/2014/main" id="{2EBF6955-3667-4857-B35A-9E12F7988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4B309-D15E-4FA1-9B8D-8C1F3B56C37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102906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19AB-91F9-4F80-9B5D-2E6FE925F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19F334-D0CF-4DFD-BAA9-3ECD639B1F1E}"/>
              </a:ext>
            </a:extLst>
          </p:cNvPr>
          <p:cNvSpPr>
            <a:spLocks noGrp="1"/>
          </p:cNvSpPr>
          <p:nvPr>
            <p:ph sz="half" idx="1"/>
          </p:nvPr>
        </p:nvSpPr>
        <p:spPr>
          <a:xfrm>
            <a:off x="1077362" y="2227809"/>
            <a:ext cx="4942438" cy="3949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5E0B5D-4613-4DA7-BA20-58B19BE8A496}"/>
              </a:ext>
            </a:extLst>
          </p:cNvPr>
          <p:cNvSpPr>
            <a:spLocks noGrp="1"/>
          </p:cNvSpPr>
          <p:nvPr>
            <p:ph sz="half" idx="2"/>
          </p:nvPr>
        </p:nvSpPr>
        <p:spPr>
          <a:xfrm>
            <a:off x="6172200" y="2227809"/>
            <a:ext cx="4855265" cy="394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F311AB-0603-424D-BC42-0CEAB3562BA4}"/>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6" name="Footer Placeholder 5">
            <a:extLst>
              <a:ext uri="{FF2B5EF4-FFF2-40B4-BE49-F238E27FC236}">
                <a16:creationId xmlns:a16="http://schemas.microsoft.com/office/drawing/2014/main" id="{7A3AA2AC-0C5F-4835-BE47-D780C2989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6C54C0-DFDA-4778-9EE8-5E5C30E05412}"/>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276722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3603-5B09-4916-8324-A6BDAB4E060E}"/>
              </a:ext>
            </a:extLst>
          </p:cNvPr>
          <p:cNvSpPr>
            <a:spLocks noGrp="1"/>
          </p:cNvSpPr>
          <p:nvPr>
            <p:ph type="title"/>
          </p:nvPr>
        </p:nvSpPr>
        <p:spPr>
          <a:xfrm>
            <a:off x="1084726" y="365125"/>
            <a:ext cx="9942739"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74073C-C15B-4218-9B84-6758955176E7}"/>
              </a:ext>
            </a:extLst>
          </p:cNvPr>
          <p:cNvSpPr>
            <a:spLocks noGrp="1"/>
          </p:cNvSpPr>
          <p:nvPr>
            <p:ph type="body" idx="1"/>
          </p:nvPr>
        </p:nvSpPr>
        <p:spPr>
          <a:xfrm>
            <a:off x="1084725" y="1681163"/>
            <a:ext cx="4912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16D27-36F6-440B-A9BE-8B9499047CEF}"/>
              </a:ext>
            </a:extLst>
          </p:cNvPr>
          <p:cNvSpPr>
            <a:spLocks noGrp="1"/>
          </p:cNvSpPr>
          <p:nvPr>
            <p:ph sz="half" idx="2"/>
          </p:nvPr>
        </p:nvSpPr>
        <p:spPr>
          <a:xfrm>
            <a:off x="1084726" y="2505075"/>
            <a:ext cx="49128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C12010D-7AC4-4A70-A211-6A29274119DB}"/>
              </a:ext>
            </a:extLst>
          </p:cNvPr>
          <p:cNvSpPr>
            <a:spLocks noGrp="1"/>
          </p:cNvSpPr>
          <p:nvPr>
            <p:ph type="body" sz="quarter" idx="3"/>
          </p:nvPr>
        </p:nvSpPr>
        <p:spPr>
          <a:xfrm>
            <a:off x="6172200" y="1681163"/>
            <a:ext cx="48552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AE85B5-3350-49A4-86A1-E5DAED491624}"/>
              </a:ext>
            </a:extLst>
          </p:cNvPr>
          <p:cNvSpPr>
            <a:spLocks noGrp="1"/>
          </p:cNvSpPr>
          <p:nvPr>
            <p:ph sz="quarter" idx="4"/>
          </p:nvPr>
        </p:nvSpPr>
        <p:spPr>
          <a:xfrm>
            <a:off x="6172200" y="2505075"/>
            <a:ext cx="48552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3E874-D08B-4D81-B82D-5DF242E4A1AA}"/>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8" name="Footer Placeholder 7">
            <a:extLst>
              <a:ext uri="{FF2B5EF4-FFF2-40B4-BE49-F238E27FC236}">
                <a16:creationId xmlns:a16="http://schemas.microsoft.com/office/drawing/2014/main" id="{AE174067-0FFA-41C3-A3A6-E8907CC32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947985-FBC0-4118-8877-2E327F637DF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3157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0282-3DE7-4AB9-83AC-AFEDD22AF3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A7436C-706A-443F-86CD-4444C82818B2}"/>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4" name="Footer Placeholder 3">
            <a:extLst>
              <a:ext uri="{FF2B5EF4-FFF2-40B4-BE49-F238E27FC236}">
                <a16:creationId xmlns:a16="http://schemas.microsoft.com/office/drawing/2014/main" id="{09B53292-7EA5-45D0-957F-636A44FC06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76F59D-34BB-462C-B506-040B9E982FCB}"/>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253050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E55245-AB52-41B4-9B28-55E6527DA2F8}"/>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3" name="Footer Placeholder 2">
            <a:extLst>
              <a:ext uri="{FF2B5EF4-FFF2-40B4-BE49-F238E27FC236}">
                <a16:creationId xmlns:a16="http://schemas.microsoft.com/office/drawing/2014/main" id="{CA73B8AE-58B0-4FDF-8430-9D8D3DD537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9E4D91-8619-43C1-841B-B5F47DE0173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81357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A660-DF93-4947-B93F-BF118D3B5F80}"/>
              </a:ext>
            </a:extLst>
          </p:cNvPr>
          <p:cNvSpPr>
            <a:spLocks noGrp="1"/>
          </p:cNvSpPr>
          <p:nvPr>
            <p:ph type="title"/>
          </p:nvPr>
        </p:nvSpPr>
        <p:spPr>
          <a:xfrm>
            <a:off x="1084727" y="457200"/>
            <a:ext cx="3687298"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2F0292E-B3E1-4FD6-A7FA-C165BAC21C28}"/>
              </a:ext>
            </a:extLst>
          </p:cNvPr>
          <p:cNvSpPr>
            <a:spLocks noGrp="1"/>
          </p:cNvSpPr>
          <p:nvPr>
            <p:ph idx="1"/>
          </p:nvPr>
        </p:nvSpPr>
        <p:spPr>
          <a:xfrm>
            <a:off x="5183188" y="987425"/>
            <a:ext cx="5844277"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EFB0ECC-817B-4A71-AFB5-FC60A2BC3ABC}"/>
              </a:ext>
            </a:extLst>
          </p:cNvPr>
          <p:cNvSpPr>
            <a:spLocks noGrp="1"/>
          </p:cNvSpPr>
          <p:nvPr>
            <p:ph type="body" sz="half" idx="2"/>
          </p:nvPr>
        </p:nvSpPr>
        <p:spPr>
          <a:xfrm>
            <a:off x="1084727" y="2253343"/>
            <a:ext cx="3687298" cy="3615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788E0B-6135-4F59-A35A-2CA1A8BA4ED2}"/>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6" name="Footer Placeholder 5">
            <a:extLst>
              <a:ext uri="{FF2B5EF4-FFF2-40B4-BE49-F238E27FC236}">
                <a16:creationId xmlns:a16="http://schemas.microsoft.com/office/drawing/2014/main" id="{FD0DEF36-4037-4E6D-988F-CC8E3F11C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C0D2D-D878-4723-A002-5A601EFB48A0}"/>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876750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59D5-B8A1-4C9C-A61F-E082A44330BB}"/>
              </a:ext>
            </a:extLst>
          </p:cNvPr>
          <p:cNvSpPr>
            <a:spLocks noGrp="1"/>
          </p:cNvSpPr>
          <p:nvPr>
            <p:ph type="title"/>
          </p:nvPr>
        </p:nvSpPr>
        <p:spPr>
          <a:xfrm>
            <a:off x="1084727" y="720433"/>
            <a:ext cx="3687298" cy="1587337"/>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4CB4F5F-E6E7-45C3-B35C-80F81FB1A5E8}"/>
              </a:ext>
            </a:extLst>
          </p:cNvPr>
          <p:cNvSpPr>
            <a:spLocks noGrp="1"/>
          </p:cNvSpPr>
          <p:nvPr>
            <p:ph type="pic" idx="1"/>
          </p:nvPr>
        </p:nvSpPr>
        <p:spPr>
          <a:xfrm>
            <a:off x="5183188" y="987425"/>
            <a:ext cx="58277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33AB7-4F8E-4A9F-AC15-89E6A6E00347}"/>
              </a:ext>
            </a:extLst>
          </p:cNvPr>
          <p:cNvSpPr>
            <a:spLocks noGrp="1"/>
          </p:cNvSpPr>
          <p:nvPr>
            <p:ph type="body" sz="half" idx="2"/>
          </p:nvPr>
        </p:nvSpPr>
        <p:spPr>
          <a:xfrm>
            <a:off x="1084727" y="2449286"/>
            <a:ext cx="3687298" cy="3419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074B526-866D-4E11-A7F9-081BD4EDF484}"/>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6" name="Footer Placeholder 5">
            <a:extLst>
              <a:ext uri="{FF2B5EF4-FFF2-40B4-BE49-F238E27FC236}">
                <a16:creationId xmlns:a16="http://schemas.microsoft.com/office/drawing/2014/main" id="{CD758BF8-E962-4367-8495-62438FDD4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C20AE1-C97D-4E6C-9DB2-B2904C2CF247}"/>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8074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9E81-5CFF-4A28-B9C8-5D54E51DF202}"/>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58A4CC8-DCB0-4E94-98A7-236E3D186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1F802-21C2-44B2-A419-55469D826571}"/>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5" name="Footer Placeholder 4">
            <a:extLst>
              <a:ext uri="{FF2B5EF4-FFF2-40B4-BE49-F238E27FC236}">
                <a16:creationId xmlns:a16="http://schemas.microsoft.com/office/drawing/2014/main" id="{84BDB709-08FF-4C4A-8670-4CCA9146F9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95375-1CC8-4950-8439-877451C4266D}"/>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763740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8BDF0-A155-454D-B3E2-AD15D0905A62}"/>
              </a:ext>
            </a:extLst>
          </p:cNvPr>
          <p:cNvSpPr>
            <a:spLocks noGrp="1"/>
          </p:cNvSpPr>
          <p:nvPr>
            <p:ph type="title" orient="vert"/>
          </p:nvPr>
        </p:nvSpPr>
        <p:spPr>
          <a:xfrm>
            <a:off x="9073242" y="827313"/>
            <a:ext cx="2280557" cy="5061857"/>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7244E0D-96EC-4B35-BA5C-5DAFCC7281AE}"/>
              </a:ext>
            </a:extLst>
          </p:cNvPr>
          <p:cNvSpPr>
            <a:spLocks noGrp="1"/>
          </p:cNvSpPr>
          <p:nvPr>
            <p:ph type="body" orient="vert" idx="1"/>
          </p:nvPr>
        </p:nvSpPr>
        <p:spPr>
          <a:xfrm>
            <a:off x="838200" y="827313"/>
            <a:ext cx="8115300" cy="50618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3ADC4E-9FB1-439F-B0FB-47F47B3421A7}"/>
              </a:ext>
            </a:extLst>
          </p:cNvPr>
          <p:cNvSpPr>
            <a:spLocks noGrp="1"/>
          </p:cNvSpPr>
          <p:nvPr>
            <p:ph type="dt" sz="half" idx="10"/>
          </p:nvPr>
        </p:nvSpPr>
        <p:spPr/>
        <p:txBody>
          <a:bodyPr/>
          <a:lstStyle/>
          <a:p>
            <a:fld id="{8C28A28C-4C6A-46EA-90C0-4EE0B89CC5C7}" type="datetimeFigureOut">
              <a:rPr lang="en-US" smtClean="0"/>
              <a:t>1/18/2026</a:t>
            </a:fld>
            <a:endParaRPr lang="en-US"/>
          </a:p>
        </p:txBody>
      </p:sp>
      <p:sp>
        <p:nvSpPr>
          <p:cNvPr id="5" name="Footer Placeholder 4">
            <a:extLst>
              <a:ext uri="{FF2B5EF4-FFF2-40B4-BE49-F238E27FC236}">
                <a16:creationId xmlns:a16="http://schemas.microsoft.com/office/drawing/2014/main" id="{637EE406-061A-4440-BA75-3B684FC84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6D93CF-F5F3-4897-A51E-47D577FDD344}"/>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666021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192E3E-68A9-4F36-936C-1C8D0B9EF132}"/>
              </a:ext>
            </a:extLst>
          </p:cNvPr>
          <p:cNvSpPr/>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3F214EB0-7E6D-4536-9350-5CB688B56F26}"/>
              </a:ext>
            </a:extLst>
          </p:cNvPr>
          <p:cNvSpPr>
            <a:spLocks noGrp="1"/>
          </p:cNvSpPr>
          <p:nvPr>
            <p:ph type="title"/>
          </p:nvPr>
        </p:nvSpPr>
        <p:spPr>
          <a:xfrm>
            <a:off x="1077362" y="720434"/>
            <a:ext cx="9950103" cy="150737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BF5455E-4725-4924-BF7D-2E1FC9E391F8}"/>
              </a:ext>
            </a:extLst>
          </p:cNvPr>
          <p:cNvSpPr>
            <a:spLocks noGrp="1"/>
          </p:cNvSpPr>
          <p:nvPr>
            <p:ph type="body" idx="1"/>
          </p:nvPr>
        </p:nvSpPr>
        <p:spPr>
          <a:xfrm>
            <a:off x="1077362" y="2427316"/>
            <a:ext cx="9950103" cy="35135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2CAD9D9-1A1D-4438-9F3D-E5E58FD72F1F}"/>
              </a:ext>
            </a:extLst>
          </p:cNvPr>
          <p:cNvSpPr>
            <a:spLocks noGrp="1"/>
          </p:cNvSpPr>
          <p:nvPr>
            <p:ph type="dt" sz="half" idx="2"/>
          </p:nvPr>
        </p:nvSpPr>
        <p:spPr>
          <a:xfrm>
            <a:off x="9243751" y="6356350"/>
            <a:ext cx="2296603" cy="365125"/>
          </a:xfrm>
          <a:prstGeom prst="rect">
            <a:avLst/>
          </a:prstGeom>
        </p:spPr>
        <p:txBody>
          <a:bodyPr vert="horz" lIns="91440" tIns="45720" rIns="91440" bIns="45720" rtlCol="0" anchor="ctr"/>
          <a:lstStyle>
            <a:lvl1pPr algn="r">
              <a:defRPr sz="900">
                <a:solidFill>
                  <a:schemeClr val="bg1"/>
                </a:solidFill>
              </a:defRPr>
            </a:lvl1pPr>
          </a:lstStyle>
          <a:p>
            <a:fld id="{8C28A28C-4C6A-46EA-90C0-4EE0B89CC5C7}" type="datetimeFigureOut">
              <a:rPr lang="en-US" smtClean="0"/>
              <a:pPr/>
              <a:t>1/18/2026</a:t>
            </a:fld>
            <a:endParaRPr lang="en-US" dirty="0"/>
          </a:p>
        </p:txBody>
      </p:sp>
      <p:sp>
        <p:nvSpPr>
          <p:cNvPr id="5" name="Footer Placeholder 4">
            <a:extLst>
              <a:ext uri="{FF2B5EF4-FFF2-40B4-BE49-F238E27FC236}">
                <a16:creationId xmlns:a16="http://schemas.microsoft.com/office/drawing/2014/main" id="{AE80A827-D7BF-4CA4-8C29-5AE54ADA4787}"/>
              </a:ext>
            </a:extLst>
          </p:cNvPr>
          <p:cNvSpPr>
            <a:spLocks noGrp="1"/>
          </p:cNvSpPr>
          <p:nvPr>
            <p:ph type="ftr" sz="quarter" idx="3"/>
          </p:nvPr>
        </p:nvSpPr>
        <p:spPr>
          <a:xfrm rot="5400000">
            <a:off x="-1610380" y="1926575"/>
            <a:ext cx="3830351"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06717188-1DE1-4DA5-8161-21179E4ADEAE}"/>
              </a:ext>
            </a:extLst>
          </p:cNvPr>
          <p:cNvSpPr>
            <a:spLocks noGrp="1"/>
          </p:cNvSpPr>
          <p:nvPr>
            <p:ph type="sldNum" sz="quarter" idx="4"/>
          </p:nvPr>
        </p:nvSpPr>
        <p:spPr>
          <a:xfrm>
            <a:off x="11540355" y="6356350"/>
            <a:ext cx="410973" cy="365125"/>
          </a:xfrm>
          <a:prstGeom prst="rect">
            <a:avLst/>
          </a:prstGeom>
        </p:spPr>
        <p:txBody>
          <a:bodyPr vert="horz" lIns="91440" tIns="45720" rIns="91440" bIns="45720" rtlCol="0" anchor="ctr"/>
          <a:lstStyle>
            <a:lvl1pPr algn="r">
              <a:defRPr sz="900">
                <a:solidFill>
                  <a:schemeClr val="bg1"/>
                </a:solidFill>
              </a:defRPr>
            </a:lvl1pPr>
          </a:lstStyle>
          <a:p>
            <a:fld id="{5DEF7F31-0B8A-474A-B86C-91F381754329}" type="slidenum">
              <a:rPr lang="en-US" smtClean="0"/>
              <a:pPr/>
              <a:t>‹#›</a:t>
            </a:fld>
            <a:endParaRPr lang="en-US" dirty="0"/>
          </a:p>
        </p:txBody>
      </p:sp>
    </p:spTree>
    <p:extLst>
      <p:ext uri="{BB962C8B-B14F-4D97-AF65-F5344CB8AC3E}">
        <p14:creationId xmlns:p14="http://schemas.microsoft.com/office/powerpoint/2010/main" val="2305872193"/>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2" r:id="rId6"/>
    <p:sldLayoutId id="2147483718" r:id="rId7"/>
    <p:sldLayoutId id="2147483719" r:id="rId8"/>
    <p:sldLayoutId id="2147483720" r:id="rId9"/>
    <p:sldLayoutId id="2147483721" r:id="rId10"/>
    <p:sldLayoutId id="2147483723" r:id="rId11"/>
  </p:sldLayoutIdLst>
  <p:txStyles>
    <p:titleStyle>
      <a:lvl1pPr algn="l" defTabSz="914400" rtl="0" eaLnBrk="1" latinLnBrk="0" hangingPunct="1">
        <a:lnSpc>
          <a:spcPct val="110000"/>
        </a:lnSpc>
        <a:spcBef>
          <a:spcPct val="0"/>
        </a:spcBef>
        <a:buNone/>
        <a:defRPr sz="3200" b="1" kern="120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94360"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37">
            <a:extLst>
              <a:ext uri="{FF2B5EF4-FFF2-40B4-BE49-F238E27FC236}">
                <a16:creationId xmlns:a16="http://schemas.microsoft.com/office/drawing/2014/main" id="{AE192E3E-68A9-4F36-936C-1C8D0B9EF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40" name="Rectangle 39">
            <a:extLst>
              <a:ext uri="{FF2B5EF4-FFF2-40B4-BE49-F238E27FC236}">
                <a16:creationId xmlns:a16="http://schemas.microsoft.com/office/drawing/2014/main" id="{DA1766D0-745A-4921-A68E-56642A650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B1A79C-5979-168F-10F6-64CE79B55438}"/>
              </a:ext>
            </a:extLst>
          </p:cNvPr>
          <p:cNvSpPr>
            <a:spLocks noGrp="1"/>
          </p:cNvSpPr>
          <p:nvPr>
            <p:ph type="ctrTitle"/>
          </p:nvPr>
        </p:nvSpPr>
        <p:spPr>
          <a:xfrm>
            <a:off x="666761" y="1127860"/>
            <a:ext cx="10274577" cy="814850"/>
          </a:xfrm>
        </p:spPr>
        <p:txBody>
          <a:bodyPr vert="horz" lIns="91440" tIns="45720" rIns="91440" bIns="45720" rtlCol="0" anchor="b">
            <a:noAutofit/>
          </a:bodyPr>
          <a:lstStyle/>
          <a:p>
            <a:pPr algn="ctr">
              <a:lnSpc>
                <a:spcPct val="100000"/>
              </a:lnSpc>
            </a:pPr>
            <a:r>
              <a:rPr lang="en-US" sz="2800" b="1" kern="1200" dirty="0">
                <a:solidFill>
                  <a:schemeClr val="tx1"/>
                </a:solidFill>
                <a:effectLst/>
                <a:latin typeface="+mj-lt"/>
                <a:ea typeface="+mj-ea"/>
                <a:cs typeface="+mj-cs"/>
              </a:rPr>
              <a:t>FAST National University of Computer and Emerging Sciences, Islamabad </a:t>
            </a:r>
          </a:p>
        </p:txBody>
      </p:sp>
      <p:sp>
        <p:nvSpPr>
          <p:cNvPr id="8" name="TextBox 7">
            <a:extLst>
              <a:ext uri="{FF2B5EF4-FFF2-40B4-BE49-F238E27FC236}">
                <a16:creationId xmlns:a16="http://schemas.microsoft.com/office/drawing/2014/main" id="{CBE32D04-1D2C-A648-F41A-A4FB0B76CB0C}"/>
              </a:ext>
            </a:extLst>
          </p:cNvPr>
          <p:cNvSpPr txBox="1"/>
          <p:nvPr/>
        </p:nvSpPr>
        <p:spPr>
          <a:xfrm>
            <a:off x="2965930" y="4915289"/>
            <a:ext cx="6260138" cy="1196830"/>
          </a:xfrm>
          <a:prstGeom prst="rect">
            <a:avLst/>
          </a:prstGeom>
        </p:spPr>
        <p:txBody>
          <a:bodyPr vert="horz" lIns="91440" tIns="45720" rIns="91440" bIns="45720" rtlCol="0">
            <a:normAutofit/>
          </a:bodyPr>
          <a:lstStyle/>
          <a:p>
            <a:pPr marL="0" indent="0" algn="ctr" defTabSz="914400">
              <a:lnSpc>
                <a:spcPct val="120000"/>
              </a:lnSpc>
              <a:spcAft>
                <a:spcPts val="600"/>
              </a:spcAft>
              <a:buNone/>
            </a:pPr>
            <a:r>
              <a:rPr lang="en-US" sz="2000" b="1" dirty="0"/>
              <a:t>Civics and </a:t>
            </a:r>
            <a:r>
              <a:rPr lang="en-US" sz="2000" b="1"/>
              <a:t>Community Engagement</a:t>
            </a:r>
            <a:endParaRPr lang="en-US" sz="2000" b="1" dirty="0"/>
          </a:p>
        </p:txBody>
      </p:sp>
      <p:sp>
        <p:nvSpPr>
          <p:cNvPr id="42" name="Freeform: Shape 41">
            <a:extLst>
              <a:ext uri="{FF2B5EF4-FFF2-40B4-BE49-F238E27FC236}">
                <a16:creationId xmlns:a16="http://schemas.microsoft.com/office/drawing/2014/main" id="{583F1E3F-D7BF-4DB5-8016-70B9E385E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94726" y="-906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ue circle with black text&#10;&#10;Description automatically generated">
            <a:extLst>
              <a:ext uri="{FF2B5EF4-FFF2-40B4-BE49-F238E27FC236}">
                <a16:creationId xmlns:a16="http://schemas.microsoft.com/office/drawing/2014/main" id="{558DF5A4-F428-E942-D1EA-6C85A942E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945" y="2346945"/>
            <a:ext cx="2164109" cy="2164109"/>
          </a:xfrm>
          <a:prstGeom prst="rect">
            <a:avLst/>
          </a:prstGeom>
        </p:spPr>
      </p:pic>
      <p:sp>
        <p:nvSpPr>
          <p:cNvPr id="44" name="Freeform: Shape 43">
            <a:extLst>
              <a:ext uri="{FF2B5EF4-FFF2-40B4-BE49-F238E27FC236}">
                <a16:creationId xmlns:a16="http://schemas.microsoft.com/office/drawing/2014/main" id="{DD0D3E7A-8DF6-4A78-A03C-86AD69746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7088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Isolated twigs and flowers on a white surface">
            <a:extLst>
              <a:ext uri="{FF2B5EF4-FFF2-40B4-BE49-F238E27FC236}">
                <a16:creationId xmlns:a16="http://schemas.microsoft.com/office/drawing/2014/main" id="{810DF5A1-14FD-C93F-D78B-5AEA0FE2C975}"/>
              </a:ext>
            </a:extLst>
          </p:cNvPr>
          <p:cNvPicPr>
            <a:picLocks noChangeAspect="1"/>
          </p:cNvPicPr>
          <p:nvPr/>
        </p:nvPicPr>
        <p:blipFill>
          <a:blip r:embed="rId3"/>
          <a:srcRect t="19355"/>
          <a:stretch/>
        </p:blipFill>
        <p:spPr>
          <a:xfrm>
            <a:off x="0" y="5315589"/>
            <a:ext cx="2598233" cy="1461503"/>
          </a:xfrm>
          <a:prstGeom prst="rect">
            <a:avLst/>
          </a:prstGeom>
        </p:spPr>
      </p:pic>
      <p:pic>
        <p:nvPicPr>
          <p:cNvPr id="10" name="Picture 9">
            <a:extLst>
              <a:ext uri="{FF2B5EF4-FFF2-40B4-BE49-F238E27FC236}">
                <a16:creationId xmlns:a16="http://schemas.microsoft.com/office/drawing/2014/main" id="{937AC256-66ED-978B-FC3C-24870A16FFE2}"/>
              </a:ext>
            </a:extLst>
          </p:cNvPr>
          <p:cNvPicPr>
            <a:picLocks noChangeAspect="1"/>
          </p:cNvPicPr>
          <p:nvPr/>
        </p:nvPicPr>
        <p:blipFill>
          <a:blip r:embed="rId4"/>
          <a:stretch>
            <a:fillRect/>
          </a:stretch>
        </p:blipFill>
        <p:spPr>
          <a:xfrm>
            <a:off x="206473" y="350552"/>
            <a:ext cx="920576" cy="426757"/>
          </a:xfrm>
          <a:prstGeom prst="rect">
            <a:avLst/>
          </a:prstGeom>
        </p:spPr>
      </p:pic>
    </p:spTree>
    <p:extLst>
      <p:ext uri="{BB962C8B-B14F-4D97-AF65-F5344CB8AC3E}">
        <p14:creationId xmlns:p14="http://schemas.microsoft.com/office/powerpoint/2010/main" val="142059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B6FC-AE04-1597-551C-56DEF03E7B41}"/>
              </a:ext>
            </a:extLst>
          </p:cNvPr>
          <p:cNvSpPr>
            <a:spLocks noGrp="1"/>
          </p:cNvSpPr>
          <p:nvPr>
            <p:ph type="title"/>
          </p:nvPr>
        </p:nvSpPr>
        <p:spPr>
          <a:xfrm>
            <a:off x="1120948" y="2640330"/>
            <a:ext cx="9950103" cy="1577340"/>
          </a:xfrm>
        </p:spPr>
        <p:txBody>
          <a:bodyPr>
            <a:normAutofit/>
          </a:bodyPr>
          <a:lstStyle/>
          <a:p>
            <a:pPr algn="ctr">
              <a:lnSpc>
                <a:spcPct val="100000"/>
              </a:lnSpc>
            </a:pPr>
            <a:r>
              <a:rPr lang="en-US" dirty="0"/>
              <a:t>Google Classroom Code (CS-2025):</a:t>
            </a:r>
            <a:br>
              <a:rPr lang="en-US" dirty="0"/>
            </a:br>
            <a:br>
              <a:rPr lang="en-US" dirty="0"/>
            </a:br>
            <a:r>
              <a:rPr lang="en-US" i="1" dirty="0"/>
              <a:t>pndnx5yr</a:t>
            </a:r>
            <a:endParaRPr lang="en-PK" i="1" dirty="0"/>
          </a:p>
        </p:txBody>
      </p:sp>
    </p:spTree>
    <p:extLst>
      <p:ext uri="{BB962C8B-B14F-4D97-AF65-F5344CB8AC3E}">
        <p14:creationId xmlns:p14="http://schemas.microsoft.com/office/powerpoint/2010/main" val="2977047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D0A-D891-F12A-7D1B-228274D8D116}"/>
              </a:ext>
            </a:extLst>
          </p:cNvPr>
          <p:cNvSpPr>
            <a:spLocks noGrp="1"/>
          </p:cNvSpPr>
          <p:nvPr>
            <p:ph type="title"/>
          </p:nvPr>
        </p:nvSpPr>
        <p:spPr>
          <a:xfrm>
            <a:off x="1084726" y="365125"/>
            <a:ext cx="9942739" cy="727695"/>
          </a:xfrm>
        </p:spPr>
        <p:txBody>
          <a:bodyPr>
            <a:normAutofit/>
          </a:bodyPr>
          <a:lstStyle/>
          <a:p>
            <a:r>
              <a:rPr lang="en-US" dirty="0"/>
              <a:t>DO’s and DON’T’s for Practical Work</a:t>
            </a:r>
          </a:p>
        </p:txBody>
      </p:sp>
      <p:sp>
        <p:nvSpPr>
          <p:cNvPr id="4" name="Text Placeholder 3">
            <a:extLst>
              <a:ext uri="{FF2B5EF4-FFF2-40B4-BE49-F238E27FC236}">
                <a16:creationId xmlns:a16="http://schemas.microsoft.com/office/drawing/2014/main" id="{22D9D881-0CFE-33FF-A8D7-D1BA57C9F914}"/>
              </a:ext>
            </a:extLst>
          </p:cNvPr>
          <p:cNvSpPr>
            <a:spLocks noGrp="1"/>
          </p:cNvSpPr>
          <p:nvPr>
            <p:ph type="body" idx="1"/>
          </p:nvPr>
        </p:nvSpPr>
        <p:spPr>
          <a:xfrm>
            <a:off x="1084725" y="1210604"/>
            <a:ext cx="4912850" cy="588343"/>
          </a:xfrm>
        </p:spPr>
        <p:txBody>
          <a:bodyPr/>
          <a:lstStyle/>
          <a:p>
            <a:r>
              <a:rPr lang="en-US" dirty="0">
                <a:latin typeface="Abadi" panose="020B0604020104020204" pitchFamily="34" charset="0"/>
              </a:rPr>
              <a:t>DO’s</a:t>
            </a:r>
          </a:p>
        </p:txBody>
      </p:sp>
      <p:sp>
        <p:nvSpPr>
          <p:cNvPr id="5" name="Content Placeholder 4">
            <a:extLst>
              <a:ext uri="{FF2B5EF4-FFF2-40B4-BE49-F238E27FC236}">
                <a16:creationId xmlns:a16="http://schemas.microsoft.com/office/drawing/2014/main" id="{4F42129B-CD11-A4A1-8F8C-8EA0623A0983}"/>
              </a:ext>
            </a:extLst>
          </p:cNvPr>
          <p:cNvSpPr>
            <a:spLocks noGrp="1"/>
          </p:cNvSpPr>
          <p:nvPr>
            <p:ph sz="half" idx="2"/>
          </p:nvPr>
        </p:nvSpPr>
        <p:spPr>
          <a:xfrm>
            <a:off x="1084726" y="1916731"/>
            <a:ext cx="4912849" cy="4272932"/>
          </a:xfrm>
        </p:spPr>
        <p:txBody>
          <a:bodyPr>
            <a:normAutofit lnSpcReduction="10000"/>
          </a:bodyPr>
          <a:lstStyle/>
          <a:p>
            <a:pPr marL="457200" indent="-457200">
              <a:buFont typeface="+mj-lt"/>
              <a:buAutoNum type="arabicPeriod"/>
            </a:pPr>
            <a:r>
              <a:rPr lang="en-US" sz="2000" dirty="0">
                <a:latin typeface="Abadi" panose="020B0604020104020204" pitchFamily="34" charset="0"/>
              </a:rPr>
              <a:t>Align Projects with Course Objectives</a:t>
            </a:r>
          </a:p>
          <a:p>
            <a:pPr marL="457200" indent="-457200">
              <a:buFont typeface="+mj-lt"/>
              <a:buAutoNum type="arabicPeriod"/>
            </a:pPr>
            <a:r>
              <a:rPr lang="en-US" sz="2000" dirty="0">
                <a:latin typeface="Abadi" panose="020B0604020104020204" pitchFamily="34" charset="0"/>
              </a:rPr>
              <a:t>Collaborate Effectively</a:t>
            </a:r>
          </a:p>
          <a:p>
            <a:pPr marL="457200" indent="-457200">
              <a:buFont typeface="+mj-lt"/>
              <a:buAutoNum type="arabicPeriod"/>
            </a:pPr>
            <a:r>
              <a:rPr lang="en-US" sz="2000" dirty="0">
                <a:latin typeface="Abadi" panose="020B0604020104020204" pitchFamily="34" charset="0"/>
              </a:rPr>
              <a:t>Respect Community Stakeholders</a:t>
            </a:r>
          </a:p>
          <a:p>
            <a:pPr marL="457200" indent="-457200">
              <a:buFont typeface="+mj-lt"/>
              <a:buAutoNum type="arabicPeriod"/>
            </a:pPr>
            <a:r>
              <a:rPr lang="en-US" sz="2000" dirty="0">
                <a:latin typeface="Abadi" panose="020B0604020104020204" pitchFamily="34" charset="0"/>
              </a:rPr>
              <a:t>Parental Notification</a:t>
            </a:r>
          </a:p>
          <a:p>
            <a:pPr marL="457200" indent="-457200">
              <a:buFont typeface="+mj-lt"/>
              <a:buAutoNum type="arabicPeriod"/>
            </a:pPr>
            <a:r>
              <a:rPr lang="en-US" sz="2000" dirty="0">
                <a:latin typeface="Abadi" panose="020B0604020104020204" pitchFamily="34" charset="0"/>
              </a:rPr>
              <a:t>Plan and Document</a:t>
            </a:r>
          </a:p>
          <a:p>
            <a:pPr marL="457200" indent="-457200">
              <a:buFont typeface="+mj-lt"/>
              <a:buAutoNum type="arabicPeriod"/>
            </a:pPr>
            <a:r>
              <a:rPr lang="en-US" sz="2000" dirty="0">
                <a:latin typeface="Abadi" panose="020B0604020104020204" pitchFamily="34" charset="0"/>
              </a:rPr>
              <a:t>Engage Ethically</a:t>
            </a:r>
          </a:p>
          <a:p>
            <a:pPr marL="457200" indent="-457200">
              <a:buFont typeface="+mj-lt"/>
              <a:buAutoNum type="arabicPeriod"/>
            </a:pPr>
            <a:r>
              <a:rPr lang="en-US" sz="2000" dirty="0">
                <a:latin typeface="Abadi" panose="020B0604020104020204" pitchFamily="34" charset="0"/>
              </a:rPr>
              <a:t>Reflect and Learn</a:t>
            </a:r>
          </a:p>
          <a:p>
            <a:pPr marL="457200" indent="-457200">
              <a:buFont typeface="+mj-lt"/>
              <a:buAutoNum type="arabicPeriod"/>
            </a:pPr>
            <a:r>
              <a:rPr lang="en-US" sz="2000" dirty="0">
                <a:latin typeface="Abadi" panose="020B0604020104020204" pitchFamily="34" charset="0"/>
              </a:rPr>
              <a:t>Follow Guidelines</a:t>
            </a:r>
          </a:p>
          <a:p>
            <a:pPr marL="457200" indent="-457200">
              <a:buFont typeface="+mj-lt"/>
              <a:buAutoNum type="arabicPeriod"/>
            </a:pPr>
            <a:r>
              <a:rPr lang="en-US" sz="2000" dirty="0">
                <a:latin typeface="Abadi" panose="020B0604020104020204" pitchFamily="34" charset="0"/>
              </a:rPr>
              <a:t>Organization Supervision</a:t>
            </a:r>
          </a:p>
        </p:txBody>
      </p:sp>
      <p:sp>
        <p:nvSpPr>
          <p:cNvPr id="6" name="Text Placeholder 5">
            <a:extLst>
              <a:ext uri="{FF2B5EF4-FFF2-40B4-BE49-F238E27FC236}">
                <a16:creationId xmlns:a16="http://schemas.microsoft.com/office/drawing/2014/main" id="{6CBA37E3-B49E-5269-F122-307A9D8D4344}"/>
              </a:ext>
            </a:extLst>
          </p:cNvPr>
          <p:cNvSpPr>
            <a:spLocks noGrp="1"/>
          </p:cNvSpPr>
          <p:nvPr>
            <p:ph type="body" sz="quarter" idx="3"/>
          </p:nvPr>
        </p:nvSpPr>
        <p:spPr>
          <a:xfrm>
            <a:off x="6172200" y="1210603"/>
            <a:ext cx="4855265" cy="647235"/>
          </a:xfrm>
        </p:spPr>
        <p:txBody>
          <a:bodyPr/>
          <a:lstStyle/>
          <a:p>
            <a:r>
              <a:rPr lang="en-US" dirty="0">
                <a:latin typeface="Abadi" panose="020B0604020104020204" pitchFamily="34" charset="0"/>
              </a:rPr>
              <a:t>DON’T’S</a:t>
            </a:r>
          </a:p>
        </p:txBody>
      </p:sp>
      <p:sp>
        <p:nvSpPr>
          <p:cNvPr id="7" name="Content Placeholder 6">
            <a:extLst>
              <a:ext uri="{FF2B5EF4-FFF2-40B4-BE49-F238E27FC236}">
                <a16:creationId xmlns:a16="http://schemas.microsoft.com/office/drawing/2014/main" id="{2BB79C39-F05C-44FD-CE7D-57E68E3A220E}"/>
              </a:ext>
            </a:extLst>
          </p:cNvPr>
          <p:cNvSpPr>
            <a:spLocks noGrp="1"/>
          </p:cNvSpPr>
          <p:nvPr>
            <p:ph sz="quarter" idx="4"/>
          </p:nvPr>
        </p:nvSpPr>
        <p:spPr>
          <a:xfrm>
            <a:off x="6172200" y="1975621"/>
            <a:ext cx="4855265" cy="4214042"/>
          </a:xfrm>
        </p:spPr>
        <p:txBody>
          <a:bodyPr>
            <a:normAutofit lnSpcReduction="10000"/>
          </a:bodyPr>
          <a:lstStyle/>
          <a:p>
            <a:pPr marL="457200" indent="-457200">
              <a:buFont typeface="+mj-lt"/>
              <a:buAutoNum type="arabicPeriod"/>
            </a:pPr>
            <a:r>
              <a:rPr lang="en-US" sz="2000" dirty="0">
                <a:latin typeface="Abadi" panose="020B0604020104020204" pitchFamily="34" charset="0"/>
              </a:rPr>
              <a:t>Avoid Superficial Engagement</a:t>
            </a:r>
          </a:p>
          <a:p>
            <a:pPr marL="457200" indent="-457200">
              <a:buFont typeface="+mj-lt"/>
              <a:buAutoNum type="arabicPeriod"/>
            </a:pPr>
            <a:r>
              <a:rPr lang="en-US" sz="2000" dirty="0">
                <a:latin typeface="Abadi" panose="020B0604020104020204" pitchFamily="34" charset="0"/>
              </a:rPr>
              <a:t>Do Not Exploit or Harm</a:t>
            </a:r>
          </a:p>
          <a:p>
            <a:pPr marL="457200" indent="-457200">
              <a:buFont typeface="+mj-lt"/>
              <a:buAutoNum type="arabicPeriod"/>
            </a:pPr>
            <a:r>
              <a:rPr lang="en-US" sz="2000" dirty="0">
                <a:latin typeface="Abadi" panose="020B0604020104020204" pitchFamily="34" charset="0"/>
              </a:rPr>
              <a:t>Don’t Work Without Approval</a:t>
            </a:r>
          </a:p>
          <a:p>
            <a:pPr marL="457200" indent="-457200">
              <a:buFont typeface="+mj-lt"/>
              <a:buAutoNum type="arabicPeriod"/>
            </a:pPr>
            <a:r>
              <a:rPr lang="en-US" sz="2000" dirty="0">
                <a:latin typeface="Abadi" panose="020B0604020104020204" pitchFamily="34" charset="0"/>
              </a:rPr>
              <a:t>Avoid Personal Bias</a:t>
            </a:r>
          </a:p>
          <a:p>
            <a:pPr marL="457200" indent="-457200">
              <a:buFont typeface="+mj-lt"/>
              <a:buAutoNum type="arabicPeriod"/>
            </a:pPr>
            <a:r>
              <a:rPr lang="en-US" sz="2000" dirty="0">
                <a:latin typeface="Abadi" panose="020B0604020104020204" pitchFamily="34" charset="0"/>
              </a:rPr>
              <a:t>Don’t Overcommit Resources</a:t>
            </a:r>
          </a:p>
          <a:p>
            <a:pPr marL="457200" indent="-457200">
              <a:buFont typeface="+mj-lt"/>
              <a:buAutoNum type="arabicPeriod"/>
            </a:pPr>
            <a:r>
              <a:rPr lang="en-US" sz="2000" dirty="0">
                <a:latin typeface="Abadi" panose="020B0604020104020204" pitchFamily="34" charset="0"/>
              </a:rPr>
              <a:t>Don’t Miss Deadlines</a:t>
            </a:r>
          </a:p>
          <a:p>
            <a:pPr marL="457200" indent="-457200">
              <a:buFont typeface="+mj-lt"/>
              <a:buAutoNum type="arabicPeriod"/>
            </a:pPr>
            <a:r>
              <a:rPr lang="en-US" sz="2000" dirty="0">
                <a:latin typeface="Abadi" panose="020B0604020104020204" pitchFamily="34" charset="0"/>
              </a:rPr>
              <a:t>Mandatory Attendance for Regular Classes and Weekly Practical Sessions</a:t>
            </a:r>
          </a:p>
        </p:txBody>
      </p:sp>
    </p:spTree>
    <p:extLst>
      <p:ext uri="{BB962C8B-B14F-4D97-AF65-F5344CB8AC3E}">
        <p14:creationId xmlns:p14="http://schemas.microsoft.com/office/powerpoint/2010/main" val="151632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D9A37-4179-733A-723C-ED77EC86F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CE9A2-C294-31FC-DBEC-FE175A266195}"/>
              </a:ext>
            </a:extLst>
          </p:cNvPr>
          <p:cNvSpPr>
            <a:spLocks noGrp="1"/>
          </p:cNvSpPr>
          <p:nvPr>
            <p:ph type="title"/>
          </p:nvPr>
        </p:nvSpPr>
        <p:spPr>
          <a:xfrm>
            <a:off x="1077362" y="496801"/>
            <a:ext cx="9950103" cy="840737"/>
          </a:xfrm>
        </p:spPr>
        <p:txBody>
          <a:bodyPr>
            <a:normAutofit/>
          </a:bodyPr>
          <a:lstStyle/>
          <a:p>
            <a:r>
              <a:rPr lang="en-US" dirty="0"/>
              <a:t>Maintain Documentation for the Course </a:t>
            </a:r>
          </a:p>
        </p:txBody>
      </p:sp>
      <p:sp>
        <p:nvSpPr>
          <p:cNvPr id="5" name="Content Placeholder 4">
            <a:extLst>
              <a:ext uri="{FF2B5EF4-FFF2-40B4-BE49-F238E27FC236}">
                <a16:creationId xmlns:a16="http://schemas.microsoft.com/office/drawing/2014/main" id="{D84EE6EA-5F7E-D562-B07A-F10A6C833375}"/>
              </a:ext>
            </a:extLst>
          </p:cNvPr>
          <p:cNvSpPr>
            <a:spLocks noGrp="1"/>
          </p:cNvSpPr>
          <p:nvPr>
            <p:ph idx="1"/>
          </p:nvPr>
        </p:nvSpPr>
        <p:spPr>
          <a:xfrm>
            <a:off x="1077362" y="1605776"/>
            <a:ext cx="10029253" cy="4335054"/>
          </a:xfrm>
        </p:spPr>
        <p:txBody>
          <a:bodyPr>
            <a:normAutofit fontScale="92500" lnSpcReduction="10000"/>
          </a:bodyPr>
          <a:lstStyle/>
          <a:p>
            <a:pPr marL="457200" indent="-457200" algn="just">
              <a:buFont typeface="+mj-lt"/>
              <a:buAutoNum type="arabicPeriod"/>
            </a:pPr>
            <a:r>
              <a:rPr lang="en-US" sz="2000" b="1" dirty="0">
                <a:latin typeface="Abadi" panose="020B0604020104020204" pitchFamily="34" charset="0"/>
              </a:rPr>
              <a:t>Parental Notification Form </a:t>
            </a:r>
            <a:r>
              <a:rPr lang="en-US" sz="2000" dirty="0">
                <a:latin typeface="Abadi" panose="020B0604020104020204" pitchFamily="34" charset="0"/>
              </a:rPr>
              <a:t>(Students are expected to inform their parents about the course and keep them in loop while selecting </a:t>
            </a:r>
            <a:r>
              <a:rPr lang="en-US" sz="2000">
                <a:latin typeface="Abadi" panose="020B0604020104020204" pitchFamily="34" charset="0"/>
              </a:rPr>
              <a:t>their projects). </a:t>
            </a:r>
            <a:endParaRPr lang="en-US" sz="2000" b="1" dirty="0">
              <a:latin typeface="Abadi" panose="020B0604020104020204" pitchFamily="34" charset="0"/>
            </a:endParaRPr>
          </a:p>
          <a:p>
            <a:pPr marL="457200" indent="-457200" algn="just">
              <a:buFont typeface="+mj-lt"/>
              <a:buAutoNum type="arabicPeriod"/>
            </a:pPr>
            <a:r>
              <a:rPr lang="en-US" sz="2000" b="1" dirty="0">
                <a:latin typeface="Abadi" panose="020B0604020104020204" pitchFamily="34" charset="0"/>
              </a:rPr>
              <a:t>Approval Letter from the University </a:t>
            </a:r>
            <a:r>
              <a:rPr lang="en-US" sz="2000" dirty="0">
                <a:latin typeface="Abadi" panose="020B0604020104020204" pitchFamily="34" charset="0"/>
              </a:rPr>
              <a:t>(Obtain this letter during the initial weeks after/during finalizing your organization and submit it to the organization as proof of authorization.)</a:t>
            </a:r>
          </a:p>
          <a:p>
            <a:pPr marL="457200" indent="-457200" algn="just">
              <a:buFont typeface="+mj-lt"/>
              <a:buAutoNum type="arabicPeriod"/>
            </a:pPr>
            <a:r>
              <a:rPr lang="en-US" sz="2000" b="1" dirty="0">
                <a:latin typeface="Abadi" panose="020B0604020104020204" pitchFamily="34" charset="0"/>
              </a:rPr>
              <a:t>Acceptance Letter from the Organization </a:t>
            </a:r>
            <a:r>
              <a:rPr lang="en-US" sz="2000" dirty="0">
                <a:latin typeface="Abadi" panose="020B0604020104020204" pitchFamily="34" charset="0"/>
              </a:rPr>
              <a:t>(Submit this letter along with the project brief by the 4th week, on the organization's letterhead, duly signed and stamped by the supervisor/head.)</a:t>
            </a:r>
          </a:p>
          <a:p>
            <a:pPr marL="457200" indent="-457200" algn="just">
              <a:buFont typeface="+mj-lt"/>
              <a:buAutoNum type="arabicPeriod"/>
            </a:pPr>
            <a:r>
              <a:rPr lang="en-US" sz="2000" b="1" dirty="0">
                <a:latin typeface="Abadi" panose="020B0604020104020204" pitchFamily="34" charset="0"/>
              </a:rPr>
              <a:t>Meeting Record Form: (</a:t>
            </a:r>
            <a:r>
              <a:rPr lang="en-US" sz="2000" dirty="0">
                <a:latin typeface="Abadi" panose="020B0604020104020204" pitchFamily="34" charset="0"/>
              </a:rPr>
              <a:t>Submit this Meeting Record Form signed and stamped by the supervisor for each week of practical work and attach this form along with the final report at the end of the semester by the submission deadline. The form should be submitted in its original form (not a copy) to ensure authenticity.</a:t>
            </a:r>
          </a:p>
        </p:txBody>
      </p:sp>
    </p:spTree>
    <p:extLst>
      <p:ext uri="{BB962C8B-B14F-4D97-AF65-F5344CB8AC3E}">
        <p14:creationId xmlns:p14="http://schemas.microsoft.com/office/powerpoint/2010/main" val="1156853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C08158-5BFB-475E-AFFD-3119675BE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F5923A5-3EA5-4A1F-8FB1-6E9E4AC90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29852"/>
            <a:ext cx="6736976" cy="332814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1850567E-9970-49B5-8036-68DF198AB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414824" cy="6864873"/>
          </a:xfrm>
          <a:custGeom>
            <a:avLst/>
            <a:gdLst>
              <a:gd name="connsiteX0" fmla="*/ 0 w 3414824"/>
              <a:gd name="connsiteY0" fmla="*/ 3376141 h 6864873"/>
              <a:gd name="connsiteX1" fmla="*/ 3414824 w 3414824"/>
              <a:gd name="connsiteY1" fmla="*/ 3376141 h 6864873"/>
              <a:gd name="connsiteX2" fmla="*/ 0 w 3414824"/>
              <a:gd name="connsiteY2" fmla="*/ 6864873 h 6864873"/>
              <a:gd name="connsiteX3" fmla="*/ 2 w 3414824"/>
              <a:gd name="connsiteY3" fmla="*/ 0 h 6864873"/>
              <a:gd name="connsiteX4" fmla="*/ 3414824 w 3414824"/>
              <a:gd name="connsiteY4" fmla="*/ 0 h 6864873"/>
              <a:gd name="connsiteX5" fmla="*/ 3414824 w 3414824"/>
              <a:gd name="connsiteY5" fmla="*/ 3376140 h 6864873"/>
              <a:gd name="connsiteX6" fmla="*/ 2 w 3414824"/>
              <a:gd name="connsiteY6" fmla="*/ 3376140 h 686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4824" h="6864873">
                <a:moveTo>
                  <a:pt x="0" y="3376141"/>
                </a:moveTo>
                <a:lnTo>
                  <a:pt x="3414824" y="3376141"/>
                </a:lnTo>
                <a:cubicBezTo>
                  <a:pt x="3414824" y="5302914"/>
                  <a:pt x="1885955" y="6864873"/>
                  <a:pt x="0" y="6864873"/>
                </a:cubicBezTo>
                <a:close/>
                <a:moveTo>
                  <a:pt x="2" y="0"/>
                </a:moveTo>
                <a:lnTo>
                  <a:pt x="3414824" y="0"/>
                </a:lnTo>
                <a:lnTo>
                  <a:pt x="3414824" y="3376140"/>
                </a:lnTo>
                <a:lnTo>
                  <a:pt x="2" y="337614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D688916-7F1F-9C12-53F5-50075AF5E74E}"/>
              </a:ext>
            </a:extLst>
          </p:cNvPr>
          <p:cNvSpPr>
            <a:spLocks noGrp="1"/>
          </p:cNvSpPr>
          <p:nvPr>
            <p:ph type="title"/>
          </p:nvPr>
        </p:nvSpPr>
        <p:spPr>
          <a:xfrm>
            <a:off x="531063" y="1207665"/>
            <a:ext cx="2622578" cy="2491904"/>
          </a:xfrm>
        </p:spPr>
        <p:txBody>
          <a:bodyPr anchor="t">
            <a:normAutofit/>
          </a:bodyPr>
          <a:lstStyle/>
          <a:p>
            <a:pPr algn="ctr"/>
            <a:r>
              <a:rPr lang="en-US" sz="3600" dirty="0"/>
              <a:t>Key takeaways</a:t>
            </a:r>
          </a:p>
        </p:txBody>
      </p:sp>
      <p:sp>
        <p:nvSpPr>
          <p:cNvPr id="15" name="Freeform: Shape 14">
            <a:extLst>
              <a:ext uri="{FF2B5EF4-FFF2-40B4-BE49-F238E27FC236}">
                <a16:creationId xmlns:a16="http://schemas.microsoft.com/office/drawing/2014/main" id="{252F6D40-1969-431D-97A1-D6439AD90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14823" y="-6876"/>
            <a:ext cx="8777176" cy="6871754"/>
          </a:xfrm>
          <a:custGeom>
            <a:avLst/>
            <a:gdLst>
              <a:gd name="connsiteX0" fmla="*/ 0 w 8777176"/>
              <a:gd name="connsiteY0" fmla="*/ 0 h 6871754"/>
              <a:gd name="connsiteX1" fmla="*/ 3414822 w 8777176"/>
              <a:gd name="connsiteY1" fmla="*/ 0 h 6871754"/>
              <a:gd name="connsiteX2" fmla="*/ 3414822 w 8777176"/>
              <a:gd name="connsiteY2" fmla="*/ 6875 h 6871754"/>
              <a:gd name="connsiteX3" fmla="*/ 8777176 w 8777176"/>
              <a:gd name="connsiteY3" fmla="*/ 6875 h 6871754"/>
              <a:gd name="connsiteX4" fmla="*/ 8777176 w 8777176"/>
              <a:gd name="connsiteY4" fmla="*/ 6871754 h 6871754"/>
              <a:gd name="connsiteX5" fmla="*/ 3251085 w 8777176"/>
              <a:gd name="connsiteY5" fmla="*/ 6871754 h 6871754"/>
              <a:gd name="connsiteX6" fmla="*/ 3251085 w 8777176"/>
              <a:gd name="connsiteY6" fmla="*/ 6860643 h 6871754"/>
              <a:gd name="connsiteX7" fmla="*/ 3239098 w 8777176"/>
              <a:gd name="connsiteY7" fmla="*/ 6860334 h 6871754"/>
              <a:gd name="connsiteX8" fmla="*/ 0 w 8777176"/>
              <a:gd name="connsiteY8" fmla="*/ 3376141 h 6871754"/>
              <a:gd name="connsiteX9" fmla="*/ 3251085 w 8777176"/>
              <a:gd name="connsiteY9" fmla="*/ 3376141 h 6871754"/>
              <a:gd name="connsiteX10" fmla="*/ 3251085 w 8777176"/>
              <a:gd name="connsiteY10" fmla="*/ 3376140 h 6871754"/>
              <a:gd name="connsiteX11" fmla="*/ 0 w 8777176"/>
              <a:gd name="connsiteY11" fmla="*/ 3376140 h 68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77176" h="6871754">
                <a:moveTo>
                  <a:pt x="0" y="0"/>
                </a:moveTo>
                <a:lnTo>
                  <a:pt x="3414822" y="0"/>
                </a:lnTo>
                <a:lnTo>
                  <a:pt x="3414822" y="6875"/>
                </a:lnTo>
                <a:lnTo>
                  <a:pt x="8777176" y="6875"/>
                </a:lnTo>
                <a:lnTo>
                  <a:pt x="8777176" y="6871754"/>
                </a:lnTo>
                <a:lnTo>
                  <a:pt x="3251085" y="6871754"/>
                </a:lnTo>
                <a:lnTo>
                  <a:pt x="3251085" y="6860643"/>
                </a:lnTo>
                <a:lnTo>
                  <a:pt x="3239098" y="6860334"/>
                </a:lnTo>
                <a:cubicBezTo>
                  <a:pt x="1434808" y="6766895"/>
                  <a:pt x="0" y="5242703"/>
                  <a:pt x="0" y="3376141"/>
                </a:cubicBezTo>
                <a:lnTo>
                  <a:pt x="3251085" y="3376141"/>
                </a:lnTo>
                <a:lnTo>
                  <a:pt x="3251085" y="3376140"/>
                </a:lnTo>
                <a:lnTo>
                  <a:pt x="0" y="33761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aphicFrame>
        <p:nvGraphicFramePr>
          <p:cNvPr id="5" name="Content Placeholder 2">
            <a:extLst>
              <a:ext uri="{FF2B5EF4-FFF2-40B4-BE49-F238E27FC236}">
                <a16:creationId xmlns:a16="http://schemas.microsoft.com/office/drawing/2014/main" id="{11D77055-90AF-302B-2523-D9111AD0CCFB}"/>
              </a:ext>
            </a:extLst>
          </p:cNvPr>
          <p:cNvGraphicFramePr>
            <a:graphicFrameLocks noGrp="1"/>
          </p:cNvGraphicFramePr>
          <p:nvPr>
            <p:ph idx="1"/>
            <p:extLst>
              <p:ext uri="{D42A27DB-BD31-4B8C-83A1-F6EECF244321}">
                <p14:modId xmlns:p14="http://schemas.microsoft.com/office/powerpoint/2010/main" val="3774232084"/>
              </p:ext>
            </p:extLst>
          </p:nvPr>
        </p:nvGraphicFramePr>
        <p:xfrm>
          <a:off x="4908175" y="773206"/>
          <a:ext cx="6205913" cy="52484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179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4F1BF8-7CA9-86E7-D81C-EB5ECFC3C339}"/>
            </a:ext>
          </a:extLst>
        </p:cNvPr>
        <p:cNvGrpSpPr/>
        <p:nvPr/>
      </p:nvGrpSpPr>
      <p:grpSpPr>
        <a:xfrm>
          <a:off x="0" y="0"/>
          <a:ext cx="0" cy="0"/>
          <a:chOff x="0" y="0"/>
          <a:chExt cx="0" cy="0"/>
        </a:xfrm>
      </p:grpSpPr>
      <p:sp useBgFill="1">
        <p:nvSpPr>
          <p:cNvPr id="1069" name="Rectangle 1068">
            <a:extLst>
              <a:ext uri="{FF2B5EF4-FFF2-40B4-BE49-F238E27FC236}">
                <a16:creationId xmlns:a16="http://schemas.microsoft.com/office/drawing/2014/main" id="{B63A9A42-034C-4CDD-AB9C-821511A2F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5F3E86-68C5-8DA0-A2B4-75D07932456D}"/>
              </a:ext>
            </a:extLst>
          </p:cNvPr>
          <p:cNvSpPr>
            <a:spLocks noGrp="1"/>
          </p:cNvSpPr>
          <p:nvPr>
            <p:ph type="title"/>
          </p:nvPr>
        </p:nvSpPr>
        <p:spPr>
          <a:xfrm>
            <a:off x="1222327" y="-9767"/>
            <a:ext cx="6443111" cy="1507375"/>
          </a:xfrm>
        </p:spPr>
        <p:txBody>
          <a:bodyPr>
            <a:normAutofit/>
          </a:bodyPr>
          <a:lstStyle/>
          <a:p>
            <a:r>
              <a:rPr lang="en-US" sz="3600" dirty="0"/>
              <a:t>Civics </a:t>
            </a:r>
          </a:p>
        </p:txBody>
      </p:sp>
      <p:pic>
        <p:nvPicPr>
          <p:cNvPr id="1032" name="Picture 8" descr="Legal Law Stock Photos, Images and Backgrounds for Free Download">
            <a:extLst>
              <a:ext uri="{FF2B5EF4-FFF2-40B4-BE49-F238E27FC236}">
                <a16:creationId xmlns:a16="http://schemas.microsoft.com/office/drawing/2014/main" id="{7675E27E-1BBC-CBF6-6DFF-57214709B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486" r="16910" b="4"/>
          <a:stretch/>
        </p:blipFill>
        <p:spPr bwMode="auto">
          <a:xfrm>
            <a:off x="8696965" y="-9767"/>
            <a:ext cx="1775708" cy="16967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quity-Centered Community Engagement Strategy | Wellesley Institute">
            <a:extLst>
              <a:ext uri="{FF2B5EF4-FFF2-40B4-BE49-F238E27FC236}">
                <a16:creationId xmlns:a16="http://schemas.microsoft.com/office/drawing/2014/main" id="{BD216FA2-3659-3A39-C92C-2946D7A89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660" r="15186"/>
          <a:stretch/>
        </p:blipFill>
        <p:spPr bwMode="auto">
          <a:xfrm>
            <a:off x="10472675" y="-9766"/>
            <a:ext cx="1719325" cy="169672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D0B9884-1B06-3391-777D-B9F0994FFFDE}"/>
              </a:ext>
            </a:extLst>
          </p:cNvPr>
          <p:cNvSpPr>
            <a:spLocks noGrp="1"/>
          </p:cNvSpPr>
          <p:nvPr>
            <p:ph idx="1"/>
          </p:nvPr>
        </p:nvSpPr>
        <p:spPr>
          <a:xfrm>
            <a:off x="1344990" y="2181989"/>
            <a:ext cx="6443111" cy="3513514"/>
          </a:xfrm>
        </p:spPr>
        <p:txBody>
          <a:bodyPr>
            <a:normAutofit/>
          </a:bodyPr>
          <a:lstStyle/>
          <a:p>
            <a:pPr marL="0" indent="0" algn="just">
              <a:buNone/>
            </a:pPr>
            <a:r>
              <a:rPr lang="en-US" sz="2400" dirty="0">
                <a:latin typeface="Abadi" panose="020B0604020104020204" pitchFamily="34" charset="0"/>
                <a:ea typeface="ADLaM Display" panose="02010000000000000000" pitchFamily="2" charset="0"/>
                <a:cs typeface="Arial" panose="020B0604020202020204" pitchFamily="34" charset="0"/>
              </a:rPr>
              <a:t>Civics refers to </a:t>
            </a:r>
            <a:r>
              <a:rPr lang="en-US" sz="2400" u="sng" dirty="0">
                <a:latin typeface="Abadi" panose="020B0604020104020204" pitchFamily="34" charset="0"/>
                <a:ea typeface="ADLaM Display" panose="02010000000000000000" pitchFamily="2" charset="0"/>
                <a:cs typeface="Arial" panose="020B0604020202020204" pitchFamily="34" charset="0"/>
              </a:rPr>
              <a:t>the rights and responsibilities </a:t>
            </a:r>
            <a:r>
              <a:rPr lang="en-US" sz="2400" dirty="0">
                <a:latin typeface="Abadi" panose="020B0604020104020204" pitchFamily="34" charset="0"/>
                <a:ea typeface="ADLaM Display" panose="02010000000000000000" pitchFamily="2" charset="0"/>
                <a:cs typeface="Arial" panose="020B0604020202020204" pitchFamily="34" charset="0"/>
              </a:rPr>
              <a:t>of individuals in society, focusing on </a:t>
            </a:r>
            <a:r>
              <a:rPr lang="en-US" sz="2400" u="sng" dirty="0">
                <a:latin typeface="Abadi" panose="020B0604020104020204" pitchFamily="34" charset="0"/>
                <a:ea typeface="ADLaM Display" panose="02010000000000000000" pitchFamily="2" charset="0"/>
                <a:cs typeface="Arial" panose="020B0604020202020204" pitchFamily="34" charset="0"/>
              </a:rPr>
              <a:t>governance, law, and active participation </a:t>
            </a:r>
            <a:r>
              <a:rPr lang="en-US" sz="2400" dirty="0">
                <a:latin typeface="Abadi" panose="020B0604020104020204" pitchFamily="34" charset="0"/>
                <a:ea typeface="ADLaM Display" panose="02010000000000000000" pitchFamily="2" charset="0"/>
                <a:cs typeface="Arial" panose="020B0604020202020204" pitchFamily="34" charset="0"/>
              </a:rPr>
              <a:t>in community life. </a:t>
            </a:r>
          </a:p>
          <a:p>
            <a:pPr marL="0" indent="0" algn="just">
              <a:buNone/>
            </a:pPr>
            <a:r>
              <a:rPr lang="en-US" sz="2400" dirty="0">
                <a:latin typeface="Abadi" panose="020B0604020104020204" pitchFamily="34" charset="0"/>
                <a:ea typeface="ADLaM Display" panose="02010000000000000000" pitchFamily="2" charset="0"/>
                <a:cs typeface="Arial" panose="020B0604020202020204" pitchFamily="34" charset="0"/>
              </a:rPr>
              <a:t>It is a </a:t>
            </a:r>
            <a:r>
              <a:rPr lang="en-US" sz="2400" u="sng" dirty="0">
                <a:latin typeface="Abadi" panose="020B0604020104020204" pitchFamily="34" charset="0"/>
                <a:ea typeface="ADLaM Display" panose="02010000000000000000" pitchFamily="2" charset="0"/>
                <a:cs typeface="Arial" panose="020B0604020202020204" pitchFamily="34" charset="0"/>
              </a:rPr>
              <a:t>bond</a:t>
            </a:r>
            <a:r>
              <a:rPr lang="en-US" sz="2400" dirty="0">
                <a:latin typeface="Abadi" panose="020B0604020104020204" pitchFamily="34" charset="0"/>
                <a:ea typeface="ADLaM Display" panose="02010000000000000000" pitchFamily="2" charset="0"/>
                <a:cs typeface="Arial" panose="020B0604020202020204" pitchFamily="34" charset="0"/>
              </a:rPr>
              <a:t> between an </a:t>
            </a:r>
            <a:r>
              <a:rPr lang="en-US" sz="2400" u="sng" dirty="0">
                <a:latin typeface="Abadi" panose="020B0604020104020204" pitchFamily="34" charset="0"/>
                <a:ea typeface="ADLaM Display" panose="02010000000000000000" pitchFamily="2" charset="0"/>
                <a:cs typeface="Arial" panose="020B0604020202020204" pitchFamily="34" charset="0"/>
              </a:rPr>
              <a:t>individual and a state</a:t>
            </a:r>
            <a:r>
              <a:rPr lang="en-US" sz="2400" dirty="0">
                <a:latin typeface="Abadi" panose="020B0604020104020204" pitchFamily="34" charset="0"/>
                <a:ea typeface="ADLaM Display" panose="02010000000000000000" pitchFamily="2" charset="0"/>
                <a:cs typeface="Arial" panose="020B0604020202020204" pitchFamily="34" charset="0"/>
              </a:rPr>
              <a:t>, characterized by </a:t>
            </a:r>
            <a:r>
              <a:rPr lang="en-US" sz="2400" u="sng" dirty="0">
                <a:solidFill>
                  <a:srgbClr val="FF0000"/>
                </a:solidFill>
                <a:latin typeface="Abadi" panose="020B0604020104020204" pitchFamily="34" charset="0"/>
                <a:ea typeface="ADLaM Display" panose="02010000000000000000" pitchFamily="2" charset="0"/>
                <a:cs typeface="Arial" panose="020B0604020202020204" pitchFamily="34" charset="0"/>
              </a:rPr>
              <a:t>mutual rights and obligations</a:t>
            </a:r>
            <a:r>
              <a:rPr lang="en-US" sz="2400" dirty="0">
                <a:latin typeface="Abadi" panose="020B0604020104020204" pitchFamily="34" charset="0"/>
                <a:ea typeface="ADLaM Display" panose="02010000000000000000" pitchFamily="2" charset="0"/>
                <a:cs typeface="Arial" panose="020B0604020202020204" pitchFamily="34" charset="0"/>
              </a:rPr>
              <a:t>.</a:t>
            </a:r>
            <a:endParaRPr lang="en-US" sz="2400" b="1" dirty="0"/>
          </a:p>
        </p:txBody>
      </p:sp>
      <p:sp>
        <p:nvSpPr>
          <p:cNvPr id="1070" name="Rectangle 1069">
            <a:extLst>
              <a:ext uri="{FF2B5EF4-FFF2-40B4-BE49-F238E27FC236}">
                <a16:creationId xmlns:a16="http://schemas.microsoft.com/office/drawing/2014/main" id="{583839D6-ABBE-4004-9539-900400A59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6967" y="3386556"/>
            <a:ext cx="3504720" cy="34714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A1862FA7-278B-D8B9-7CAE-3428B89C74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31" r="585" b="-5"/>
          <a:stretch/>
        </p:blipFill>
        <p:spPr bwMode="auto">
          <a:xfrm>
            <a:off x="8696967" y="1676311"/>
            <a:ext cx="3495033" cy="17182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munity engagement trickled ...">
            <a:extLst>
              <a:ext uri="{FF2B5EF4-FFF2-40B4-BE49-F238E27FC236}">
                <a16:creationId xmlns:a16="http://schemas.microsoft.com/office/drawing/2014/main" id="{D2033D6D-6B56-26B2-7813-D01DA8D634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794" r="21302" b="-1"/>
          <a:stretch/>
        </p:blipFill>
        <p:spPr bwMode="auto">
          <a:xfrm>
            <a:off x="8925627" y="3598159"/>
            <a:ext cx="3070456" cy="3070456"/>
          </a:xfrm>
          <a:custGeom>
            <a:avLst/>
            <a:gdLst/>
            <a:ahLst/>
            <a:cxnLst/>
            <a:rect l="l" t="t" r="r" b="b"/>
            <a:pathLst>
              <a:path w="3070456" h="3070456">
                <a:moveTo>
                  <a:pt x="1535228" y="0"/>
                </a:moveTo>
                <a:cubicBezTo>
                  <a:pt x="2383111" y="0"/>
                  <a:pt x="3070456" y="687345"/>
                  <a:pt x="3070456" y="1535228"/>
                </a:cubicBezTo>
                <a:cubicBezTo>
                  <a:pt x="3070456" y="2383111"/>
                  <a:pt x="2383111" y="3070456"/>
                  <a:pt x="1535228" y="3070456"/>
                </a:cubicBezTo>
                <a:cubicBezTo>
                  <a:pt x="687345" y="3070456"/>
                  <a:pt x="0" y="2383111"/>
                  <a:pt x="0" y="1535228"/>
                </a:cubicBezTo>
                <a:cubicBezTo>
                  <a:pt x="0" y="687345"/>
                  <a:pt x="687345" y="0"/>
                  <a:pt x="15352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017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A851F-E53C-F885-FDD4-69E10E5C9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42A87-7BAC-4C7D-221D-F501F0EA824F}"/>
              </a:ext>
            </a:extLst>
          </p:cNvPr>
          <p:cNvSpPr>
            <a:spLocks noGrp="1"/>
          </p:cNvSpPr>
          <p:nvPr>
            <p:ph type="title"/>
          </p:nvPr>
        </p:nvSpPr>
        <p:spPr>
          <a:xfrm>
            <a:off x="1077362" y="360826"/>
            <a:ext cx="9950103" cy="1112688"/>
          </a:xfrm>
        </p:spPr>
        <p:txBody>
          <a:bodyPr/>
          <a:lstStyle/>
          <a:p>
            <a:r>
              <a:rPr lang="en-US" dirty="0"/>
              <a:t>Civics in Islamic and Pakistani Context </a:t>
            </a:r>
          </a:p>
        </p:txBody>
      </p:sp>
      <p:sp>
        <p:nvSpPr>
          <p:cNvPr id="3" name="Content Placeholder 2">
            <a:extLst>
              <a:ext uri="{FF2B5EF4-FFF2-40B4-BE49-F238E27FC236}">
                <a16:creationId xmlns:a16="http://schemas.microsoft.com/office/drawing/2014/main" id="{0EB6D928-F36D-4EDC-C2D2-26449FCD71D1}"/>
              </a:ext>
            </a:extLst>
          </p:cNvPr>
          <p:cNvSpPr>
            <a:spLocks noGrp="1"/>
          </p:cNvSpPr>
          <p:nvPr>
            <p:ph idx="1"/>
          </p:nvPr>
        </p:nvSpPr>
        <p:spPr>
          <a:xfrm>
            <a:off x="1077363" y="1706137"/>
            <a:ext cx="9861984" cy="4234693"/>
          </a:xfrm>
        </p:spPr>
        <p:txBody>
          <a:bodyPr>
            <a:normAutofit/>
          </a:bodyPr>
          <a:lstStyle/>
          <a:p>
            <a:pPr marL="401638" indent="-401638">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Islamic Framework: </a:t>
            </a:r>
            <a:r>
              <a:rPr lang="en-US" sz="2400" dirty="0">
                <a:latin typeface="Abadi" panose="020B0604020104020204" pitchFamily="34" charset="0"/>
                <a:ea typeface="ADLaM Display" panose="02010000000000000000" pitchFamily="2" charset="0"/>
                <a:cs typeface="Arial" panose="020B0604020202020204" pitchFamily="34" charset="0"/>
              </a:rPr>
              <a:t>Concepts of Shura (consultation), </a:t>
            </a:r>
            <a:r>
              <a:rPr lang="en-US" sz="2400" dirty="0" err="1">
                <a:latin typeface="Abadi" panose="020B0604020104020204" pitchFamily="34" charset="0"/>
                <a:ea typeface="ADLaM Display" panose="02010000000000000000" pitchFamily="2" charset="0"/>
                <a:cs typeface="Arial" panose="020B0604020202020204" pitchFamily="34" charset="0"/>
              </a:rPr>
              <a:t>Adl</a:t>
            </a:r>
            <a:r>
              <a:rPr lang="en-US" sz="2400" dirty="0">
                <a:latin typeface="Abadi" panose="020B0604020104020204" pitchFamily="34" charset="0"/>
                <a:ea typeface="ADLaM Display" panose="02010000000000000000" pitchFamily="2" charset="0"/>
                <a:cs typeface="Arial" panose="020B0604020202020204" pitchFamily="34" charset="0"/>
              </a:rPr>
              <a:t> (justice), and </a:t>
            </a:r>
            <a:r>
              <a:rPr lang="en-US" sz="2400" dirty="0" err="1">
                <a:latin typeface="Abadi" panose="020B0604020104020204" pitchFamily="34" charset="0"/>
                <a:ea typeface="ADLaM Display" panose="02010000000000000000" pitchFamily="2" charset="0"/>
                <a:cs typeface="Arial" panose="020B0604020202020204" pitchFamily="34" charset="0"/>
              </a:rPr>
              <a:t>Maslaha</a:t>
            </a:r>
            <a:r>
              <a:rPr lang="en-US" sz="2400" dirty="0">
                <a:latin typeface="Abadi" panose="020B0604020104020204" pitchFamily="34" charset="0"/>
                <a:ea typeface="ADLaM Display" panose="02010000000000000000" pitchFamily="2" charset="0"/>
                <a:cs typeface="Arial" panose="020B0604020202020204" pitchFamily="34" charset="0"/>
              </a:rPr>
              <a:t> (public welfare).</a:t>
            </a:r>
          </a:p>
          <a:p>
            <a:pPr marL="401638" indent="-401638">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Pakistani Constitution: Article 38 promotes </a:t>
            </a:r>
            <a:r>
              <a:rPr lang="en-US" sz="2400" u="sng" dirty="0">
                <a:latin typeface="Abadi" panose="020B0604020104020204" pitchFamily="34" charset="0"/>
                <a:ea typeface="ADLaM Display" panose="02010000000000000000" pitchFamily="2" charset="0"/>
                <a:cs typeface="Arial" panose="020B0604020202020204" pitchFamily="34" charset="0"/>
              </a:rPr>
              <a:t>justice, equality, and social welfare</a:t>
            </a:r>
            <a:r>
              <a:rPr lang="en-US" sz="2400" dirty="0">
                <a:latin typeface="Abadi" panose="020B0604020104020204" pitchFamily="34" charset="0"/>
                <a:ea typeface="ADLaM Display" panose="02010000000000000000" pitchFamily="2" charset="0"/>
                <a:cs typeface="Arial" panose="020B0604020202020204" pitchFamily="34" charset="0"/>
              </a:rPr>
              <a:t> aligned with Islamic principles.</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Elimination of exploitation.</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Provision of basic needs (food, clothing, shelter).</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Institutionalized Zakat for wealth distribution.</a:t>
            </a:r>
            <a:endParaRPr lang="en-US" sz="2400" b="1" dirty="0"/>
          </a:p>
        </p:txBody>
      </p:sp>
    </p:spTree>
    <p:extLst>
      <p:ext uri="{BB962C8B-B14F-4D97-AF65-F5344CB8AC3E}">
        <p14:creationId xmlns:p14="http://schemas.microsoft.com/office/powerpoint/2010/main" val="3433389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53A88-2A12-F59C-77E5-06965946E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3903D-80E7-4712-BB56-AB064E64E270}"/>
              </a:ext>
            </a:extLst>
          </p:cNvPr>
          <p:cNvSpPr>
            <a:spLocks noGrp="1"/>
          </p:cNvSpPr>
          <p:nvPr>
            <p:ph type="title"/>
          </p:nvPr>
        </p:nvSpPr>
        <p:spPr>
          <a:xfrm>
            <a:off x="1077362" y="360826"/>
            <a:ext cx="9950103" cy="1112688"/>
          </a:xfrm>
        </p:spPr>
        <p:txBody>
          <a:bodyPr/>
          <a:lstStyle/>
          <a:p>
            <a:r>
              <a:rPr lang="en-US" dirty="0"/>
              <a:t>Community Engagement </a:t>
            </a:r>
          </a:p>
        </p:txBody>
      </p:sp>
      <p:sp>
        <p:nvSpPr>
          <p:cNvPr id="3" name="Content Placeholder 2">
            <a:extLst>
              <a:ext uri="{FF2B5EF4-FFF2-40B4-BE49-F238E27FC236}">
                <a16:creationId xmlns:a16="http://schemas.microsoft.com/office/drawing/2014/main" id="{4439C3C8-5A7D-22AC-5F1F-F383092177EC}"/>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Community engagement involves taking a </a:t>
            </a:r>
            <a:r>
              <a:rPr lang="en-US" sz="2400" u="sng" dirty="0">
                <a:latin typeface="Abadi" panose="020B0604020104020204" pitchFamily="34" charset="0"/>
                <a:ea typeface="ADLaM Display" panose="02010000000000000000" pitchFamily="2" charset="0"/>
                <a:cs typeface="Arial" panose="020B0604020202020204" pitchFamily="34" charset="0"/>
              </a:rPr>
              <a:t>strategic approach </a:t>
            </a:r>
            <a:r>
              <a:rPr lang="en-US" sz="2400" dirty="0">
                <a:latin typeface="Abadi" panose="020B0604020104020204" pitchFamily="34" charset="0"/>
                <a:ea typeface="ADLaM Display" panose="02010000000000000000" pitchFamily="2" charset="0"/>
                <a:cs typeface="Arial" panose="020B0604020202020204" pitchFamily="34" charset="0"/>
              </a:rPr>
              <a:t>to an organization’s </a:t>
            </a:r>
            <a:r>
              <a:rPr lang="en-US" sz="2400" u="sng" dirty="0">
                <a:latin typeface="Abadi" panose="020B0604020104020204" pitchFamily="34" charset="0"/>
                <a:ea typeface="ADLaM Display" panose="02010000000000000000" pitchFamily="2" charset="0"/>
                <a:cs typeface="Arial" panose="020B0604020202020204" pitchFamily="34" charset="0"/>
              </a:rPr>
              <a:t>community-based stakeholders</a:t>
            </a:r>
            <a:r>
              <a:rPr lang="en-US" sz="2400" dirty="0">
                <a:latin typeface="Abadi" panose="020B0604020104020204" pitchFamily="34" charset="0"/>
                <a:ea typeface="ADLaM Display" panose="02010000000000000000" pitchFamily="2" charset="0"/>
                <a:cs typeface="Arial" panose="020B0604020202020204" pitchFamily="34" charset="0"/>
              </a:rPr>
              <a:t>.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This includes </a:t>
            </a:r>
            <a:r>
              <a:rPr lang="en-US" sz="2400" i="1" u="sng" dirty="0">
                <a:latin typeface="Abadi" panose="020B0604020104020204" pitchFamily="34" charset="0"/>
                <a:ea typeface="ADLaM Display" panose="02010000000000000000" pitchFamily="2" charset="0"/>
                <a:cs typeface="Arial" panose="020B0604020202020204" pitchFamily="34" charset="0"/>
              </a:rPr>
              <a:t>building relationships, developing communications, and managing interactions </a:t>
            </a:r>
            <a:r>
              <a:rPr lang="en-US" sz="2400" dirty="0">
                <a:latin typeface="Abadi" panose="020B0604020104020204" pitchFamily="34" charset="0"/>
                <a:ea typeface="ADLaM Display" panose="02010000000000000000" pitchFamily="2" charset="0"/>
                <a:cs typeface="Arial" panose="020B0604020202020204" pitchFamily="34" charset="0"/>
              </a:rPr>
              <a:t>in order to achieve </a:t>
            </a:r>
            <a:r>
              <a:rPr lang="en-US" sz="2400" u="sng" dirty="0">
                <a:solidFill>
                  <a:srgbClr val="FF0000"/>
                </a:solidFill>
                <a:latin typeface="Abadi" panose="020B0604020104020204" pitchFamily="34" charset="0"/>
                <a:ea typeface="ADLaM Display" panose="02010000000000000000" pitchFamily="2" charset="0"/>
                <a:cs typeface="Arial" panose="020B0604020202020204" pitchFamily="34" charset="0"/>
              </a:rPr>
              <a:t>specific outcomes</a:t>
            </a:r>
            <a:r>
              <a:rPr lang="en-US" sz="2400" dirty="0">
                <a:solidFill>
                  <a:srgbClr val="FF0000"/>
                </a:solidFill>
                <a:latin typeface="Abadi" panose="020B0604020104020204" pitchFamily="34" charset="0"/>
                <a:ea typeface="ADLaM Display" panose="02010000000000000000" pitchFamily="2" charset="0"/>
                <a:cs typeface="Arial" panose="020B0604020202020204" pitchFamily="34" charset="0"/>
              </a:rPr>
              <a:t> </a:t>
            </a:r>
            <a:r>
              <a:rPr lang="en-US" sz="2400" dirty="0">
                <a:latin typeface="Abadi" panose="020B0604020104020204" pitchFamily="34" charset="0"/>
                <a:ea typeface="ADLaM Display" panose="02010000000000000000" pitchFamily="2" charset="0"/>
                <a:cs typeface="Arial" panose="020B0604020202020204" pitchFamily="34" charset="0"/>
              </a:rPr>
              <a:t>for the organization and the community itself (mutual outcomes). </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367998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53E5-4E4A-FCD5-8C1C-33044F3A8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265F9-F338-76D3-FBED-07C2942E2D9C}"/>
              </a:ext>
            </a:extLst>
          </p:cNvPr>
          <p:cNvSpPr>
            <a:spLocks noGrp="1"/>
          </p:cNvSpPr>
          <p:nvPr>
            <p:ph type="title"/>
          </p:nvPr>
        </p:nvSpPr>
        <p:spPr>
          <a:xfrm>
            <a:off x="1077362" y="360826"/>
            <a:ext cx="9950103" cy="1112688"/>
          </a:xfrm>
        </p:spPr>
        <p:txBody>
          <a:bodyPr/>
          <a:lstStyle/>
          <a:p>
            <a:r>
              <a:rPr lang="en-US" dirty="0"/>
              <a:t>Community and its Types</a:t>
            </a:r>
          </a:p>
        </p:txBody>
      </p:sp>
      <p:sp>
        <p:nvSpPr>
          <p:cNvPr id="3" name="Content Placeholder 2">
            <a:extLst>
              <a:ext uri="{FF2B5EF4-FFF2-40B4-BE49-F238E27FC236}">
                <a16:creationId xmlns:a16="http://schemas.microsoft.com/office/drawing/2014/main" id="{E7F40498-E478-4923-A1BC-06658E452C7B}"/>
              </a:ext>
            </a:extLst>
          </p:cNvPr>
          <p:cNvSpPr>
            <a:spLocks noGrp="1"/>
          </p:cNvSpPr>
          <p:nvPr>
            <p:ph idx="1"/>
          </p:nvPr>
        </p:nvSpPr>
        <p:spPr>
          <a:xfrm>
            <a:off x="1077363" y="1706137"/>
            <a:ext cx="9861984" cy="4560848"/>
          </a:xfrm>
        </p:spPr>
        <p:txBody>
          <a:bodyPr>
            <a:normAutofit fontScale="92500" lnSpcReduction="20000"/>
          </a:bodyPr>
          <a:lstStyle/>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Community: </a:t>
            </a:r>
            <a:r>
              <a:rPr lang="en-US" sz="2400" dirty="0">
                <a:latin typeface="Abadi" panose="020B0604020104020204" pitchFamily="34" charset="0"/>
                <a:ea typeface="ADLaM Display" panose="02010000000000000000" pitchFamily="2" charset="0"/>
                <a:cs typeface="Arial" panose="020B0604020202020204" pitchFamily="34" charset="0"/>
              </a:rPr>
              <a:t>Groups of people based on common geography (country, state, region, suburb, </a:t>
            </a:r>
            <a:r>
              <a:rPr lang="en-US" sz="2400" dirty="0" err="1">
                <a:latin typeface="Abadi" panose="020B0604020104020204" pitchFamily="34" charset="0"/>
                <a:ea typeface="ADLaM Display" panose="02010000000000000000" pitchFamily="2" charset="0"/>
                <a:cs typeface="Arial" panose="020B0604020202020204" pitchFamily="34" charset="0"/>
              </a:rPr>
              <a:t>neighbourhood</a:t>
            </a:r>
            <a:r>
              <a:rPr lang="en-US" sz="2400" dirty="0">
                <a:latin typeface="Abadi" panose="020B0604020104020204" pitchFamily="34" charset="0"/>
                <a:ea typeface="ADLaM Display" panose="02010000000000000000" pitchFamily="2" charset="0"/>
                <a:cs typeface="Arial" panose="020B0604020202020204" pitchFamily="34" charset="0"/>
              </a:rPr>
              <a:t>, etc.) or common interest (customs, values, religion, needs, etc.)</a:t>
            </a:r>
          </a:p>
          <a:p>
            <a:pPr marL="401638" indent="-401638" algn="just">
              <a:buFont typeface="Courier New" panose="02070309020205020404" pitchFamily="49" charset="0"/>
              <a:buChar char="o"/>
            </a:pPr>
            <a:r>
              <a:rPr lang="en-US" sz="2400" b="1" dirty="0">
                <a:latin typeface="Abadi" panose="020B0604020104020204" pitchFamily="34" charset="0"/>
              </a:rPr>
              <a:t>Residential Community: </a:t>
            </a:r>
            <a:r>
              <a:rPr lang="en-US" sz="2400" dirty="0">
                <a:latin typeface="Abadi" panose="020B0604020104020204" pitchFamily="34" charset="0"/>
              </a:rPr>
              <a:t>Focused on shared living locations.</a:t>
            </a:r>
          </a:p>
          <a:p>
            <a:pPr marL="401638" indent="-401638" algn="just">
              <a:buFont typeface="Courier New" panose="02070309020205020404" pitchFamily="49" charset="0"/>
              <a:buChar char="o"/>
            </a:pPr>
            <a:r>
              <a:rPr lang="en-US" sz="2400" b="1" dirty="0">
                <a:latin typeface="Abadi" panose="020B0604020104020204" pitchFamily="34" charset="0"/>
              </a:rPr>
              <a:t>Business Community: </a:t>
            </a:r>
            <a:r>
              <a:rPr lang="en-US" sz="2400" dirty="0">
                <a:latin typeface="Abadi" panose="020B0604020104020204" pitchFamily="34" charset="0"/>
              </a:rPr>
              <a:t>Professional networks sharing opportunities.</a:t>
            </a:r>
          </a:p>
          <a:p>
            <a:pPr marL="401638" indent="-401638" algn="just">
              <a:buFont typeface="Courier New" panose="02070309020205020404" pitchFamily="49" charset="0"/>
              <a:buChar char="o"/>
            </a:pPr>
            <a:r>
              <a:rPr lang="en-US" sz="2400" b="1" dirty="0">
                <a:latin typeface="Abadi" panose="020B0604020104020204" pitchFamily="34" charset="0"/>
              </a:rPr>
              <a:t>Volunteer Community: </a:t>
            </a:r>
            <a:r>
              <a:rPr lang="en-US" sz="2400" dirty="0">
                <a:latin typeface="Abadi" panose="020B0604020104020204" pitchFamily="34" charset="0"/>
              </a:rPr>
              <a:t>Groups working for greater good.</a:t>
            </a:r>
          </a:p>
          <a:p>
            <a:pPr marL="401638" indent="-401638" algn="just">
              <a:buFont typeface="Courier New" panose="02070309020205020404" pitchFamily="49" charset="0"/>
              <a:buChar char="o"/>
            </a:pPr>
            <a:r>
              <a:rPr lang="en-US" sz="2400" b="1" dirty="0">
                <a:latin typeface="Abadi" panose="020B0604020104020204" pitchFamily="34" charset="0"/>
              </a:rPr>
              <a:t>Religious Community: </a:t>
            </a:r>
            <a:r>
              <a:rPr lang="en-US" sz="2400" dirty="0">
                <a:latin typeface="Abadi" panose="020B0604020104020204" pitchFamily="34" charset="0"/>
              </a:rPr>
              <a:t>Based on shared faith and values.</a:t>
            </a:r>
          </a:p>
          <a:p>
            <a:pPr marL="401638" indent="-401638" algn="just">
              <a:buFont typeface="Courier New" panose="02070309020205020404" pitchFamily="49" charset="0"/>
              <a:buChar char="o"/>
            </a:pPr>
            <a:r>
              <a:rPr lang="en-US" sz="2400" b="1" dirty="0">
                <a:latin typeface="Abadi" panose="020B0604020104020204" pitchFamily="34" charset="0"/>
              </a:rPr>
              <a:t>Sport Community: </a:t>
            </a:r>
            <a:r>
              <a:rPr lang="en-US" sz="2400" dirty="0">
                <a:latin typeface="Abadi" panose="020B0604020104020204" pitchFamily="34" charset="0"/>
              </a:rPr>
              <a:t>Team players, fans, and families.</a:t>
            </a:r>
          </a:p>
          <a:p>
            <a:pPr marL="401638" indent="-401638" algn="just">
              <a:buFont typeface="Courier New" panose="02070309020205020404" pitchFamily="49" charset="0"/>
              <a:buChar char="o"/>
            </a:pPr>
            <a:r>
              <a:rPr lang="en-US" sz="2400" b="1" dirty="0">
                <a:latin typeface="Abadi" panose="020B0604020104020204" pitchFamily="34" charset="0"/>
              </a:rPr>
              <a:t>Support Community: </a:t>
            </a:r>
            <a:r>
              <a:rPr lang="en-US" sz="2400" dirty="0">
                <a:latin typeface="Abadi" panose="020B0604020104020204" pitchFamily="34" charset="0"/>
              </a:rPr>
              <a:t>Created around shared challenges.</a:t>
            </a:r>
          </a:p>
          <a:p>
            <a:pPr marL="401638" indent="-401638" algn="just">
              <a:buFont typeface="Courier New" panose="02070309020205020404" pitchFamily="49" charset="0"/>
              <a:buChar char="o"/>
            </a:pPr>
            <a:r>
              <a:rPr lang="en-US" sz="2400" b="1" dirty="0">
                <a:latin typeface="Abadi" panose="020B0604020104020204" pitchFamily="34" charset="0"/>
              </a:rPr>
              <a:t>Brand Community: </a:t>
            </a:r>
            <a:r>
              <a:rPr lang="en-US" sz="2400" dirty="0">
                <a:latin typeface="Abadi" panose="020B0604020104020204" pitchFamily="34" charset="0"/>
              </a:rPr>
              <a:t>Customers united by brand loyalty.</a:t>
            </a:r>
          </a:p>
        </p:txBody>
      </p:sp>
    </p:spTree>
    <p:extLst>
      <p:ext uri="{BB962C8B-B14F-4D97-AF65-F5344CB8AC3E}">
        <p14:creationId xmlns:p14="http://schemas.microsoft.com/office/powerpoint/2010/main" val="1033857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DC5E8-B0E7-AE61-C405-6F081AAD6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E930C-1EEC-966C-FF8F-E9B7774B321B}"/>
              </a:ext>
            </a:extLst>
          </p:cNvPr>
          <p:cNvSpPr>
            <a:spLocks noGrp="1"/>
          </p:cNvSpPr>
          <p:nvPr>
            <p:ph type="title"/>
          </p:nvPr>
        </p:nvSpPr>
        <p:spPr>
          <a:xfrm>
            <a:off x="1077362" y="360826"/>
            <a:ext cx="9950103" cy="1112688"/>
          </a:xfrm>
        </p:spPr>
        <p:txBody>
          <a:bodyPr/>
          <a:lstStyle/>
          <a:p>
            <a:r>
              <a:rPr lang="en-US" dirty="0"/>
              <a:t>Engagement </a:t>
            </a:r>
          </a:p>
        </p:txBody>
      </p:sp>
      <p:sp>
        <p:nvSpPr>
          <p:cNvPr id="3" name="Content Placeholder 2">
            <a:extLst>
              <a:ext uri="{FF2B5EF4-FFF2-40B4-BE49-F238E27FC236}">
                <a16:creationId xmlns:a16="http://schemas.microsoft.com/office/drawing/2014/main" id="{F103C68B-D428-D837-8E15-8738B3828D61}"/>
              </a:ext>
            </a:extLst>
          </p:cNvPr>
          <p:cNvSpPr>
            <a:spLocks noGrp="1"/>
          </p:cNvSpPr>
          <p:nvPr>
            <p:ph idx="1"/>
          </p:nvPr>
        </p:nvSpPr>
        <p:spPr>
          <a:xfrm>
            <a:off x="1077363" y="1706137"/>
            <a:ext cx="9861984" cy="4560848"/>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 act of including stakeholders in activities and communications and allowing them to contribute in a meaningful way.</a:t>
            </a:r>
          </a:p>
          <a:p>
            <a:pPr marL="401638" indent="-401638" algn="just">
              <a:buFont typeface="Courier New" panose="02070309020205020404" pitchFamily="49" charset="0"/>
              <a:buChar char="o"/>
            </a:pPr>
            <a:endParaRPr lang="en-US" sz="2400" dirty="0">
              <a:latin typeface="Abadi" panose="020B0604020104020204" pitchFamily="34" charset="0"/>
            </a:endParaRPr>
          </a:p>
        </p:txBody>
      </p:sp>
      <p:pic>
        <p:nvPicPr>
          <p:cNvPr id="4" name="Picture 3">
            <a:extLst>
              <a:ext uri="{FF2B5EF4-FFF2-40B4-BE49-F238E27FC236}">
                <a16:creationId xmlns:a16="http://schemas.microsoft.com/office/drawing/2014/main" id="{FCD1C49F-E75D-E468-DE80-4A1DB84D3E89}"/>
              </a:ext>
            </a:extLst>
          </p:cNvPr>
          <p:cNvPicPr>
            <a:picLocks noChangeAspect="1"/>
          </p:cNvPicPr>
          <p:nvPr/>
        </p:nvPicPr>
        <p:blipFill>
          <a:blip r:embed="rId2"/>
          <a:stretch>
            <a:fillRect/>
          </a:stretch>
        </p:blipFill>
        <p:spPr>
          <a:xfrm>
            <a:off x="3230631" y="2616230"/>
            <a:ext cx="5730737" cy="3298222"/>
          </a:xfrm>
          <a:prstGeom prst="rect">
            <a:avLst/>
          </a:prstGeom>
        </p:spPr>
      </p:pic>
    </p:spTree>
    <p:extLst>
      <p:ext uri="{BB962C8B-B14F-4D97-AF65-F5344CB8AC3E}">
        <p14:creationId xmlns:p14="http://schemas.microsoft.com/office/powerpoint/2010/main" val="4005607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DEE1-15C2-1264-7D00-0A9BD4777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8DC85-B3FC-70D1-3E62-9B859EFC2209}"/>
              </a:ext>
            </a:extLst>
          </p:cNvPr>
          <p:cNvSpPr>
            <a:spLocks noGrp="1"/>
          </p:cNvSpPr>
          <p:nvPr>
            <p:ph type="title"/>
          </p:nvPr>
        </p:nvSpPr>
        <p:spPr>
          <a:xfrm>
            <a:off x="1077362" y="360826"/>
            <a:ext cx="9950103" cy="1112688"/>
          </a:xfrm>
        </p:spPr>
        <p:txBody>
          <a:bodyPr>
            <a:normAutofit fontScale="90000"/>
          </a:bodyPr>
          <a:lstStyle/>
          <a:p>
            <a:pPr algn="ctr"/>
            <a:r>
              <a:rPr lang="en-US" dirty="0"/>
              <a:t>Islamic Perspective regarding Community Engagement</a:t>
            </a:r>
          </a:p>
        </p:txBody>
      </p:sp>
      <p:sp>
        <p:nvSpPr>
          <p:cNvPr id="3" name="Content Placeholder 2">
            <a:extLst>
              <a:ext uri="{FF2B5EF4-FFF2-40B4-BE49-F238E27FC236}">
                <a16:creationId xmlns:a16="http://schemas.microsoft.com/office/drawing/2014/main" id="{D5210386-C6AD-35BB-3F0F-698EF07BEADF}"/>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Islamic emphasis on social welfare and justice.</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 Quran and Hadith emphasize helping neighbors, supporting the needy, and working for the collective good. The Prophet Muhammad (PBUH) said: </a:t>
            </a:r>
            <a:r>
              <a:rPr lang="en-US" sz="2400" i="1" dirty="0">
                <a:latin typeface="Abadi" panose="020B0604020104020204" pitchFamily="34" charset="0"/>
                <a:ea typeface="ADLaM Display" panose="02010000000000000000" pitchFamily="2" charset="0"/>
                <a:cs typeface="Arial" panose="020B0604020202020204" pitchFamily="34" charset="0"/>
              </a:rPr>
              <a:t>"The best of people are those who bring the most benefit to others."</a:t>
            </a:r>
            <a:r>
              <a:rPr lang="en-US" sz="2400" dirty="0">
                <a:latin typeface="Abadi" panose="020B0604020104020204" pitchFamily="34" charset="0"/>
                <a:ea typeface="ADLaM Display" panose="02010000000000000000" pitchFamily="2" charset="0"/>
                <a:cs typeface="Arial" panose="020B0604020202020204" pitchFamily="34" charset="0"/>
              </a:rPr>
              <a:t> (Hadith, </a:t>
            </a:r>
            <a:r>
              <a:rPr lang="en-US" sz="2400" dirty="0" err="1">
                <a:latin typeface="Abadi" panose="020B0604020104020204" pitchFamily="34" charset="0"/>
                <a:ea typeface="ADLaM Display" panose="02010000000000000000" pitchFamily="2" charset="0"/>
                <a:cs typeface="Arial" panose="020B0604020202020204" pitchFamily="34" charset="0"/>
              </a:rPr>
              <a:t>Musnad</a:t>
            </a:r>
            <a:r>
              <a:rPr lang="en-US" sz="2400" dirty="0">
                <a:latin typeface="Abadi" panose="020B0604020104020204" pitchFamily="34" charset="0"/>
                <a:ea typeface="ADLaM Display" panose="02010000000000000000" pitchFamily="2" charset="0"/>
                <a:cs typeface="Arial" panose="020B0604020202020204" pitchFamily="34" charset="0"/>
              </a:rPr>
              <a:t> Ahmad)</a:t>
            </a:r>
          </a:p>
        </p:txBody>
      </p:sp>
    </p:spTree>
    <p:extLst>
      <p:ext uri="{BB962C8B-B14F-4D97-AF65-F5344CB8AC3E}">
        <p14:creationId xmlns:p14="http://schemas.microsoft.com/office/powerpoint/2010/main" val="225791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1FE6E-2317-C65A-0174-880244566F8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ED3530-C696-FFE4-1C4B-29F6B31B9462}"/>
              </a:ext>
            </a:extLst>
          </p:cNvPr>
          <p:cNvSpPr/>
          <p:nvPr/>
        </p:nvSpPr>
        <p:spPr>
          <a:xfrm>
            <a:off x="0" y="3781618"/>
            <a:ext cx="12192000" cy="306658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EEC0549-E8C6-E9FC-C1BE-902EF6389299}"/>
              </a:ext>
            </a:extLst>
          </p:cNvPr>
          <p:cNvSpPr/>
          <p:nvPr/>
        </p:nvSpPr>
        <p:spPr>
          <a:xfrm>
            <a:off x="0" y="0"/>
            <a:ext cx="12192000" cy="306658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3" descr="A colorful hexagons with white text&#10;&#10;Description automatically generated">
            <a:extLst>
              <a:ext uri="{FF2B5EF4-FFF2-40B4-BE49-F238E27FC236}">
                <a16:creationId xmlns:a16="http://schemas.microsoft.com/office/drawing/2014/main" id="{B1D9B534-0028-58FF-F823-CED8336BB55C}"/>
              </a:ext>
            </a:extLst>
          </p:cNvPr>
          <p:cNvPicPr>
            <a:picLocks noChangeAspect="1"/>
          </p:cNvPicPr>
          <p:nvPr/>
        </p:nvPicPr>
        <p:blipFill>
          <a:blip r:embed="rId2"/>
          <a:stretch>
            <a:fillRect/>
          </a:stretch>
        </p:blipFill>
        <p:spPr>
          <a:xfrm>
            <a:off x="3965139" y="3853436"/>
            <a:ext cx="3496253" cy="2922949"/>
          </a:xfrm>
          <a:prstGeom prst="rect">
            <a:avLst/>
          </a:prstGeom>
        </p:spPr>
      </p:pic>
      <p:pic>
        <p:nvPicPr>
          <p:cNvPr id="14" name="Picture 13" descr="A diagram of different types of support&#10;&#10;Description automatically generated with medium confidence">
            <a:extLst>
              <a:ext uri="{FF2B5EF4-FFF2-40B4-BE49-F238E27FC236}">
                <a16:creationId xmlns:a16="http://schemas.microsoft.com/office/drawing/2014/main" id="{722AF95A-0B88-1F68-44B3-B47E49E49187}"/>
              </a:ext>
            </a:extLst>
          </p:cNvPr>
          <p:cNvPicPr>
            <a:picLocks noChangeAspect="1"/>
          </p:cNvPicPr>
          <p:nvPr/>
        </p:nvPicPr>
        <p:blipFill>
          <a:blip r:embed="rId3"/>
          <a:stretch>
            <a:fillRect/>
          </a:stretch>
        </p:blipFill>
        <p:spPr>
          <a:xfrm>
            <a:off x="7699100" y="3874350"/>
            <a:ext cx="3900541" cy="2922949"/>
          </a:xfrm>
          <a:prstGeom prst="rect">
            <a:avLst/>
          </a:prstGeom>
        </p:spPr>
      </p:pic>
      <p:pic>
        <p:nvPicPr>
          <p:cNvPr id="15" name="Picture 14">
            <a:extLst>
              <a:ext uri="{FF2B5EF4-FFF2-40B4-BE49-F238E27FC236}">
                <a16:creationId xmlns:a16="http://schemas.microsoft.com/office/drawing/2014/main" id="{428A7219-B665-C38E-0DDC-EA64973281E0}"/>
              </a:ext>
            </a:extLst>
          </p:cNvPr>
          <p:cNvPicPr>
            <a:picLocks noChangeAspect="1"/>
          </p:cNvPicPr>
          <p:nvPr/>
        </p:nvPicPr>
        <p:blipFill>
          <a:blip r:embed="rId4"/>
          <a:stretch>
            <a:fillRect/>
          </a:stretch>
        </p:blipFill>
        <p:spPr>
          <a:xfrm>
            <a:off x="6148698" y="334180"/>
            <a:ext cx="2872179" cy="2594108"/>
          </a:xfrm>
          <a:prstGeom prst="rect">
            <a:avLst/>
          </a:prstGeom>
        </p:spPr>
      </p:pic>
      <p:pic>
        <p:nvPicPr>
          <p:cNvPr id="16" name="Picture 2" descr="A two ambulances on a road&#10;&#10;Description automatically generated">
            <a:extLst>
              <a:ext uri="{FF2B5EF4-FFF2-40B4-BE49-F238E27FC236}">
                <a16:creationId xmlns:a16="http://schemas.microsoft.com/office/drawing/2014/main" id="{52380819-602A-6BC5-95EA-BFC75AEA08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3355" b="8463"/>
          <a:stretch/>
        </p:blipFill>
        <p:spPr bwMode="auto">
          <a:xfrm>
            <a:off x="3198391" y="317273"/>
            <a:ext cx="2835509" cy="259410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logo for a foundation&#10;&#10;Description automatically generated">
            <a:extLst>
              <a:ext uri="{FF2B5EF4-FFF2-40B4-BE49-F238E27FC236}">
                <a16:creationId xmlns:a16="http://schemas.microsoft.com/office/drawing/2014/main" id="{DE355BA9-C843-AC70-5C15-F22C53ADFE98}"/>
              </a:ext>
            </a:extLst>
          </p:cNvPr>
          <p:cNvPicPr>
            <a:picLocks noChangeAspect="1"/>
          </p:cNvPicPr>
          <p:nvPr/>
        </p:nvPicPr>
        <p:blipFill>
          <a:blip r:embed="rId6"/>
          <a:srcRect l="28964" t="18374" r="32078" b="15772"/>
          <a:stretch/>
        </p:blipFill>
        <p:spPr>
          <a:xfrm>
            <a:off x="9135675" y="317273"/>
            <a:ext cx="2622763" cy="2594108"/>
          </a:xfrm>
          <a:prstGeom prst="rect">
            <a:avLst/>
          </a:prstGeom>
        </p:spPr>
      </p:pic>
      <p:sp>
        <p:nvSpPr>
          <p:cNvPr id="18" name="Title 1">
            <a:extLst>
              <a:ext uri="{FF2B5EF4-FFF2-40B4-BE49-F238E27FC236}">
                <a16:creationId xmlns:a16="http://schemas.microsoft.com/office/drawing/2014/main" id="{33DA10B7-4CFB-6D5C-9938-FF8EBBECCBED}"/>
              </a:ext>
            </a:extLst>
          </p:cNvPr>
          <p:cNvSpPr>
            <a:spLocks noGrp="1"/>
          </p:cNvSpPr>
          <p:nvPr>
            <p:ph type="title"/>
          </p:nvPr>
        </p:nvSpPr>
        <p:spPr>
          <a:xfrm>
            <a:off x="220625" y="3133985"/>
            <a:ext cx="11856146" cy="606826"/>
          </a:xfrm>
        </p:spPr>
        <p:txBody>
          <a:bodyPr vert="horz" lIns="91440" tIns="45720" rIns="91440" bIns="45720" rtlCol="0" anchor="t">
            <a:normAutofit/>
          </a:bodyPr>
          <a:lstStyle/>
          <a:p>
            <a:pPr algn="ctr">
              <a:lnSpc>
                <a:spcPct val="100000"/>
              </a:lnSpc>
            </a:pPr>
            <a:r>
              <a:rPr lang="en-US" sz="2500" dirty="0"/>
              <a:t>Community Engagement in Pakistan</a:t>
            </a:r>
          </a:p>
        </p:txBody>
      </p:sp>
      <p:pic>
        <p:nvPicPr>
          <p:cNvPr id="19" name="Picture 8">
            <a:extLst>
              <a:ext uri="{FF2B5EF4-FFF2-40B4-BE49-F238E27FC236}">
                <a16:creationId xmlns:a16="http://schemas.microsoft.com/office/drawing/2014/main" id="{CBF3D994-8ECF-B08B-E196-7296CADCAC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4204" y="159979"/>
            <a:ext cx="3994926" cy="20973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35F0D67-00D3-C4C9-53CD-A23BC35884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589" y="3874349"/>
            <a:ext cx="3299842" cy="2823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6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5DEFD-B1B6-F11F-5E7B-8A6479B56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2E0D4-D082-C70C-F63C-81FAE958C95D}"/>
              </a:ext>
            </a:extLst>
          </p:cNvPr>
          <p:cNvSpPr>
            <a:spLocks noGrp="1"/>
          </p:cNvSpPr>
          <p:nvPr>
            <p:ph type="title"/>
          </p:nvPr>
        </p:nvSpPr>
        <p:spPr>
          <a:xfrm>
            <a:off x="1077362" y="360826"/>
            <a:ext cx="9950103" cy="1112688"/>
          </a:xfrm>
        </p:spPr>
        <p:txBody>
          <a:bodyPr/>
          <a:lstStyle/>
          <a:p>
            <a:r>
              <a:rPr lang="en-US" dirty="0"/>
              <a:t>Citizenship </a:t>
            </a:r>
          </a:p>
        </p:txBody>
      </p:sp>
      <p:sp>
        <p:nvSpPr>
          <p:cNvPr id="3" name="Content Placeholder 2">
            <a:extLst>
              <a:ext uri="{FF2B5EF4-FFF2-40B4-BE49-F238E27FC236}">
                <a16:creationId xmlns:a16="http://schemas.microsoft.com/office/drawing/2014/main" id="{3E46CF34-5ED5-E8CE-1E34-9E97CC0B9726}"/>
              </a:ext>
            </a:extLst>
          </p:cNvPr>
          <p:cNvSpPr>
            <a:spLocks noGrp="1"/>
          </p:cNvSpPr>
          <p:nvPr>
            <p:ph idx="1"/>
          </p:nvPr>
        </p:nvSpPr>
        <p:spPr>
          <a:xfrm>
            <a:off x="1077363" y="1706137"/>
            <a:ext cx="9861984" cy="4234693"/>
          </a:xfrm>
        </p:spPr>
        <p:txBody>
          <a:bodyPr>
            <a:normAutofit fontScale="925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Citizenship refers to the legal and social relationship between an individual and a state or nation. It encompasses certain rights, responsibilities, and privileges granted by the state to the individual, and in return, the individual owes allegiance and fulfills duties toward the state. Citizenship is often tied to a sense of belonging and cultural or national identity.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Islamic Concept: Ummah emphasizes shared faith, justice, and welfare.</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Pakistan: Citizenship Act of 1951 defines legal and moral duties.</a:t>
            </a:r>
          </a:p>
          <a:p>
            <a:pPr marL="803275" indent="-401638" algn="just">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Voting is an Islamic and civic responsibility. </a:t>
            </a:r>
          </a:p>
          <a:p>
            <a:pPr marL="803275" indent="-401638" algn="just">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Paying Zakat and taxes ensures economic and social welfare.</a:t>
            </a:r>
          </a:p>
        </p:txBody>
      </p:sp>
    </p:spTree>
    <p:extLst>
      <p:ext uri="{BB962C8B-B14F-4D97-AF65-F5344CB8AC3E}">
        <p14:creationId xmlns:p14="http://schemas.microsoft.com/office/powerpoint/2010/main" val="356579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0874-1600-BF5A-90FE-CA36E2EC0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B2112-9B57-0AE0-AFF2-9C6FFE981B29}"/>
              </a:ext>
            </a:extLst>
          </p:cNvPr>
          <p:cNvSpPr>
            <a:spLocks noGrp="1"/>
          </p:cNvSpPr>
          <p:nvPr>
            <p:ph type="title"/>
          </p:nvPr>
        </p:nvSpPr>
        <p:spPr>
          <a:xfrm>
            <a:off x="1077362" y="360826"/>
            <a:ext cx="9950103" cy="1112688"/>
          </a:xfrm>
        </p:spPr>
        <p:txBody>
          <a:bodyPr/>
          <a:lstStyle/>
          <a:p>
            <a:r>
              <a:rPr lang="en-US" dirty="0"/>
              <a:t>Civic Duty (Mandatory) </a:t>
            </a:r>
          </a:p>
        </p:txBody>
      </p:sp>
      <p:sp>
        <p:nvSpPr>
          <p:cNvPr id="3" name="Content Placeholder 2">
            <a:extLst>
              <a:ext uri="{FF2B5EF4-FFF2-40B4-BE49-F238E27FC236}">
                <a16:creationId xmlns:a16="http://schemas.microsoft.com/office/drawing/2014/main" id="{CD97375F-239B-0C99-CE81-A3B0C71F8DF2}"/>
              </a:ext>
            </a:extLst>
          </p:cNvPr>
          <p:cNvSpPr>
            <a:spLocks noGrp="1"/>
          </p:cNvSpPr>
          <p:nvPr>
            <p:ph idx="1"/>
          </p:nvPr>
        </p:nvSpPr>
        <p:spPr>
          <a:xfrm>
            <a:off x="1077363" y="1706137"/>
            <a:ext cx="9861984" cy="4234693"/>
          </a:xfrm>
        </p:spPr>
        <p:txBody>
          <a:bodyPr>
            <a:normAutofit lnSpcReduction="100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civic duty is a legal obligation or mandatory requirement for citizens to follow, enforced by law.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Civic duties are vital because they ensure the orderly functioning of society and uphold the rule of law. </a:t>
            </a:r>
          </a:p>
          <a:p>
            <a:pPr marL="401638" indent="-401638" algn="just">
              <a:buFont typeface="Courier New" panose="02070309020205020404" pitchFamily="49" charset="0"/>
              <a:buChar char="o"/>
            </a:pPr>
            <a:r>
              <a:rPr lang="en-US" sz="2400" b="1" u="sng" dirty="0">
                <a:latin typeface="Abadi" panose="020B0604020104020204" pitchFamily="34" charset="0"/>
                <a:ea typeface="ADLaM Display" panose="02010000000000000000" pitchFamily="2" charset="0"/>
                <a:cs typeface="Arial" panose="020B0604020202020204" pitchFamily="34" charset="0"/>
              </a:rPr>
              <a:t>Failure </a:t>
            </a:r>
            <a:r>
              <a:rPr lang="en-US" sz="2400" dirty="0">
                <a:latin typeface="Abadi" panose="020B0604020104020204" pitchFamily="34" charset="0"/>
                <a:ea typeface="ADLaM Display" panose="02010000000000000000" pitchFamily="2" charset="0"/>
                <a:cs typeface="Arial" panose="020B0604020202020204" pitchFamily="34" charset="0"/>
              </a:rPr>
              <a:t>to fulfill these duties can lead to </a:t>
            </a:r>
            <a:r>
              <a:rPr lang="en-US" sz="2400" u="sng" dirty="0">
                <a:latin typeface="Abadi" panose="020B0604020104020204" pitchFamily="34" charset="0"/>
                <a:ea typeface="ADLaM Display" panose="02010000000000000000" pitchFamily="2" charset="0"/>
                <a:cs typeface="Arial" panose="020B0604020202020204" pitchFamily="34" charset="0"/>
              </a:rPr>
              <a:t>legal penalties</a:t>
            </a:r>
            <a:r>
              <a:rPr lang="en-US" sz="2400" dirty="0">
                <a:latin typeface="Abadi" panose="020B0604020104020204" pitchFamily="34" charset="0"/>
                <a:ea typeface="ADLaM Display" panose="02010000000000000000" pitchFamily="2" charset="0"/>
                <a:cs typeface="Arial" panose="020B0604020202020204" pitchFamily="34" charset="0"/>
              </a:rPr>
              <a:t>, disrupting the stability and integrity of the social and governmental systems.</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Examples: </a:t>
            </a:r>
            <a:r>
              <a:rPr lang="en-US" sz="2400" b="1" u="sng" dirty="0">
                <a:latin typeface="Abadi" panose="020B0604020104020204" pitchFamily="34" charset="0"/>
                <a:ea typeface="ADLaM Display" panose="02010000000000000000" pitchFamily="2" charset="0"/>
                <a:cs typeface="Arial" panose="020B0604020202020204" pitchFamily="34" charset="0"/>
              </a:rPr>
              <a:t>Obeying the law </a:t>
            </a:r>
            <a:r>
              <a:rPr lang="en-US" sz="2400" dirty="0">
                <a:latin typeface="Abadi" panose="020B0604020104020204" pitchFamily="34" charset="0"/>
                <a:ea typeface="ADLaM Display" panose="02010000000000000000" pitchFamily="2" charset="0"/>
                <a:cs typeface="Arial" panose="020B0604020202020204" pitchFamily="34" charset="0"/>
              </a:rPr>
              <a:t>to maintain social order, </a:t>
            </a:r>
            <a:r>
              <a:rPr lang="en-US" sz="2400" b="1" u="sng" dirty="0">
                <a:latin typeface="Abadi" panose="020B0604020104020204" pitchFamily="34" charset="0"/>
                <a:ea typeface="ADLaM Display" panose="02010000000000000000" pitchFamily="2" charset="0"/>
                <a:cs typeface="Arial" panose="020B0604020202020204" pitchFamily="34" charset="0"/>
              </a:rPr>
              <a:t>paying taxes </a:t>
            </a:r>
            <a:r>
              <a:rPr lang="en-US" sz="2400" dirty="0">
                <a:latin typeface="Abadi" panose="020B0604020104020204" pitchFamily="34" charset="0"/>
                <a:ea typeface="ADLaM Display" panose="02010000000000000000" pitchFamily="2" charset="0"/>
                <a:cs typeface="Arial" panose="020B0604020202020204" pitchFamily="34" charset="0"/>
              </a:rPr>
              <a:t>for public services and infrastructure, and </a:t>
            </a:r>
            <a:r>
              <a:rPr lang="en-US" sz="2400" b="1" u="sng" dirty="0">
                <a:latin typeface="Abadi" panose="020B0604020104020204" pitchFamily="34" charset="0"/>
                <a:ea typeface="ADLaM Display" panose="02010000000000000000" pitchFamily="2" charset="0"/>
                <a:cs typeface="Arial" panose="020B0604020202020204" pitchFamily="34" charset="0"/>
              </a:rPr>
              <a:t>Jury duty </a:t>
            </a:r>
            <a:r>
              <a:rPr lang="en-US" sz="2400" dirty="0">
                <a:latin typeface="Abadi" panose="020B0604020104020204" pitchFamily="34" charset="0"/>
                <a:ea typeface="ADLaM Display" panose="02010000000000000000" pitchFamily="2" charset="0"/>
                <a:cs typeface="Arial" panose="020B0604020202020204" pitchFamily="34" charset="0"/>
              </a:rPr>
              <a:t>in democratic nations for judicial participation.</a:t>
            </a:r>
            <a:endParaRPr lang="en-US" sz="2400" dirty="0"/>
          </a:p>
        </p:txBody>
      </p:sp>
    </p:spTree>
    <p:extLst>
      <p:ext uri="{BB962C8B-B14F-4D97-AF65-F5344CB8AC3E}">
        <p14:creationId xmlns:p14="http://schemas.microsoft.com/office/powerpoint/2010/main" val="139421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D733-AD81-7712-04B2-735B93E00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201F4-7F2E-3AA4-72E5-942DF9D6AA53}"/>
              </a:ext>
            </a:extLst>
          </p:cNvPr>
          <p:cNvSpPr>
            <a:spLocks noGrp="1"/>
          </p:cNvSpPr>
          <p:nvPr>
            <p:ph type="title"/>
          </p:nvPr>
        </p:nvSpPr>
        <p:spPr>
          <a:xfrm>
            <a:off x="1077362" y="360826"/>
            <a:ext cx="9950103" cy="1112688"/>
          </a:xfrm>
        </p:spPr>
        <p:txBody>
          <a:bodyPr/>
          <a:lstStyle/>
          <a:p>
            <a:r>
              <a:rPr lang="en-US" dirty="0"/>
              <a:t>Civic Responsibility (Voluntary) </a:t>
            </a:r>
          </a:p>
        </p:txBody>
      </p:sp>
      <p:sp>
        <p:nvSpPr>
          <p:cNvPr id="3" name="Content Placeholder 2">
            <a:extLst>
              <a:ext uri="{FF2B5EF4-FFF2-40B4-BE49-F238E27FC236}">
                <a16:creationId xmlns:a16="http://schemas.microsoft.com/office/drawing/2014/main" id="{78155C06-FD1D-CE90-7940-B7A8A8D4D562}"/>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civic responsibility is a voluntary act or moral obligation that benefits the community and promotes the common good. It is not legally enforced but is essential for a healthy society.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Neglecting these responsibilities may not have immediate legal consequences but can lead to societal stagnation and a lack of communal harmony and growth.</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Examples: </a:t>
            </a:r>
            <a:r>
              <a:rPr lang="en-US" sz="2400" dirty="0">
                <a:latin typeface="Abadi" panose="020B0604020104020204" pitchFamily="34" charset="0"/>
                <a:ea typeface="ADLaM Display" panose="02010000000000000000" pitchFamily="2" charset="0"/>
                <a:cs typeface="Arial" panose="020B0604020202020204" pitchFamily="34" charset="0"/>
              </a:rPr>
              <a:t>Voting to elect just leaders, volunteering for societal growth, and staying informed about policies and societal changes.</a:t>
            </a:r>
            <a:endParaRPr lang="en-US" sz="2400" dirty="0"/>
          </a:p>
        </p:txBody>
      </p:sp>
    </p:spTree>
    <p:extLst>
      <p:ext uri="{BB962C8B-B14F-4D97-AF65-F5344CB8AC3E}">
        <p14:creationId xmlns:p14="http://schemas.microsoft.com/office/powerpoint/2010/main" val="1464318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F25E-51CB-4D95-F259-529BA0595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18675-D7CC-F5D6-7157-BDC0E5DF72C2}"/>
              </a:ext>
            </a:extLst>
          </p:cNvPr>
          <p:cNvSpPr>
            <a:spLocks noGrp="1"/>
          </p:cNvSpPr>
          <p:nvPr>
            <p:ph type="title"/>
          </p:nvPr>
        </p:nvSpPr>
        <p:spPr>
          <a:xfrm>
            <a:off x="1077362" y="360826"/>
            <a:ext cx="9950103" cy="1112688"/>
          </a:xfrm>
        </p:spPr>
        <p:txBody>
          <a:bodyPr/>
          <a:lstStyle/>
          <a:p>
            <a:pPr algn="ctr"/>
            <a:r>
              <a:rPr lang="en-US" dirty="0"/>
              <a:t>Tools of Community Need Assessment </a:t>
            </a:r>
          </a:p>
        </p:txBody>
      </p:sp>
      <p:pic>
        <p:nvPicPr>
          <p:cNvPr id="7" name="Picture 6">
            <a:extLst>
              <a:ext uri="{FF2B5EF4-FFF2-40B4-BE49-F238E27FC236}">
                <a16:creationId xmlns:a16="http://schemas.microsoft.com/office/drawing/2014/main" id="{F1A27F4C-FA80-1996-EDEC-4B39DCECA176}"/>
              </a:ext>
            </a:extLst>
          </p:cNvPr>
          <p:cNvPicPr>
            <a:picLocks noChangeAspect="1"/>
          </p:cNvPicPr>
          <p:nvPr/>
        </p:nvPicPr>
        <p:blipFill>
          <a:blip r:embed="rId2"/>
          <a:stretch>
            <a:fillRect/>
          </a:stretch>
        </p:blipFill>
        <p:spPr>
          <a:xfrm>
            <a:off x="1701941" y="2252406"/>
            <a:ext cx="8788118" cy="2607856"/>
          </a:xfrm>
          <a:prstGeom prst="rect">
            <a:avLst/>
          </a:prstGeom>
        </p:spPr>
      </p:pic>
    </p:spTree>
    <p:extLst>
      <p:ext uri="{BB962C8B-B14F-4D97-AF65-F5344CB8AC3E}">
        <p14:creationId xmlns:p14="http://schemas.microsoft.com/office/powerpoint/2010/main" val="60318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6544-9050-ECE9-4DE7-A542741D7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B7473-1F44-FB28-8C97-423930CDD3D2}"/>
              </a:ext>
            </a:extLst>
          </p:cNvPr>
          <p:cNvSpPr>
            <a:spLocks noGrp="1"/>
          </p:cNvSpPr>
          <p:nvPr>
            <p:ph type="title"/>
          </p:nvPr>
        </p:nvSpPr>
        <p:spPr>
          <a:xfrm>
            <a:off x="1077362" y="360826"/>
            <a:ext cx="9950103" cy="1112688"/>
          </a:xfrm>
        </p:spPr>
        <p:txBody>
          <a:bodyPr/>
          <a:lstStyle/>
          <a:p>
            <a:r>
              <a:rPr lang="en-US" dirty="0"/>
              <a:t>Community Meeting (Town Hall or Public Forum)</a:t>
            </a:r>
          </a:p>
        </p:txBody>
      </p:sp>
      <p:sp>
        <p:nvSpPr>
          <p:cNvPr id="3" name="Content Placeholder 2">
            <a:extLst>
              <a:ext uri="{FF2B5EF4-FFF2-40B4-BE49-F238E27FC236}">
                <a16:creationId xmlns:a16="http://schemas.microsoft.com/office/drawing/2014/main" id="{60C9337D-AB4F-3EBB-75B1-5FC18BCA98C5}"/>
              </a:ext>
            </a:extLst>
          </p:cNvPr>
          <p:cNvSpPr>
            <a:spLocks noGrp="1"/>
          </p:cNvSpPr>
          <p:nvPr>
            <p:ph idx="1"/>
          </p:nvPr>
        </p:nvSpPr>
        <p:spPr>
          <a:xfrm>
            <a:off x="1077363" y="1706137"/>
            <a:ext cx="9795076"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community meeting is an informal public gathering that brings together community members to discuss issues, voice concerns, and express preferences for community priorities.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Ideally, a respected local individual or community organization representative serves as the facilitator (having clear goal), , especially in cases of cultural or language barriers.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3722678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8EA7-E4FD-EF59-13B1-6C4AD23AB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B558B-5799-5E98-B6EC-0DF20AF6361D}"/>
              </a:ext>
            </a:extLst>
          </p:cNvPr>
          <p:cNvSpPr>
            <a:spLocks noGrp="1"/>
          </p:cNvSpPr>
          <p:nvPr>
            <p:ph type="title"/>
          </p:nvPr>
        </p:nvSpPr>
        <p:spPr>
          <a:xfrm>
            <a:off x="1077362" y="360826"/>
            <a:ext cx="9950103" cy="1112688"/>
          </a:xfrm>
        </p:spPr>
        <p:txBody>
          <a:bodyPr>
            <a:normAutofit fontScale="90000"/>
          </a:bodyPr>
          <a:lstStyle/>
          <a:p>
            <a:pPr algn="ctr"/>
            <a:r>
              <a:rPr lang="en-US" dirty="0"/>
              <a:t>Community Meeting (Town Hall or Public Forum)</a:t>
            </a:r>
            <a:br>
              <a:rPr lang="en-US" dirty="0"/>
            </a:br>
            <a:r>
              <a:rPr lang="en-US" dirty="0"/>
              <a:t>Advantages and Challenges </a:t>
            </a:r>
          </a:p>
        </p:txBody>
      </p:sp>
      <p:sp>
        <p:nvSpPr>
          <p:cNvPr id="3" name="Content Placeholder 2">
            <a:extLst>
              <a:ext uri="{FF2B5EF4-FFF2-40B4-BE49-F238E27FC236}">
                <a16:creationId xmlns:a16="http://schemas.microsoft.com/office/drawing/2014/main" id="{2B00A35E-9CA0-22C1-F861-9DE43DF82172}"/>
              </a:ext>
            </a:extLst>
          </p:cNvPr>
          <p:cNvSpPr>
            <a:spLocks noGrp="1"/>
          </p:cNvSpPr>
          <p:nvPr>
            <p:ph idx="1"/>
          </p:nvPr>
        </p:nvSpPr>
        <p:spPr>
          <a:xfrm>
            <a:off x="1077363" y="1706137"/>
            <a:ext cx="9795076" cy="4234693"/>
          </a:xfrm>
        </p:spPr>
        <p:txBody>
          <a:bodyPr numCol="1">
            <a:normAutofit fontScale="85000" lnSpcReduction="20000"/>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 </a:t>
            </a:r>
          </a:p>
          <a:p>
            <a:pPr marL="401638" indent="-401638" algn="just" defTabSz="869950">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Advantages Encourages diverse   perspectives and collaboration.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Engages large groups and identifies community leaders.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Highlights key issues and explores solutions.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Maintaining a comfortable, focused environment.</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Social constraints (ender disparities, power dynamics,</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cultural norms) and dominance by vocal participants.</a:t>
            </a:r>
          </a:p>
        </p:txBody>
      </p:sp>
    </p:spTree>
    <p:extLst>
      <p:ext uri="{BB962C8B-B14F-4D97-AF65-F5344CB8AC3E}">
        <p14:creationId xmlns:p14="http://schemas.microsoft.com/office/powerpoint/2010/main" val="336738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1BA6-ECEF-F2CA-1E7D-3C8C17755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7678C-223A-524C-ABCB-9A769BBC92E4}"/>
              </a:ext>
            </a:extLst>
          </p:cNvPr>
          <p:cNvSpPr>
            <a:spLocks noGrp="1"/>
          </p:cNvSpPr>
          <p:nvPr>
            <p:ph type="title"/>
          </p:nvPr>
        </p:nvSpPr>
        <p:spPr>
          <a:xfrm>
            <a:off x="1077362" y="360826"/>
            <a:ext cx="9950103" cy="1112688"/>
          </a:xfrm>
        </p:spPr>
        <p:txBody>
          <a:bodyPr>
            <a:normAutofit fontScale="90000"/>
          </a:bodyPr>
          <a:lstStyle/>
          <a:p>
            <a:pPr algn="ctr"/>
            <a:r>
              <a:rPr lang="en-US" dirty="0"/>
              <a:t>Community Meeting (Town Hall or Public Forum)</a:t>
            </a:r>
            <a:br>
              <a:rPr lang="en-US" dirty="0"/>
            </a:br>
            <a:r>
              <a:rPr lang="en-US" dirty="0"/>
              <a:t>Addressing Challenges </a:t>
            </a:r>
          </a:p>
        </p:txBody>
      </p:sp>
      <p:sp>
        <p:nvSpPr>
          <p:cNvPr id="3" name="Content Placeholder 2">
            <a:extLst>
              <a:ext uri="{FF2B5EF4-FFF2-40B4-BE49-F238E27FC236}">
                <a16:creationId xmlns:a16="http://schemas.microsoft.com/office/drawing/2014/main" id="{EE7C63EE-E187-53FD-D95D-72375B50B0E6}"/>
              </a:ext>
            </a:extLst>
          </p:cNvPr>
          <p:cNvSpPr>
            <a:spLocks noGrp="1"/>
          </p:cNvSpPr>
          <p:nvPr>
            <p:ph idx="1"/>
          </p:nvPr>
        </p:nvSpPr>
        <p:spPr>
          <a:xfrm>
            <a:off x="1077363" y="1706137"/>
            <a:ext cx="9795076" cy="4234693"/>
          </a:xfrm>
        </p:spPr>
        <p:txBody>
          <a:bodyPr numCol="1">
            <a:normAutofit fontScale="92500" lnSpcReduction="10000"/>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Tips to Address Challenges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Involve quieter participants and monitor group dynamics.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Use positive body language and enforce respectful communication.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Summarize discussions to stay on topic.</a:t>
            </a:r>
          </a:p>
          <a:p>
            <a:pPr marL="0" indent="0">
              <a:buNone/>
            </a:pPr>
            <a:r>
              <a:rPr lang="en-US" sz="2800" b="1" dirty="0">
                <a:latin typeface="Abadi" panose="020B0604020104020204" pitchFamily="34" charset="0"/>
                <a:ea typeface="ADLaM Display" panose="02010000000000000000" pitchFamily="2" charset="0"/>
                <a:cs typeface="Arial" panose="020B0604020202020204" pitchFamily="34" charset="0"/>
              </a:rPr>
              <a:t>Following Up After a Community Meeting</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Thank participants for their time and feedback.</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Share key insights and outline next steps or action plans.</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Involve key individuals to assist with identified projects or initiatives.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1211099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2A5C-F57C-D760-E326-38647E4F2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74FB1-1052-C770-75AD-B0562380E54D}"/>
              </a:ext>
            </a:extLst>
          </p:cNvPr>
          <p:cNvSpPr>
            <a:spLocks noGrp="1"/>
          </p:cNvSpPr>
          <p:nvPr>
            <p:ph type="title"/>
          </p:nvPr>
        </p:nvSpPr>
        <p:spPr>
          <a:xfrm>
            <a:off x="1077362" y="360826"/>
            <a:ext cx="9950103" cy="776598"/>
          </a:xfrm>
        </p:spPr>
        <p:txBody>
          <a:bodyPr>
            <a:normAutofit/>
          </a:bodyPr>
          <a:lstStyle/>
          <a:p>
            <a:pPr algn="ctr"/>
            <a:r>
              <a:rPr lang="en-US" dirty="0"/>
              <a:t>Survey</a:t>
            </a:r>
          </a:p>
        </p:txBody>
      </p:sp>
      <p:sp>
        <p:nvSpPr>
          <p:cNvPr id="3" name="Content Placeholder 2">
            <a:extLst>
              <a:ext uri="{FF2B5EF4-FFF2-40B4-BE49-F238E27FC236}">
                <a16:creationId xmlns:a16="http://schemas.microsoft.com/office/drawing/2014/main" id="{67CF1899-A6B9-F940-B631-24BDA88B01A6}"/>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survey is a widely used tool to gather information and opinions. In community assessments, surveys help evaluate perceived strengths, weaknesses, needs, and assets.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They can target the general population or specific groups and are conducted via email, phone, or in person.</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1478492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CB176-2A7E-C1A9-EA58-B329E10D5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31FCA-8336-79C2-37EC-C9B8A790C125}"/>
              </a:ext>
            </a:extLst>
          </p:cNvPr>
          <p:cNvSpPr>
            <a:spLocks noGrp="1"/>
          </p:cNvSpPr>
          <p:nvPr>
            <p:ph type="title"/>
          </p:nvPr>
        </p:nvSpPr>
        <p:spPr>
          <a:xfrm>
            <a:off x="1077362" y="360826"/>
            <a:ext cx="9950103" cy="776598"/>
          </a:xfrm>
        </p:spPr>
        <p:txBody>
          <a:bodyPr>
            <a:normAutofit fontScale="90000"/>
          </a:bodyPr>
          <a:lstStyle/>
          <a:p>
            <a:pPr algn="ctr"/>
            <a:r>
              <a:rPr lang="en-US" dirty="0"/>
              <a:t>Survey </a:t>
            </a:r>
            <a:br>
              <a:rPr lang="en-US" dirty="0"/>
            </a:br>
            <a:r>
              <a:rPr lang="en-US" dirty="0"/>
              <a:t>Advantages and Challenges </a:t>
            </a:r>
          </a:p>
        </p:txBody>
      </p:sp>
      <p:sp>
        <p:nvSpPr>
          <p:cNvPr id="3" name="Content Placeholder 2">
            <a:extLst>
              <a:ext uri="{FF2B5EF4-FFF2-40B4-BE49-F238E27FC236}">
                <a16:creationId xmlns:a16="http://schemas.microsoft.com/office/drawing/2014/main" id="{36F5DFC7-D8BB-DC18-A6BA-C41E428F6577}"/>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Remote, repeatable, cost-effective, and anonymous, encouraging honest responses.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Challenges with respondent access, low response rates, bias, and limited effectiveness for illiterate populations or areas with poor internet.</a:t>
            </a:r>
          </a:p>
        </p:txBody>
      </p:sp>
    </p:spTree>
    <p:extLst>
      <p:ext uri="{BB962C8B-B14F-4D97-AF65-F5344CB8AC3E}">
        <p14:creationId xmlns:p14="http://schemas.microsoft.com/office/powerpoint/2010/main" val="1108367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89B34-8D9E-B97B-9B22-E9B3E2F4A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6C5A-F6FA-EE97-F1CD-5B68F7CC7D47}"/>
              </a:ext>
            </a:extLst>
          </p:cNvPr>
          <p:cNvSpPr>
            <a:spLocks noGrp="1"/>
          </p:cNvSpPr>
          <p:nvPr>
            <p:ph type="title"/>
          </p:nvPr>
        </p:nvSpPr>
        <p:spPr>
          <a:xfrm>
            <a:off x="1077362" y="360826"/>
            <a:ext cx="9950103" cy="776598"/>
          </a:xfrm>
        </p:spPr>
        <p:txBody>
          <a:bodyPr>
            <a:normAutofit/>
          </a:bodyPr>
          <a:lstStyle/>
          <a:p>
            <a:pPr algn="ctr"/>
            <a:r>
              <a:rPr lang="en-US" dirty="0"/>
              <a:t>Interview</a:t>
            </a:r>
          </a:p>
        </p:txBody>
      </p:sp>
      <p:sp>
        <p:nvSpPr>
          <p:cNvPr id="3" name="Content Placeholder 2">
            <a:extLst>
              <a:ext uri="{FF2B5EF4-FFF2-40B4-BE49-F238E27FC236}">
                <a16:creationId xmlns:a16="http://schemas.microsoft.com/office/drawing/2014/main" id="{539718FE-63B0-EE95-72F2-9EC7E2F31C0D}"/>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An interview is a one-on-one conversation between a facilitator and a community stakeholder.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It provides in-depth insights into the respondent’s ideas and feelings. Unlike surveys, interviews allow for follow-up questions, and unlike group assessments, they offer a focused setting, encouraging the respondent to share personal opinions freely.</a:t>
            </a:r>
          </a:p>
        </p:txBody>
      </p:sp>
    </p:spTree>
    <p:extLst>
      <p:ext uri="{BB962C8B-B14F-4D97-AF65-F5344CB8AC3E}">
        <p14:creationId xmlns:p14="http://schemas.microsoft.com/office/powerpoint/2010/main" val="2147209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1A9C-7C67-D6FF-A225-2AEBA9082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77048-E8DC-C6E9-AC05-CB7D1B964C9C}"/>
              </a:ext>
            </a:extLst>
          </p:cNvPr>
          <p:cNvSpPr>
            <a:spLocks noGrp="1"/>
          </p:cNvSpPr>
          <p:nvPr>
            <p:ph type="title"/>
          </p:nvPr>
        </p:nvSpPr>
        <p:spPr>
          <a:xfrm>
            <a:off x="1077362" y="360826"/>
            <a:ext cx="9950103" cy="776598"/>
          </a:xfrm>
        </p:spPr>
        <p:txBody>
          <a:bodyPr>
            <a:normAutofit fontScale="90000"/>
          </a:bodyPr>
          <a:lstStyle/>
          <a:p>
            <a:pPr algn="ctr"/>
            <a:r>
              <a:rPr lang="en-US" dirty="0"/>
              <a:t>Interview</a:t>
            </a:r>
            <a:br>
              <a:rPr lang="en-US" dirty="0"/>
            </a:br>
            <a:r>
              <a:rPr lang="en-US" dirty="0"/>
              <a:t>Advantages and Challenges </a:t>
            </a:r>
          </a:p>
        </p:txBody>
      </p:sp>
      <p:sp>
        <p:nvSpPr>
          <p:cNvPr id="3" name="Content Placeholder 2">
            <a:extLst>
              <a:ext uri="{FF2B5EF4-FFF2-40B4-BE49-F238E27FC236}">
                <a16:creationId xmlns:a16="http://schemas.microsoft.com/office/drawing/2014/main" id="{CA2712E7-365B-E865-817D-94BB78F0570C}"/>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Enable in-depth, flexible conversations, encourage open responses, and are effective for qualitative data, even with illiterate populations.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Time-intensive, limited to one respondent at a time, require skilled facilitators, and may face difficulty in finding participants.</a:t>
            </a:r>
          </a:p>
        </p:txBody>
      </p:sp>
    </p:spTree>
    <p:extLst>
      <p:ext uri="{BB962C8B-B14F-4D97-AF65-F5344CB8AC3E}">
        <p14:creationId xmlns:p14="http://schemas.microsoft.com/office/powerpoint/2010/main" val="251706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B7A40-BFC7-87F7-DA0C-A276C7515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854F9-D888-8605-0E01-07DD6106A974}"/>
              </a:ext>
            </a:extLst>
          </p:cNvPr>
          <p:cNvSpPr>
            <a:spLocks noGrp="1"/>
          </p:cNvSpPr>
          <p:nvPr>
            <p:ph type="title"/>
          </p:nvPr>
        </p:nvSpPr>
        <p:spPr>
          <a:xfrm>
            <a:off x="1077362" y="360826"/>
            <a:ext cx="9950103" cy="776598"/>
          </a:xfrm>
        </p:spPr>
        <p:txBody>
          <a:bodyPr>
            <a:normAutofit/>
          </a:bodyPr>
          <a:lstStyle/>
          <a:p>
            <a:pPr algn="ctr"/>
            <a:r>
              <a:rPr lang="en-US" dirty="0"/>
              <a:t>Focus Group</a:t>
            </a:r>
          </a:p>
        </p:txBody>
      </p:sp>
      <p:sp>
        <p:nvSpPr>
          <p:cNvPr id="3" name="Content Placeholder 2">
            <a:extLst>
              <a:ext uri="{FF2B5EF4-FFF2-40B4-BE49-F238E27FC236}">
                <a16:creationId xmlns:a16="http://schemas.microsoft.com/office/drawing/2014/main" id="{20FEBD43-A1F6-D456-001C-6569700D24E7}"/>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focus group is a guided discussion with 6-12 diverse participants to explore opinions on community issues.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It promotes collaboration, requires skilled facilitation, and should be held in a comfortable, private setting. </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Note: </a:t>
            </a:r>
            <a:r>
              <a:rPr lang="en-US" sz="2400" dirty="0">
                <a:latin typeface="Abadi" panose="020B0604020104020204" pitchFamily="34" charset="0"/>
                <a:ea typeface="ADLaM Display" panose="02010000000000000000" pitchFamily="2" charset="0"/>
                <a:cs typeface="Arial" panose="020B0604020202020204" pitchFamily="34" charset="0"/>
              </a:rPr>
              <a:t>Consider cultural and community factors, such as gender and age, when selecting participants.</a:t>
            </a:r>
          </a:p>
        </p:txBody>
      </p:sp>
    </p:spTree>
    <p:extLst>
      <p:ext uri="{BB962C8B-B14F-4D97-AF65-F5344CB8AC3E}">
        <p14:creationId xmlns:p14="http://schemas.microsoft.com/office/powerpoint/2010/main" val="3568866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5DDF-2161-52FE-30DE-A84F1FF1C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962AD-DDC1-E15C-75E1-745FC0F7EF42}"/>
              </a:ext>
            </a:extLst>
          </p:cNvPr>
          <p:cNvSpPr>
            <a:spLocks noGrp="1"/>
          </p:cNvSpPr>
          <p:nvPr>
            <p:ph type="title"/>
          </p:nvPr>
        </p:nvSpPr>
        <p:spPr>
          <a:xfrm>
            <a:off x="1077362" y="360826"/>
            <a:ext cx="9950103" cy="776598"/>
          </a:xfrm>
        </p:spPr>
        <p:txBody>
          <a:bodyPr>
            <a:normAutofit fontScale="90000"/>
          </a:bodyPr>
          <a:lstStyle/>
          <a:p>
            <a:pPr algn="ctr"/>
            <a:r>
              <a:rPr lang="en-US" dirty="0"/>
              <a:t>Focus Group</a:t>
            </a:r>
            <a:br>
              <a:rPr lang="en-US" dirty="0"/>
            </a:br>
            <a:r>
              <a:rPr lang="en-US" dirty="0"/>
              <a:t>Advantages and Challenges </a:t>
            </a:r>
          </a:p>
        </p:txBody>
      </p:sp>
      <p:sp>
        <p:nvSpPr>
          <p:cNvPr id="3" name="Content Placeholder 2">
            <a:extLst>
              <a:ext uri="{FF2B5EF4-FFF2-40B4-BE49-F238E27FC236}">
                <a16:creationId xmlns:a16="http://schemas.microsoft.com/office/drawing/2014/main" id="{D5E604E6-8476-1126-06ED-C68D6D8F92B6}"/>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Focus groups are quick to organize, leverage group dynamics for deeper insights, are useful for qualitative topics, and work well with illiterate populations.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Focus groups may be biased, dominated by a few participants, time-consuming to analyze, and not provide individual insights. Results might not represent the whole community, requiring more groups.</a:t>
            </a:r>
          </a:p>
        </p:txBody>
      </p:sp>
    </p:spTree>
    <p:extLst>
      <p:ext uri="{BB962C8B-B14F-4D97-AF65-F5344CB8AC3E}">
        <p14:creationId xmlns:p14="http://schemas.microsoft.com/office/powerpoint/2010/main" val="1194446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AA1D-5F96-9426-BE7A-5FBC69FC7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2DC3A-A94A-8EE7-E265-3969597F13E3}"/>
              </a:ext>
            </a:extLst>
          </p:cNvPr>
          <p:cNvSpPr>
            <a:spLocks noGrp="1"/>
          </p:cNvSpPr>
          <p:nvPr>
            <p:ph type="title"/>
          </p:nvPr>
        </p:nvSpPr>
        <p:spPr>
          <a:xfrm>
            <a:off x="1077362" y="360826"/>
            <a:ext cx="9950103" cy="776598"/>
          </a:xfrm>
        </p:spPr>
        <p:txBody>
          <a:bodyPr>
            <a:normAutofit/>
          </a:bodyPr>
          <a:lstStyle/>
          <a:p>
            <a:pPr algn="ctr"/>
            <a:r>
              <a:rPr lang="en-US" dirty="0"/>
              <a:t>Asset Inventory</a:t>
            </a:r>
          </a:p>
        </p:txBody>
      </p:sp>
      <p:sp>
        <p:nvSpPr>
          <p:cNvPr id="3" name="Content Placeholder 2">
            <a:extLst>
              <a:ext uri="{FF2B5EF4-FFF2-40B4-BE49-F238E27FC236}">
                <a16:creationId xmlns:a16="http://schemas.microsoft.com/office/drawing/2014/main" id="{F40E9B8F-6EF1-1CA6-1E5F-610F39105CEC}"/>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An asset inventory identifies valuable resources in a community, such as people, institutions, services, and physical spaces. Participants document and analyze these assets, which helps explore how they can work together to drive positive change.</a:t>
            </a:r>
          </a:p>
        </p:txBody>
      </p:sp>
    </p:spTree>
    <p:extLst>
      <p:ext uri="{BB962C8B-B14F-4D97-AF65-F5344CB8AC3E}">
        <p14:creationId xmlns:p14="http://schemas.microsoft.com/office/powerpoint/2010/main" val="2019063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485D-00C6-6197-CE6C-3EA08F351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BFD82-3906-B439-BDE4-4B2E40D29CDA}"/>
              </a:ext>
            </a:extLst>
          </p:cNvPr>
          <p:cNvSpPr>
            <a:spLocks noGrp="1"/>
          </p:cNvSpPr>
          <p:nvPr>
            <p:ph type="title"/>
          </p:nvPr>
        </p:nvSpPr>
        <p:spPr>
          <a:xfrm>
            <a:off x="1077362" y="360826"/>
            <a:ext cx="9950103" cy="776598"/>
          </a:xfrm>
        </p:spPr>
        <p:txBody>
          <a:bodyPr>
            <a:normAutofit fontScale="90000"/>
          </a:bodyPr>
          <a:lstStyle/>
          <a:p>
            <a:pPr algn="ctr"/>
            <a:r>
              <a:rPr lang="en-US" dirty="0"/>
              <a:t>Asset Inventory</a:t>
            </a:r>
            <a:br>
              <a:rPr lang="en-US" dirty="0"/>
            </a:br>
            <a:r>
              <a:rPr lang="en-US" dirty="0"/>
              <a:t>Advantages and Challenges </a:t>
            </a:r>
          </a:p>
        </p:txBody>
      </p:sp>
      <p:sp>
        <p:nvSpPr>
          <p:cNvPr id="3" name="Content Placeholder 2">
            <a:extLst>
              <a:ext uri="{FF2B5EF4-FFF2-40B4-BE49-F238E27FC236}">
                <a16:creationId xmlns:a16="http://schemas.microsoft.com/office/drawing/2014/main" id="{16803117-9952-9B8D-BD45-B6B23FD9E02E}"/>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Maximizes resources, fosters inclusive networks, identifies community interests, and can be reused. </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Time-consuming analysis, difficulty in organizing assets, and may overlook non-physical assets.</a:t>
            </a:r>
          </a:p>
        </p:txBody>
      </p:sp>
    </p:spTree>
    <p:extLst>
      <p:ext uri="{BB962C8B-B14F-4D97-AF65-F5344CB8AC3E}">
        <p14:creationId xmlns:p14="http://schemas.microsoft.com/office/powerpoint/2010/main" val="1430746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12037-7D02-BEFB-E55F-3034781D2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67B0C-4ECF-BC3F-B503-E497D69C4148}"/>
              </a:ext>
            </a:extLst>
          </p:cNvPr>
          <p:cNvSpPr>
            <a:spLocks noGrp="1"/>
          </p:cNvSpPr>
          <p:nvPr>
            <p:ph type="title"/>
          </p:nvPr>
        </p:nvSpPr>
        <p:spPr>
          <a:xfrm>
            <a:off x="1077362" y="360826"/>
            <a:ext cx="9950103" cy="776598"/>
          </a:xfrm>
        </p:spPr>
        <p:txBody>
          <a:bodyPr>
            <a:normAutofit/>
          </a:bodyPr>
          <a:lstStyle/>
          <a:p>
            <a:pPr algn="ctr"/>
            <a:r>
              <a:rPr lang="en-US" dirty="0"/>
              <a:t>Community Mapping</a:t>
            </a:r>
          </a:p>
        </p:txBody>
      </p:sp>
      <p:sp>
        <p:nvSpPr>
          <p:cNvPr id="3" name="Content Placeholder 2">
            <a:extLst>
              <a:ext uri="{FF2B5EF4-FFF2-40B4-BE49-F238E27FC236}">
                <a16:creationId xmlns:a16="http://schemas.microsoft.com/office/drawing/2014/main" id="{05CCBFDF-47B1-BBFE-E301-2320EBB7C9EF}"/>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Community mapping reveals diverse perspectives about a community, requiring minimal resources and time.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Participants create maps marking important places and discuss how they use community resources and barriers to access.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This activity helps identify resource usage, perceptions of importance, and ideas for improvement.</a:t>
            </a:r>
          </a:p>
        </p:txBody>
      </p:sp>
    </p:spTree>
    <p:extLst>
      <p:ext uri="{BB962C8B-B14F-4D97-AF65-F5344CB8AC3E}">
        <p14:creationId xmlns:p14="http://schemas.microsoft.com/office/powerpoint/2010/main" val="1676881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6E5A-1FE6-00C8-BD4A-7CC9A900B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49C30-2681-31BE-9CB4-49775C356E7B}"/>
              </a:ext>
            </a:extLst>
          </p:cNvPr>
          <p:cNvSpPr>
            <a:spLocks noGrp="1"/>
          </p:cNvSpPr>
          <p:nvPr>
            <p:ph type="title"/>
          </p:nvPr>
        </p:nvSpPr>
        <p:spPr>
          <a:xfrm>
            <a:off x="1077362" y="360826"/>
            <a:ext cx="9950103" cy="776598"/>
          </a:xfrm>
        </p:spPr>
        <p:txBody>
          <a:bodyPr>
            <a:normAutofit fontScale="90000"/>
          </a:bodyPr>
          <a:lstStyle/>
          <a:p>
            <a:pPr algn="ctr"/>
            <a:r>
              <a:rPr lang="en-US" dirty="0"/>
              <a:t>Community Mapping</a:t>
            </a:r>
            <a:br>
              <a:rPr lang="en-US" dirty="0"/>
            </a:br>
            <a:r>
              <a:rPr lang="en-US" dirty="0"/>
              <a:t>What to Map</a:t>
            </a:r>
          </a:p>
        </p:txBody>
      </p:sp>
      <p:sp>
        <p:nvSpPr>
          <p:cNvPr id="3" name="Content Placeholder 2">
            <a:extLst>
              <a:ext uri="{FF2B5EF4-FFF2-40B4-BE49-F238E27FC236}">
                <a16:creationId xmlns:a16="http://schemas.microsoft.com/office/drawing/2014/main" id="{5B85774E-EBB2-34F2-B22E-55CE1A493205}"/>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Places of residence and importance (markets, schools, clinics, etc.)</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Frequency of visits (daily, weekly, monthly, or yearly)</a:t>
            </a:r>
          </a:p>
          <a:p>
            <a:pPr marL="401638" indent="-401638" algn="just">
              <a:buFont typeface="Courier New" panose="02070309020205020404" pitchFamily="49" charset="0"/>
              <a:buChar char="o"/>
            </a:pPr>
            <a:r>
              <a:rPr lang="en-US" sz="2400">
                <a:latin typeface="Abadi" panose="020B0604020104020204" pitchFamily="34" charset="0"/>
                <a:ea typeface="ADLaM Display" panose="02010000000000000000" pitchFamily="2" charset="0"/>
                <a:cs typeface="Arial" panose="020B0604020202020204" pitchFamily="34" charset="0"/>
              </a:rPr>
              <a:t>Places </a:t>
            </a:r>
            <a:r>
              <a:rPr lang="en-US" sz="2400" dirty="0">
                <a:latin typeface="Abadi" panose="020B0604020104020204" pitchFamily="34" charset="0"/>
                <a:ea typeface="ADLaM Display" panose="02010000000000000000" pitchFamily="2" charset="0"/>
                <a:cs typeface="Arial" panose="020B0604020202020204" pitchFamily="34" charset="0"/>
              </a:rPr>
              <a:t>enjoyed or disliked (with different colored </a:t>
            </a:r>
            <a:r>
              <a:rPr lang="en-US" sz="2400">
                <a:latin typeface="Abadi" panose="020B0604020104020204" pitchFamily="34" charset="0"/>
                <a:ea typeface="ADLaM Display" panose="02010000000000000000" pitchFamily="2" charset="0"/>
                <a:cs typeface="Arial" panose="020B0604020202020204" pitchFamily="34" charset="0"/>
              </a:rPr>
              <a:t>markers)</a:t>
            </a:r>
          </a:p>
          <a:p>
            <a:pPr marL="401638" indent="-401638" algn="just">
              <a:buFont typeface="Courier New" panose="02070309020205020404" pitchFamily="49" charset="0"/>
              <a:buChar char="o"/>
            </a:pPr>
            <a:r>
              <a:rPr lang="en-US" sz="2400">
                <a:latin typeface="Abadi" panose="020B0604020104020204" pitchFamily="34" charset="0"/>
                <a:ea typeface="ADLaM Display" panose="02010000000000000000" pitchFamily="2" charset="0"/>
                <a:cs typeface="Arial" panose="020B0604020202020204" pitchFamily="34" charset="0"/>
              </a:rPr>
              <a:t>Desired </a:t>
            </a:r>
            <a:r>
              <a:rPr lang="en-US" sz="2400" dirty="0">
                <a:latin typeface="Abadi" panose="020B0604020104020204" pitchFamily="34" charset="0"/>
                <a:ea typeface="ADLaM Display" panose="02010000000000000000" pitchFamily="2" charset="0"/>
                <a:cs typeface="Arial" panose="020B0604020202020204" pitchFamily="34" charset="0"/>
              </a:rPr>
              <a:t>additions to the community (indicated by sticky notes or paper </a:t>
            </a:r>
            <a:r>
              <a:rPr lang="en-US" sz="2400">
                <a:latin typeface="Abadi" panose="020B0604020104020204" pitchFamily="34" charset="0"/>
                <a:ea typeface="ADLaM Display" panose="02010000000000000000" pitchFamily="2" charset="0"/>
                <a:cs typeface="Arial" panose="020B0604020202020204" pitchFamily="34" charset="0"/>
              </a:rPr>
              <a:t>squares)</a:t>
            </a: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2835455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F334-4766-638B-10A5-C0ECCC368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1CBCF-8B93-7B9B-A5BE-CF511BEBB68D}"/>
              </a:ext>
            </a:extLst>
          </p:cNvPr>
          <p:cNvSpPr>
            <a:spLocks noGrp="1"/>
          </p:cNvSpPr>
          <p:nvPr>
            <p:ph type="title"/>
          </p:nvPr>
        </p:nvSpPr>
        <p:spPr>
          <a:xfrm>
            <a:off x="1077362" y="360826"/>
            <a:ext cx="9950103" cy="776598"/>
          </a:xfrm>
        </p:spPr>
        <p:txBody>
          <a:bodyPr>
            <a:normAutofit fontScale="90000"/>
          </a:bodyPr>
          <a:lstStyle/>
          <a:p>
            <a:pPr algn="ctr"/>
            <a:r>
              <a:rPr lang="en-US" dirty="0"/>
              <a:t>Community Mapping</a:t>
            </a:r>
            <a:br>
              <a:rPr lang="en-US" dirty="0"/>
            </a:br>
            <a:r>
              <a:rPr lang="en-US" dirty="0"/>
              <a:t>Advantages and Challenges </a:t>
            </a:r>
          </a:p>
        </p:txBody>
      </p:sp>
      <p:sp>
        <p:nvSpPr>
          <p:cNvPr id="3" name="Content Placeholder 2">
            <a:extLst>
              <a:ext uri="{FF2B5EF4-FFF2-40B4-BE49-F238E27FC236}">
                <a16:creationId xmlns:a16="http://schemas.microsoft.com/office/drawing/2014/main" id="{61BC9A1A-F6DF-CC43-B7C5-F951E00B2715}"/>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Engaging and lively, encourages community improvement discussions, and can involve multiple stakeholder groups. </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Difficult data analysis due to visual format, and drawing conclusions may require further assessments.</a:t>
            </a:r>
          </a:p>
        </p:txBody>
      </p:sp>
    </p:spTree>
    <p:extLst>
      <p:ext uri="{BB962C8B-B14F-4D97-AF65-F5344CB8AC3E}">
        <p14:creationId xmlns:p14="http://schemas.microsoft.com/office/powerpoint/2010/main" val="1269660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D0CA-7C8E-D3EF-830F-F95CC680F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DD1F2-E05F-C03A-A135-0E4DE6FBBF65}"/>
              </a:ext>
            </a:extLst>
          </p:cNvPr>
          <p:cNvSpPr>
            <a:spLocks noGrp="1"/>
          </p:cNvSpPr>
          <p:nvPr>
            <p:ph type="title"/>
          </p:nvPr>
        </p:nvSpPr>
        <p:spPr>
          <a:xfrm>
            <a:off x="1077362" y="360826"/>
            <a:ext cx="9950103" cy="1112688"/>
          </a:xfrm>
        </p:spPr>
        <p:txBody>
          <a:bodyPr/>
          <a:lstStyle/>
          <a:p>
            <a:r>
              <a:rPr lang="en-US" dirty="0"/>
              <a:t>References</a:t>
            </a:r>
          </a:p>
        </p:txBody>
      </p:sp>
      <p:sp>
        <p:nvSpPr>
          <p:cNvPr id="3" name="Content Placeholder 2">
            <a:extLst>
              <a:ext uri="{FF2B5EF4-FFF2-40B4-BE49-F238E27FC236}">
                <a16:creationId xmlns:a16="http://schemas.microsoft.com/office/drawing/2014/main" id="{456F1BAE-4D2A-74EB-D35E-61CCE510469A}"/>
              </a:ext>
            </a:extLst>
          </p:cNvPr>
          <p:cNvSpPr>
            <a:spLocks noGrp="1"/>
          </p:cNvSpPr>
          <p:nvPr>
            <p:ph idx="1"/>
          </p:nvPr>
        </p:nvSpPr>
        <p:spPr>
          <a:xfrm>
            <a:off x="1077363" y="1862254"/>
            <a:ext cx="9861984" cy="4078576"/>
          </a:xfrm>
        </p:spPr>
        <p:txBody>
          <a:bodyPr>
            <a:normAutofit fontScale="77500" lnSpcReduction="200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Dahl, R. A. (2000). On Democracy. Yale University Press. New Haven &amp; London.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International IDEA. (2021). Global State of Democracy Report. Available at: https://www.idea.int/gsod</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OECD. (2020). Tax Policy Reforms in OECD Countries. Available at: https://www.oecd.org/tax/tax-policy-reforms-2020.htm</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Smith, J. (2018). Civic Engagement and the Role of the Citizen in Judicial Processes. Journal of Democracy, 29(3), 45-57.</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United Nations. (2019). Strengthening the Rule of Law and Promoting Human Rights. Available at: https://www.un.org/ruleoflaw/</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Volunteer Canada. (2020). The Value of Volunteering. Available at: https://volunteer.ca/index.php?MenuItemID=417</a:t>
            </a:r>
          </a:p>
        </p:txBody>
      </p:sp>
    </p:spTree>
    <p:extLst>
      <p:ext uri="{BB962C8B-B14F-4D97-AF65-F5344CB8AC3E}">
        <p14:creationId xmlns:p14="http://schemas.microsoft.com/office/powerpoint/2010/main" val="332595112"/>
      </p:ext>
    </p:extLst>
  </p:cSld>
  <p:clrMapOvr>
    <a:masterClrMapping/>
  </p:clrMapOvr>
</p:sld>
</file>

<file path=ppt/theme/theme1.xml><?xml version="1.0" encoding="utf-8"?>
<a:theme xmlns:a="http://schemas.openxmlformats.org/drawingml/2006/main" name="BlocksVTI">
  <a:themeElements>
    <a:clrScheme name="AnalogousFromRegularSeedRightStep">
      <a:dk1>
        <a:srgbClr val="000000"/>
      </a:dk1>
      <a:lt1>
        <a:srgbClr val="FFFFFF"/>
      </a:lt1>
      <a:dk2>
        <a:srgbClr val="34381F"/>
      </a:dk2>
      <a:lt2>
        <a:srgbClr val="E2E6E8"/>
      </a:lt2>
      <a:accent1>
        <a:srgbClr val="C3724D"/>
      </a:accent1>
      <a:accent2>
        <a:srgbClr val="B1923B"/>
      </a:accent2>
      <a:accent3>
        <a:srgbClr val="9BAB43"/>
      </a:accent3>
      <a:accent4>
        <a:srgbClr val="6EB13B"/>
      </a:accent4>
      <a:accent5>
        <a:srgbClr val="4AB848"/>
      </a:accent5>
      <a:accent6>
        <a:srgbClr val="3BB16A"/>
      </a:accent6>
      <a:hlink>
        <a:srgbClr val="3A8BB0"/>
      </a:hlink>
      <a:folHlink>
        <a:srgbClr val="7F7F7F"/>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sVTI" id="{31656FE6-20D8-4105-85EA-706EC9332BE9}" vid="{039DFFC9-9B25-4063-9235-B287A446F509}"/>
    </a:ext>
  </a:extLst>
</a:theme>
</file>

<file path=docProps/app.xml><?xml version="1.0" encoding="utf-8"?>
<Properties xmlns="http://schemas.openxmlformats.org/officeDocument/2006/extended-properties" xmlns:vt="http://schemas.openxmlformats.org/officeDocument/2006/docPropsVTypes">
  <Template>Droplet</Template>
  <TotalTime>366</TotalTime>
  <Words>1819</Words>
  <Application>Microsoft Office PowerPoint</Application>
  <PresentationFormat>Widescreen</PresentationFormat>
  <Paragraphs>150</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Abadi</vt:lpstr>
      <vt:lpstr>Arial</vt:lpstr>
      <vt:lpstr>Avenir Next LT Pro</vt:lpstr>
      <vt:lpstr>Avenir Next LT Pro Light</vt:lpstr>
      <vt:lpstr>Courier New</vt:lpstr>
      <vt:lpstr>Wingdings</vt:lpstr>
      <vt:lpstr>BlocksVTI</vt:lpstr>
      <vt:lpstr>FAST National University of Computer and Emerging Sciences, Islamabad </vt:lpstr>
      <vt:lpstr>Google Classroom Code (CS-2025):  pndnx5yr</vt:lpstr>
      <vt:lpstr>DO’s and DON’T’s for Practical Work</vt:lpstr>
      <vt:lpstr>Maintain Documentation for the Course </vt:lpstr>
      <vt:lpstr>Key takeaways</vt:lpstr>
      <vt:lpstr>Civics </vt:lpstr>
      <vt:lpstr>Civics in Islamic and Pakistani Context </vt:lpstr>
      <vt:lpstr>Community Engagement </vt:lpstr>
      <vt:lpstr>Community and its Types</vt:lpstr>
      <vt:lpstr>Engagement </vt:lpstr>
      <vt:lpstr>Islamic Perspective regarding Community Engagement</vt:lpstr>
      <vt:lpstr>Community Engagement in Pakistan</vt:lpstr>
      <vt:lpstr>Citizenship </vt:lpstr>
      <vt:lpstr>Civic Duty (Mandatory) </vt:lpstr>
      <vt:lpstr>Civic Responsibility (Voluntary) </vt:lpstr>
      <vt:lpstr>Tools of Community Need Assessment </vt:lpstr>
      <vt:lpstr>Community Meeting (Town Hall or Public Forum)</vt:lpstr>
      <vt:lpstr>Community Meeting (Town Hall or Public Forum) Advantages and Challenges </vt:lpstr>
      <vt:lpstr>Community Meeting (Town Hall or Public Forum) Addressing Challenges </vt:lpstr>
      <vt:lpstr>Survey</vt:lpstr>
      <vt:lpstr>Survey  Advantages and Challenges </vt:lpstr>
      <vt:lpstr>Interview</vt:lpstr>
      <vt:lpstr>Interview Advantages and Challenges </vt:lpstr>
      <vt:lpstr>Focus Group</vt:lpstr>
      <vt:lpstr>Focus Group Advantages and Challenges </vt:lpstr>
      <vt:lpstr>Asset Inventory</vt:lpstr>
      <vt:lpstr>Asset Inventory Advantages and Challenges </vt:lpstr>
      <vt:lpstr>Community Mapping</vt:lpstr>
      <vt:lpstr>Community Mapping What to Map</vt:lpstr>
      <vt:lpstr>Community Mapping Advantages and Challenges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MAZHAR</dc:creator>
  <cp:lastModifiedBy>Tayyaba  Waseem</cp:lastModifiedBy>
  <cp:revision>44</cp:revision>
  <dcterms:created xsi:type="dcterms:W3CDTF">2025-01-19T07:33:02Z</dcterms:created>
  <dcterms:modified xsi:type="dcterms:W3CDTF">2026-01-18T06:33:33Z</dcterms:modified>
</cp:coreProperties>
</file>