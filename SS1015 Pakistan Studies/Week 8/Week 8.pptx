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73" r:id="rId5"/>
    <p:sldId id="276" r:id="rId6"/>
    <p:sldId id="274" r:id="rId7"/>
    <p:sldId id="275" r:id="rId8"/>
    <p:sldId id="259" r:id="rId9"/>
    <p:sldId id="260" r:id="rId10"/>
    <p:sldId id="261" r:id="rId11"/>
    <p:sldId id="262" r:id="rId12"/>
    <p:sldId id="263" r:id="rId13"/>
    <p:sldId id="264" r:id="rId14"/>
    <p:sldId id="277" r:id="rId15"/>
    <p:sldId id="278" r:id="rId16"/>
    <p:sldId id="279" r:id="rId17"/>
    <p:sldId id="280" r:id="rId18"/>
    <p:sldId id="281" r:id="rId19"/>
    <p:sldId id="282" r:id="rId20"/>
    <p:sldId id="283" r:id="rId21"/>
    <p:sldId id="284" r:id="rId22"/>
    <p:sldId id="285" r:id="rId23"/>
    <p:sldId id="28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8AC369-9B4B-43D9-BE6F-AFF32BB332E5}"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68475E9B-CACB-4D4E-8815-41F0876F2FC5}">
      <dgm:prSet custT="1"/>
      <dgm:spPr/>
      <dgm:t>
        <a:bodyPr/>
        <a:lstStyle/>
        <a:p>
          <a:r>
            <a:rPr lang="en-US" sz="2500" dirty="0"/>
            <a:t>Pakistan joined UN nation on September 30 1947, a few months of its independence</a:t>
          </a:r>
        </a:p>
      </dgm:t>
    </dgm:pt>
    <dgm:pt modelId="{CAF7E89D-B56A-483C-BEA6-BC80740C0F76}" type="parTrans" cxnId="{8EB6A574-9762-4455-8BDF-879FDA69F792}">
      <dgm:prSet/>
      <dgm:spPr/>
      <dgm:t>
        <a:bodyPr/>
        <a:lstStyle/>
        <a:p>
          <a:endParaRPr lang="en-US"/>
        </a:p>
      </dgm:t>
    </dgm:pt>
    <dgm:pt modelId="{ECC3C7CE-6D86-4E13-96DA-82B552E970E9}" type="sibTrans" cxnId="{8EB6A574-9762-4455-8BDF-879FDA69F792}">
      <dgm:prSet/>
      <dgm:spPr/>
      <dgm:t>
        <a:bodyPr/>
        <a:lstStyle/>
        <a:p>
          <a:endParaRPr lang="en-US"/>
        </a:p>
      </dgm:t>
    </dgm:pt>
    <dgm:pt modelId="{273E1FBD-2540-4E1D-B92D-81B585D42A0C}">
      <dgm:prSet custT="1"/>
      <dgm:spPr/>
      <dgm:t>
        <a:bodyPr/>
        <a:lstStyle/>
        <a:p>
          <a:r>
            <a:rPr lang="en-US" sz="2500" dirty="0"/>
            <a:t>Over the last 79 years, Pakistan has put this vision into practice by making significant contributions to the principles and purposes of the UN charter.</a:t>
          </a:r>
        </a:p>
      </dgm:t>
    </dgm:pt>
    <dgm:pt modelId="{7B8B7A4F-AB8D-4138-BCF4-0CDA65B20F11}" type="parTrans" cxnId="{47D480F8-8540-498E-9726-B5A6522BBA9F}">
      <dgm:prSet/>
      <dgm:spPr/>
      <dgm:t>
        <a:bodyPr/>
        <a:lstStyle/>
        <a:p>
          <a:endParaRPr lang="en-US"/>
        </a:p>
      </dgm:t>
    </dgm:pt>
    <dgm:pt modelId="{B19577FF-0331-4CEE-B3BE-BBB6F733374F}" type="sibTrans" cxnId="{47D480F8-8540-498E-9726-B5A6522BBA9F}">
      <dgm:prSet/>
      <dgm:spPr/>
      <dgm:t>
        <a:bodyPr/>
        <a:lstStyle/>
        <a:p>
          <a:endParaRPr lang="en-US"/>
        </a:p>
      </dgm:t>
    </dgm:pt>
    <dgm:pt modelId="{F8AAC411-9C3E-4596-8CFD-54750080EDC6}" type="pres">
      <dgm:prSet presAssocID="{0A8AC369-9B4B-43D9-BE6F-AFF32BB332E5}" presName="hierChild1" presStyleCnt="0">
        <dgm:presLayoutVars>
          <dgm:chPref val="1"/>
          <dgm:dir/>
          <dgm:animOne val="branch"/>
          <dgm:animLvl val="lvl"/>
          <dgm:resizeHandles/>
        </dgm:presLayoutVars>
      </dgm:prSet>
      <dgm:spPr/>
    </dgm:pt>
    <dgm:pt modelId="{1EAB9A36-58F6-4111-AE5A-31F6DBDDA194}" type="pres">
      <dgm:prSet presAssocID="{68475E9B-CACB-4D4E-8815-41F0876F2FC5}" presName="hierRoot1" presStyleCnt="0"/>
      <dgm:spPr/>
    </dgm:pt>
    <dgm:pt modelId="{FD2D24EE-0459-483F-A9A3-5D16F1006C22}" type="pres">
      <dgm:prSet presAssocID="{68475E9B-CACB-4D4E-8815-41F0876F2FC5}" presName="composite" presStyleCnt="0"/>
      <dgm:spPr/>
    </dgm:pt>
    <dgm:pt modelId="{F1EA319B-645A-4959-9F56-9E2CE056B3FC}" type="pres">
      <dgm:prSet presAssocID="{68475E9B-CACB-4D4E-8815-41F0876F2FC5}" presName="background" presStyleLbl="node0" presStyleIdx="0" presStyleCnt="2"/>
      <dgm:spPr/>
    </dgm:pt>
    <dgm:pt modelId="{E05075D0-B409-42D3-8488-EBDAE06485A8}" type="pres">
      <dgm:prSet presAssocID="{68475E9B-CACB-4D4E-8815-41F0876F2FC5}" presName="text" presStyleLbl="fgAcc0" presStyleIdx="0" presStyleCnt="2">
        <dgm:presLayoutVars>
          <dgm:chPref val="3"/>
        </dgm:presLayoutVars>
      </dgm:prSet>
      <dgm:spPr/>
    </dgm:pt>
    <dgm:pt modelId="{9737B9F2-0810-4C4C-A520-534089204944}" type="pres">
      <dgm:prSet presAssocID="{68475E9B-CACB-4D4E-8815-41F0876F2FC5}" presName="hierChild2" presStyleCnt="0"/>
      <dgm:spPr/>
    </dgm:pt>
    <dgm:pt modelId="{CB5F711B-5C4A-4B8C-99A7-E6BD8D482C70}" type="pres">
      <dgm:prSet presAssocID="{273E1FBD-2540-4E1D-B92D-81B585D42A0C}" presName="hierRoot1" presStyleCnt="0"/>
      <dgm:spPr/>
    </dgm:pt>
    <dgm:pt modelId="{28D607FD-6E47-4EF0-B895-9888DD01A1BD}" type="pres">
      <dgm:prSet presAssocID="{273E1FBD-2540-4E1D-B92D-81B585D42A0C}" presName="composite" presStyleCnt="0"/>
      <dgm:spPr/>
    </dgm:pt>
    <dgm:pt modelId="{4A760121-81B2-4534-ADED-17E4D2EAE564}" type="pres">
      <dgm:prSet presAssocID="{273E1FBD-2540-4E1D-B92D-81B585D42A0C}" presName="background" presStyleLbl="node0" presStyleIdx="1" presStyleCnt="2"/>
      <dgm:spPr/>
    </dgm:pt>
    <dgm:pt modelId="{B6BD3251-41C4-4770-A680-7649071EFF52}" type="pres">
      <dgm:prSet presAssocID="{273E1FBD-2540-4E1D-B92D-81B585D42A0C}" presName="text" presStyleLbl="fgAcc0" presStyleIdx="1" presStyleCnt="2">
        <dgm:presLayoutVars>
          <dgm:chPref val="3"/>
        </dgm:presLayoutVars>
      </dgm:prSet>
      <dgm:spPr/>
    </dgm:pt>
    <dgm:pt modelId="{5BCE3192-006E-4E73-9172-92A3D1E37963}" type="pres">
      <dgm:prSet presAssocID="{273E1FBD-2540-4E1D-B92D-81B585D42A0C}" presName="hierChild2" presStyleCnt="0"/>
      <dgm:spPr/>
    </dgm:pt>
  </dgm:ptLst>
  <dgm:cxnLst>
    <dgm:cxn modelId="{F7945718-A59C-4BB6-838D-4352EC65AD07}" type="presOf" srcId="{273E1FBD-2540-4E1D-B92D-81B585D42A0C}" destId="{B6BD3251-41C4-4770-A680-7649071EFF52}" srcOrd="0" destOrd="0" presId="urn:microsoft.com/office/officeart/2005/8/layout/hierarchy1"/>
    <dgm:cxn modelId="{7AF5C43D-B9F5-4D39-A43A-3476D93D35FD}" type="presOf" srcId="{68475E9B-CACB-4D4E-8815-41F0876F2FC5}" destId="{E05075D0-B409-42D3-8488-EBDAE06485A8}" srcOrd="0" destOrd="0" presId="urn:microsoft.com/office/officeart/2005/8/layout/hierarchy1"/>
    <dgm:cxn modelId="{C88C206F-3827-4F15-BD27-ACBE0ACEAA54}" type="presOf" srcId="{0A8AC369-9B4B-43D9-BE6F-AFF32BB332E5}" destId="{F8AAC411-9C3E-4596-8CFD-54750080EDC6}" srcOrd="0" destOrd="0" presId="urn:microsoft.com/office/officeart/2005/8/layout/hierarchy1"/>
    <dgm:cxn modelId="{8EB6A574-9762-4455-8BDF-879FDA69F792}" srcId="{0A8AC369-9B4B-43D9-BE6F-AFF32BB332E5}" destId="{68475E9B-CACB-4D4E-8815-41F0876F2FC5}" srcOrd="0" destOrd="0" parTransId="{CAF7E89D-B56A-483C-BEA6-BC80740C0F76}" sibTransId="{ECC3C7CE-6D86-4E13-96DA-82B552E970E9}"/>
    <dgm:cxn modelId="{47D480F8-8540-498E-9726-B5A6522BBA9F}" srcId="{0A8AC369-9B4B-43D9-BE6F-AFF32BB332E5}" destId="{273E1FBD-2540-4E1D-B92D-81B585D42A0C}" srcOrd="1" destOrd="0" parTransId="{7B8B7A4F-AB8D-4138-BCF4-0CDA65B20F11}" sibTransId="{B19577FF-0331-4CEE-B3BE-BBB6F733374F}"/>
    <dgm:cxn modelId="{693372EF-EA68-4672-8242-96211E1A823E}" type="presParOf" srcId="{F8AAC411-9C3E-4596-8CFD-54750080EDC6}" destId="{1EAB9A36-58F6-4111-AE5A-31F6DBDDA194}" srcOrd="0" destOrd="0" presId="urn:microsoft.com/office/officeart/2005/8/layout/hierarchy1"/>
    <dgm:cxn modelId="{27F21E57-2E4C-4586-94A8-15AE03C680A5}" type="presParOf" srcId="{1EAB9A36-58F6-4111-AE5A-31F6DBDDA194}" destId="{FD2D24EE-0459-483F-A9A3-5D16F1006C22}" srcOrd="0" destOrd="0" presId="urn:microsoft.com/office/officeart/2005/8/layout/hierarchy1"/>
    <dgm:cxn modelId="{95AE9668-EA54-4F65-8CD4-99267908F0BC}" type="presParOf" srcId="{FD2D24EE-0459-483F-A9A3-5D16F1006C22}" destId="{F1EA319B-645A-4959-9F56-9E2CE056B3FC}" srcOrd="0" destOrd="0" presId="urn:microsoft.com/office/officeart/2005/8/layout/hierarchy1"/>
    <dgm:cxn modelId="{5D1CBE37-2418-4EDD-9AFB-FC8A231F4B33}" type="presParOf" srcId="{FD2D24EE-0459-483F-A9A3-5D16F1006C22}" destId="{E05075D0-B409-42D3-8488-EBDAE06485A8}" srcOrd="1" destOrd="0" presId="urn:microsoft.com/office/officeart/2005/8/layout/hierarchy1"/>
    <dgm:cxn modelId="{CA74A311-B84A-4749-91AC-B9E86B14575D}" type="presParOf" srcId="{1EAB9A36-58F6-4111-AE5A-31F6DBDDA194}" destId="{9737B9F2-0810-4C4C-A520-534089204944}" srcOrd="1" destOrd="0" presId="urn:microsoft.com/office/officeart/2005/8/layout/hierarchy1"/>
    <dgm:cxn modelId="{37D78823-5FFB-4087-A824-B2B9FCE5A222}" type="presParOf" srcId="{F8AAC411-9C3E-4596-8CFD-54750080EDC6}" destId="{CB5F711B-5C4A-4B8C-99A7-E6BD8D482C70}" srcOrd="1" destOrd="0" presId="urn:microsoft.com/office/officeart/2005/8/layout/hierarchy1"/>
    <dgm:cxn modelId="{95095719-238B-4130-A5BF-AC9D1193D325}" type="presParOf" srcId="{CB5F711B-5C4A-4B8C-99A7-E6BD8D482C70}" destId="{28D607FD-6E47-4EF0-B895-9888DD01A1BD}" srcOrd="0" destOrd="0" presId="urn:microsoft.com/office/officeart/2005/8/layout/hierarchy1"/>
    <dgm:cxn modelId="{608EDA8E-49D3-459F-BD45-CC8658E3EDAF}" type="presParOf" srcId="{28D607FD-6E47-4EF0-B895-9888DD01A1BD}" destId="{4A760121-81B2-4534-ADED-17E4D2EAE564}" srcOrd="0" destOrd="0" presId="urn:microsoft.com/office/officeart/2005/8/layout/hierarchy1"/>
    <dgm:cxn modelId="{A4E4D5C2-1A38-44D9-9A5E-6A2C471EEE09}" type="presParOf" srcId="{28D607FD-6E47-4EF0-B895-9888DD01A1BD}" destId="{B6BD3251-41C4-4770-A680-7649071EFF52}" srcOrd="1" destOrd="0" presId="urn:microsoft.com/office/officeart/2005/8/layout/hierarchy1"/>
    <dgm:cxn modelId="{CB6F7C98-357F-43E6-9B70-9A4F47ED35E5}" type="presParOf" srcId="{CB5F711B-5C4A-4B8C-99A7-E6BD8D482C70}" destId="{5BCE3192-006E-4E73-9172-92A3D1E3796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06C524-F86E-4486-AC5F-705DACC773C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FCC0D24-A55B-47EC-B0EA-728041ABD960}">
      <dgm:prSet custT="1"/>
      <dgm:spPr/>
      <dgm:t>
        <a:bodyPr/>
        <a:lstStyle/>
        <a:p>
          <a:r>
            <a:rPr lang="en-US" sz="2500" dirty="0"/>
            <a:t>In 2013, Pakistan established CIPS in Islamabad</a:t>
          </a:r>
        </a:p>
      </dgm:t>
    </dgm:pt>
    <dgm:pt modelId="{AC9FBE20-C5AB-48D9-9180-5118D043ED16}" type="parTrans" cxnId="{0E8ECA15-7366-4A06-9EFC-BEDC157F4714}">
      <dgm:prSet/>
      <dgm:spPr/>
      <dgm:t>
        <a:bodyPr/>
        <a:lstStyle/>
        <a:p>
          <a:endParaRPr lang="en-US"/>
        </a:p>
      </dgm:t>
    </dgm:pt>
    <dgm:pt modelId="{9F3A7A89-DDFC-4288-BECE-412B44E2C101}" type="sibTrans" cxnId="{0E8ECA15-7366-4A06-9EFC-BEDC157F4714}">
      <dgm:prSet/>
      <dgm:spPr/>
      <dgm:t>
        <a:bodyPr/>
        <a:lstStyle/>
        <a:p>
          <a:endParaRPr lang="en-US"/>
        </a:p>
      </dgm:t>
    </dgm:pt>
    <dgm:pt modelId="{5A7B82A3-4A41-4A20-89FA-63DC7859AAD4}">
      <dgm:prSet custT="1"/>
      <dgm:spPr/>
      <dgm:t>
        <a:bodyPr/>
        <a:lstStyle/>
        <a:p>
          <a:r>
            <a:rPr lang="en-US" sz="2500" dirty="0"/>
            <a:t>Inaugurated by then UN Secretary General, Ban Ki-Moon.</a:t>
          </a:r>
        </a:p>
      </dgm:t>
    </dgm:pt>
    <dgm:pt modelId="{C8827776-C860-4CC8-9F85-10ED68951FCC}" type="parTrans" cxnId="{1050CBDF-3793-485F-B99E-8A370DAB1C75}">
      <dgm:prSet/>
      <dgm:spPr/>
      <dgm:t>
        <a:bodyPr/>
        <a:lstStyle/>
        <a:p>
          <a:endParaRPr lang="en-US"/>
        </a:p>
      </dgm:t>
    </dgm:pt>
    <dgm:pt modelId="{EE1FFFD2-FCB2-4B96-AB58-996EE07B1B97}" type="sibTrans" cxnId="{1050CBDF-3793-485F-B99E-8A370DAB1C75}">
      <dgm:prSet/>
      <dgm:spPr/>
      <dgm:t>
        <a:bodyPr/>
        <a:lstStyle/>
        <a:p>
          <a:endParaRPr lang="en-US"/>
        </a:p>
      </dgm:t>
    </dgm:pt>
    <dgm:pt modelId="{CA42E4B4-1F70-4AA8-88AD-8E1414DD8BB9}">
      <dgm:prSet custT="1"/>
      <dgm:spPr/>
      <dgm:t>
        <a:bodyPr/>
        <a:lstStyle/>
        <a:p>
          <a:r>
            <a:rPr lang="en-US" sz="2500" dirty="0"/>
            <a:t>Its aim to train peacekeeper in research and </a:t>
          </a:r>
          <a:r>
            <a:rPr lang="en-US" sz="2500" dirty="0" err="1"/>
            <a:t>acadamia</a:t>
          </a:r>
          <a:r>
            <a:rPr lang="en-US" sz="2500" dirty="0"/>
            <a:t>.</a:t>
          </a:r>
        </a:p>
      </dgm:t>
    </dgm:pt>
    <dgm:pt modelId="{DE656FC6-0CA3-4B2E-87F4-A2AF32BF0F91}" type="parTrans" cxnId="{0ADBAF16-952D-4D5E-90F5-D007129F60D4}">
      <dgm:prSet/>
      <dgm:spPr/>
      <dgm:t>
        <a:bodyPr/>
        <a:lstStyle/>
        <a:p>
          <a:endParaRPr lang="en-US"/>
        </a:p>
      </dgm:t>
    </dgm:pt>
    <dgm:pt modelId="{F94116AB-B214-47EE-BC1B-13EE420E52F7}" type="sibTrans" cxnId="{0ADBAF16-952D-4D5E-90F5-D007129F60D4}">
      <dgm:prSet/>
      <dgm:spPr/>
      <dgm:t>
        <a:bodyPr/>
        <a:lstStyle/>
        <a:p>
          <a:endParaRPr lang="en-US"/>
        </a:p>
      </dgm:t>
    </dgm:pt>
    <dgm:pt modelId="{E25528F9-8F66-4C39-A5CB-8051154C9E2B}" type="pres">
      <dgm:prSet presAssocID="{3E06C524-F86E-4486-AC5F-705DACC773CD}" presName="hierChild1" presStyleCnt="0">
        <dgm:presLayoutVars>
          <dgm:chPref val="1"/>
          <dgm:dir/>
          <dgm:animOne val="branch"/>
          <dgm:animLvl val="lvl"/>
          <dgm:resizeHandles/>
        </dgm:presLayoutVars>
      </dgm:prSet>
      <dgm:spPr/>
    </dgm:pt>
    <dgm:pt modelId="{47AF00E7-9B67-4397-851C-2390BC8FA639}" type="pres">
      <dgm:prSet presAssocID="{DFCC0D24-A55B-47EC-B0EA-728041ABD960}" presName="hierRoot1" presStyleCnt="0"/>
      <dgm:spPr/>
    </dgm:pt>
    <dgm:pt modelId="{667B1CEB-ED55-4029-9161-5F86A25C6D6C}" type="pres">
      <dgm:prSet presAssocID="{DFCC0D24-A55B-47EC-B0EA-728041ABD960}" presName="composite" presStyleCnt="0"/>
      <dgm:spPr/>
    </dgm:pt>
    <dgm:pt modelId="{56F636C7-996E-4E7D-BF11-EAEA1E8F4730}" type="pres">
      <dgm:prSet presAssocID="{DFCC0D24-A55B-47EC-B0EA-728041ABD960}" presName="background" presStyleLbl="node0" presStyleIdx="0" presStyleCnt="3"/>
      <dgm:spPr/>
    </dgm:pt>
    <dgm:pt modelId="{07157C1B-6340-405A-9EC2-14565A6A1C65}" type="pres">
      <dgm:prSet presAssocID="{DFCC0D24-A55B-47EC-B0EA-728041ABD960}" presName="text" presStyleLbl="fgAcc0" presStyleIdx="0" presStyleCnt="3">
        <dgm:presLayoutVars>
          <dgm:chPref val="3"/>
        </dgm:presLayoutVars>
      </dgm:prSet>
      <dgm:spPr/>
    </dgm:pt>
    <dgm:pt modelId="{7085C137-8D78-4F48-90CD-5BFEB73EF783}" type="pres">
      <dgm:prSet presAssocID="{DFCC0D24-A55B-47EC-B0EA-728041ABD960}" presName="hierChild2" presStyleCnt="0"/>
      <dgm:spPr/>
    </dgm:pt>
    <dgm:pt modelId="{D2E06A12-9D40-4A20-A5A6-201BAF216508}" type="pres">
      <dgm:prSet presAssocID="{5A7B82A3-4A41-4A20-89FA-63DC7859AAD4}" presName="hierRoot1" presStyleCnt="0"/>
      <dgm:spPr/>
    </dgm:pt>
    <dgm:pt modelId="{3C6C1334-48E4-4E15-BE93-718E212F05B0}" type="pres">
      <dgm:prSet presAssocID="{5A7B82A3-4A41-4A20-89FA-63DC7859AAD4}" presName="composite" presStyleCnt="0"/>
      <dgm:spPr/>
    </dgm:pt>
    <dgm:pt modelId="{CB71A06A-36FF-4B98-8F72-A4A4232F066E}" type="pres">
      <dgm:prSet presAssocID="{5A7B82A3-4A41-4A20-89FA-63DC7859AAD4}" presName="background" presStyleLbl="node0" presStyleIdx="1" presStyleCnt="3"/>
      <dgm:spPr/>
    </dgm:pt>
    <dgm:pt modelId="{FBAA6CA0-0AD3-4750-B29F-5C05A29531C0}" type="pres">
      <dgm:prSet presAssocID="{5A7B82A3-4A41-4A20-89FA-63DC7859AAD4}" presName="text" presStyleLbl="fgAcc0" presStyleIdx="1" presStyleCnt="3">
        <dgm:presLayoutVars>
          <dgm:chPref val="3"/>
        </dgm:presLayoutVars>
      </dgm:prSet>
      <dgm:spPr/>
    </dgm:pt>
    <dgm:pt modelId="{E355495D-F8FC-43E0-B425-F08DE246B5E5}" type="pres">
      <dgm:prSet presAssocID="{5A7B82A3-4A41-4A20-89FA-63DC7859AAD4}" presName="hierChild2" presStyleCnt="0"/>
      <dgm:spPr/>
    </dgm:pt>
    <dgm:pt modelId="{65A21DA0-CB00-4BC2-AA4B-AA35E71DA969}" type="pres">
      <dgm:prSet presAssocID="{CA42E4B4-1F70-4AA8-88AD-8E1414DD8BB9}" presName="hierRoot1" presStyleCnt="0"/>
      <dgm:spPr/>
    </dgm:pt>
    <dgm:pt modelId="{A229FB7A-C52A-42C1-A15A-5879B1107701}" type="pres">
      <dgm:prSet presAssocID="{CA42E4B4-1F70-4AA8-88AD-8E1414DD8BB9}" presName="composite" presStyleCnt="0"/>
      <dgm:spPr/>
    </dgm:pt>
    <dgm:pt modelId="{61D31DB5-F1DF-4080-AA22-D3B8C8D97CCA}" type="pres">
      <dgm:prSet presAssocID="{CA42E4B4-1F70-4AA8-88AD-8E1414DD8BB9}" presName="background" presStyleLbl="node0" presStyleIdx="2" presStyleCnt="3"/>
      <dgm:spPr/>
    </dgm:pt>
    <dgm:pt modelId="{1B8E63DC-1203-4508-900B-60471FD98977}" type="pres">
      <dgm:prSet presAssocID="{CA42E4B4-1F70-4AA8-88AD-8E1414DD8BB9}" presName="text" presStyleLbl="fgAcc0" presStyleIdx="2" presStyleCnt="3">
        <dgm:presLayoutVars>
          <dgm:chPref val="3"/>
        </dgm:presLayoutVars>
      </dgm:prSet>
      <dgm:spPr/>
    </dgm:pt>
    <dgm:pt modelId="{939F8E89-3B18-4081-AF3F-6B750A90F6AD}" type="pres">
      <dgm:prSet presAssocID="{CA42E4B4-1F70-4AA8-88AD-8E1414DD8BB9}" presName="hierChild2" presStyleCnt="0"/>
      <dgm:spPr/>
    </dgm:pt>
  </dgm:ptLst>
  <dgm:cxnLst>
    <dgm:cxn modelId="{0E8ECA15-7366-4A06-9EFC-BEDC157F4714}" srcId="{3E06C524-F86E-4486-AC5F-705DACC773CD}" destId="{DFCC0D24-A55B-47EC-B0EA-728041ABD960}" srcOrd="0" destOrd="0" parTransId="{AC9FBE20-C5AB-48D9-9180-5118D043ED16}" sibTransId="{9F3A7A89-DDFC-4288-BECE-412B44E2C101}"/>
    <dgm:cxn modelId="{0ADBAF16-952D-4D5E-90F5-D007129F60D4}" srcId="{3E06C524-F86E-4486-AC5F-705DACC773CD}" destId="{CA42E4B4-1F70-4AA8-88AD-8E1414DD8BB9}" srcOrd="2" destOrd="0" parTransId="{DE656FC6-0CA3-4B2E-87F4-A2AF32BF0F91}" sibTransId="{F94116AB-B214-47EE-BC1B-13EE420E52F7}"/>
    <dgm:cxn modelId="{B0778866-594E-4BAC-ACA6-77BC00EAFB64}" type="presOf" srcId="{DFCC0D24-A55B-47EC-B0EA-728041ABD960}" destId="{07157C1B-6340-405A-9EC2-14565A6A1C65}" srcOrd="0" destOrd="0" presId="urn:microsoft.com/office/officeart/2005/8/layout/hierarchy1"/>
    <dgm:cxn modelId="{17B7D96C-D993-4953-8E9B-41C26DDEA993}" type="presOf" srcId="{3E06C524-F86E-4486-AC5F-705DACC773CD}" destId="{E25528F9-8F66-4C39-A5CB-8051154C9E2B}" srcOrd="0" destOrd="0" presId="urn:microsoft.com/office/officeart/2005/8/layout/hierarchy1"/>
    <dgm:cxn modelId="{D1A6AEA6-A1D1-45E9-ACCE-3EDE0FC1EE64}" type="presOf" srcId="{5A7B82A3-4A41-4A20-89FA-63DC7859AAD4}" destId="{FBAA6CA0-0AD3-4750-B29F-5C05A29531C0}" srcOrd="0" destOrd="0" presId="urn:microsoft.com/office/officeart/2005/8/layout/hierarchy1"/>
    <dgm:cxn modelId="{DBED5CAB-DDB3-454A-9E92-F6C600F34841}" type="presOf" srcId="{CA42E4B4-1F70-4AA8-88AD-8E1414DD8BB9}" destId="{1B8E63DC-1203-4508-900B-60471FD98977}" srcOrd="0" destOrd="0" presId="urn:microsoft.com/office/officeart/2005/8/layout/hierarchy1"/>
    <dgm:cxn modelId="{1050CBDF-3793-485F-B99E-8A370DAB1C75}" srcId="{3E06C524-F86E-4486-AC5F-705DACC773CD}" destId="{5A7B82A3-4A41-4A20-89FA-63DC7859AAD4}" srcOrd="1" destOrd="0" parTransId="{C8827776-C860-4CC8-9F85-10ED68951FCC}" sibTransId="{EE1FFFD2-FCB2-4B96-AB58-996EE07B1B97}"/>
    <dgm:cxn modelId="{9D63171D-E5A5-44E6-9927-FD895713C873}" type="presParOf" srcId="{E25528F9-8F66-4C39-A5CB-8051154C9E2B}" destId="{47AF00E7-9B67-4397-851C-2390BC8FA639}" srcOrd="0" destOrd="0" presId="urn:microsoft.com/office/officeart/2005/8/layout/hierarchy1"/>
    <dgm:cxn modelId="{273AB121-123F-477D-B1F8-E117694E5F14}" type="presParOf" srcId="{47AF00E7-9B67-4397-851C-2390BC8FA639}" destId="{667B1CEB-ED55-4029-9161-5F86A25C6D6C}" srcOrd="0" destOrd="0" presId="urn:microsoft.com/office/officeart/2005/8/layout/hierarchy1"/>
    <dgm:cxn modelId="{5FF8E7C2-662E-45C7-871C-0CF602095DAD}" type="presParOf" srcId="{667B1CEB-ED55-4029-9161-5F86A25C6D6C}" destId="{56F636C7-996E-4E7D-BF11-EAEA1E8F4730}" srcOrd="0" destOrd="0" presId="urn:microsoft.com/office/officeart/2005/8/layout/hierarchy1"/>
    <dgm:cxn modelId="{03426F10-C935-4B5D-83B1-9ECBBF13C1A2}" type="presParOf" srcId="{667B1CEB-ED55-4029-9161-5F86A25C6D6C}" destId="{07157C1B-6340-405A-9EC2-14565A6A1C65}" srcOrd="1" destOrd="0" presId="urn:microsoft.com/office/officeart/2005/8/layout/hierarchy1"/>
    <dgm:cxn modelId="{18BE30F6-4762-49A2-9FBF-B97F70830181}" type="presParOf" srcId="{47AF00E7-9B67-4397-851C-2390BC8FA639}" destId="{7085C137-8D78-4F48-90CD-5BFEB73EF783}" srcOrd="1" destOrd="0" presId="urn:microsoft.com/office/officeart/2005/8/layout/hierarchy1"/>
    <dgm:cxn modelId="{2E757926-8549-4476-8A5E-FFCACFA3713E}" type="presParOf" srcId="{E25528F9-8F66-4C39-A5CB-8051154C9E2B}" destId="{D2E06A12-9D40-4A20-A5A6-201BAF216508}" srcOrd="1" destOrd="0" presId="urn:microsoft.com/office/officeart/2005/8/layout/hierarchy1"/>
    <dgm:cxn modelId="{62AF032B-E5A9-46F5-B186-72251A76B296}" type="presParOf" srcId="{D2E06A12-9D40-4A20-A5A6-201BAF216508}" destId="{3C6C1334-48E4-4E15-BE93-718E212F05B0}" srcOrd="0" destOrd="0" presId="urn:microsoft.com/office/officeart/2005/8/layout/hierarchy1"/>
    <dgm:cxn modelId="{09134C05-0E5B-4422-A943-7FA16D1F139B}" type="presParOf" srcId="{3C6C1334-48E4-4E15-BE93-718E212F05B0}" destId="{CB71A06A-36FF-4B98-8F72-A4A4232F066E}" srcOrd="0" destOrd="0" presId="urn:microsoft.com/office/officeart/2005/8/layout/hierarchy1"/>
    <dgm:cxn modelId="{2B45E14F-D788-457E-B6BB-AB7780522292}" type="presParOf" srcId="{3C6C1334-48E4-4E15-BE93-718E212F05B0}" destId="{FBAA6CA0-0AD3-4750-B29F-5C05A29531C0}" srcOrd="1" destOrd="0" presId="urn:microsoft.com/office/officeart/2005/8/layout/hierarchy1"/>
    <dgm:cxn modelId="{C34F1638-E97B-456D-855F-C4D3C9D58176}" type="presParOf" srcId="{D2E06A12-9D40-4A20-A5A6-201BAF216508}" destId="{E355495D-F8FC-43E0-B425-F08DE246B5E5}" srcOrd="1" destOrd="0" presId="urn:microsoft.com/office/officeart/2005/8/layout/hierarchy1"/>
    <dgm:cxn modelId="{F8C167EA-13A0-4C32-8ABB-83B2891A4591}" type="presParOf" srcId="{E25528F9-8F66-4C39-A5CB-8051154C9E2B}" destId="{65A21DA0-CB00-4BC2-AA4B-AA35E71DA969}" srcOrd="2" destOrd="0" presId="urn:microsoft.com/office/officeart/2005/8/layout/hierarchy1"/>
    <dgm:cxn modelId="{FCBFE682-33F5-44A1-AE32-E80071E7A33E}" type="presParOf" srcId="{65A21DA0-CB00-4BC2-AA4B-AA35E71DA969}" destId="{A229FB7A-C52A-42C1-A15A-5879B1107701}" srcOrd="0" destOrd="0" presId="urn:microsoft.com/office/officeart/2005/8/layout/hierarchy1"/>
    <dgm:cxn modelId="{97E295AF-8B02-4CD9-AEA8-4E0744A8AA7A}" type="presParOf" srcId="{A229FB7A-C52A-42C1-A15A-5879B1107701}" destId="{61D31DB5-F1DF-4080-AA22-D3B8C8D97CCA}" srcOrd="0" destOrd="0" presId="urn:microsoft.com/office/officeart/2005/8/layout/hierarchy1"/>
    <dgm:cxn modelId="{316B2803-5AA7-47FE-AC5D-EF7403584E05}" type="presParOf" srcId="{A229FB7A-C52A-42C1-A15A-5879B1107701}" destId="{1B8E63DC-1203-4508-900B-60471FD98977}" srcOrd="1" destOrd="0" presId="urn:microsoft.com/office/officeart/2005/8/layout/hierarchy1"/>
    <dgm:cxn modelId="{8F00D066-F401-4BF3-9059-655F9F4E5D24}" type="presParOf" srcId="{65A21DA0-CB00-4BC2-AA4B-AA35E71DA969}" destId="{939F8E89-3B18-4081-AF3F-6B750A90F6A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CFF5A1-CB4B-45A0-A05A-731328651308}"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4088AB9B-06F6-45FE-9F0C-93B95E626294}">
      <dgm:prSet custT="1"/>
      <dgm:spPr/>
      <dgm:t>
        <a:bodyPr/>
        <a:lstStyle/>
        <a:p>
          <a:r>
            <a:rPr lang="en-US" sz="2500" dirty="0"/>
            <a:t>Pakistan’s superior geo-strategic location comes with a range of challenges</a:t>
          </a:r>
        </a:p>
      </dgm:t>
    </dgm:pt>
    <dgm:pt modelId="{D786AB6F-6939-40CA-9AAB-7850E330C9AD}" type="parTrans" cxnId="{F108E8D8-3CD1-4736-B97E-3A5581BE5563}">
      <dgm:prSet/>
      <dgm:spPr/>
      <dgm:t>
        <a:bodyPr/>
        <a:lstStyle/>
        <a:p>
          <a:endParaRPr lang="en-US"/>
        </a:p>
      </dgm:t>
    </dgm:pt>
    <dgm:pt modelId="{441B1707-776E-4604-917E-B9605F867908}" type="sibTrans" cxnId="{F108E8D8-3CD1-4736-B97E-3A5581BE5563}">
      <dgm:prSet/>
      <dgm:spPr/>
      <dgm:t>
        <a:bodyPr/>
        <a:lstStyle/>
        <a:p>
          <a:endParaRPr lang="en-US"/>
        </a:p>
      </dgm:t>
    </dgm:pt>
    <dgm:pt modelId="{C787183D-788E-40C0-A253-BDFEDE819E12}">
      <dgm:prSet custT="1"/>
      <dgm:spPr/>
      <dgm:t>
        <a:bodyPr/>
        <a:lstStyle/>
        <a:p>
          <a:r>
            <a:rPr lang="en-US" sz="2500" dirty="0"/>
            <a:t>Bridging the Middle East, Europe, and Asia</a:t>
          </a:r>
        </a:p>
      </dgm:t>
    </dgm:pt>
    <dgm:pt modelId="{78132708-58E1-450D-8C56-A08629C5E1C8}" type="parTrans" cxnId="{942B2044-3855-4A57-8A59-6C1BAD0BFEAD}">
      <dgm:prSet/>
      <dgm:spPr/>
      <dgm:t>
        <a:bodyPr/>
        <a:lstStyle/>
        <a:p>
          <a:endParaRPr lang="en-US"/>
        </a:p>
      </dgm:t>
    </dgm:pt>
    <dgm:pt modelId="{D14BE6FD-0DA4-4880-B57C-AA6407799D47}" type="sibTrans" cxnId="{942B2044-3855-4A57-8A59-6C1BAD0BFEAD}">
      <dgm:prSet/>
      <dgm:spPr/>
      <dgm:t>
        <a:bodyPr/>
        <a:lstStyle/>
        <a:p>
          <a:endParaRPr lang="en-US"/>
        </a:p>
      </dgm:t>
    </dgm:pt>
    <dgm:pt modelId="{09BBCA89-3355-4395-814A-2D8047ECA5EB}">
      <dgm:prSet custT="1"/>
      <dgm:spPr/>
      <dgm:t>
        <a:bodyPr/>
        <a:lstStyle/>
        <a:p>
          <a:r>
            <a:rPr lang="en-US" sz="2500" dirty="0"/>
            <a:t>Indian-administered Kashmir is highly significant in global security landscape.</a:t>
          </a:r>
        </a:p>
      </dgm:t>
    </dgm:pt>
    <dgm:pt modelId="{74F456A0-0A5C-484B-AEAC-512152D8925A}" type="parTrans" cxnId="{E6D6B643-A407-4C58-9627-E504D9EBFAEE}">
      <dgm:prSet/>
      <dgm:spPr/>
      <dgm:t>
        <a:bodyPr/>
        <a:lstStyle/>
        <a:p>
          <a:endParaRPr lang="en-US"/>
        </a:p>
      </dgm:t>
    </dgm:pt>
    <dgm:pt modelId="{2BCBF6E0-DF9A-4277-B28D-D22157E5AC4A}" type="sibTrans" cxnId="{E6D6B643-A407-4C58-9627-E504D9EBFAEE}">
      <dgm:prSet/>
      <dgm:spPr/>
      <dgm:t>
        <a:bodyPr/>
        <a:lstStyle/>
        <a:p>
          <a:endParaRPr lang="en-US"/>
        </a:p>
      </dgm:t>
    </dgm:pt>
    <dgm:pt modelId="{3AFAF3CD-37BD-43A1-9724-322FDCDB7283}" type="pres">
      <dgm:prSet presAssocID="{9FCFF5A1-CB4B-45A0-A05A-731328651308}" presName="hierChild1" presStyleCnt="0">
        <dgm:presLayoutVars>
          <dgm:chPref val="1"/>
          <dgm:dir/>
          <dgm:animOne val="branch"/>
          <dgm:animLvl val="lvl"/>
          <dgm:resizeHandles/>
        </dgm:presLayoutVars>
      </dgm:prSet>
      <dgm:spPr/>
    </dgm:pt>
    <dgm:pt modelId="{9BFD7413-5BDE-4693-BDB6-B95F963F5748}" type="pres">
      <dgm:prSet presAssocID="{4088AB9B-06F6-45FE-9F0C-93B95E626294}" presName="hierRoot1" presStyleCnt="0"/>
      <dgm:spPr/>
    </dgm:pt>
    <dgm:pt modelId="{B9576B5E-1235-4420-A76A-0D04501D1FA8}" type="pres">
      <dgm:prSet presAssocID="{4088AB9B-06F6-45FE-9F0C-93B95E626294}" presName="composite" presStyleCnt="0"/>
      <dgm:spPr/>
    </dgm:pt>
    <dgm:pt modelId="{8E870DB8-6BE3-4F0D-8F09-D060E192AB2C}" type="pres">
      <dgm:prSet presAssocID="{4088AB9B-06F6-45FE-9F0C-93B95E626294}" presName="background" presStyleLbl="node0" presStyleIdx="0" presStyleCnt="3"/>
      <dgm:spPr/>
    </dgm:pt>
    <dgm:pt modelId="{0AA7AF0E-3AD5-4A58-80EA-EDFF7E588A2D}" type="pres">
      <dgm:prSet presAssocID="{4088AB9B-06F6-45FE-9F0C-93B95E626294}" presName="text" presStyleLbl="fgAcc0" presStyleIdx="0" presStyleCnt="3">
        <dgm:presLayoutVars>
          <dgm:chPref val="3"/>
        </dgm:presLayoutVars>
      </dgm:prSet>
      <dgm:spPr/>
    </dgm:pt>
    <dgm:pt modelId="{15492CAB-9118-4556-AB31-F01111AABF54}" type="pres">
      <dgm:prSet presAssocID="{4088AB9B-06F6-45FE-9F0C-93B95E626294}" presName="hierChild2" presStyleCnt="0"/>
      <dgm:spPr/>
    </dgm:pt>
    <dgm:pt modelId="{2AC8E9CD-5BB7-4D73-A478-A5A7B85BF4EC}" type="pres">
      <dgm:prSet presAssocID="{C787183D-788E-40C0-A253-BDFEDE819E12}" presName="hierRoot1" presStyleCnt="0"/>
      <dgm:spPr/>
    </dgm:pt>
    <dgm:pt modelId="{F3389577-FED9-4903-BB24-712CA37D6981}" type="pres">
      <dgm:prSet presAssocID="{C787183D-788E-40C0-A253-BDFEDE819E12}" presName="composite" presStyleCnt="0"/>
      <dgm:spPr/>
    </dgm:pt>
    <dgm:pt modelId="{8A213F50-7000-4B93-8418-1183D63197B5}" type="pres">
      <dgm:prSet presAssocID="{C787183D-788E-40C0-A253-BDFEDE819E12}" presName="background" presStyleLbl="node0" presStyleIdx="1" presStyleCnt="3"/>
      <dgm:spPr/>
    </dgm:pt>
    <dgm:pt modelId="{25D954C9-8F50-42FC-BCAE-8D24B30DB158}" type="pres">
      <dgm:prSet presAssocID="{C787183D-788E-40C0-A253-BDFEDE819E12}" presName="text" presStyleLbl="fgAcc0" presStyleIdx="1" presStyleCnt="3">
        <dgm:presLayoutVars>
          <dgm:chPref val="3"/>
        </dgm:presLayoutVars>
      </dgm:prSet>
      <dgm:spPr/>
    </dgm:pt>
    <dgm:pt modelId="{3E6C6BFA-9E16-4C2C-BF26-52F549B725D8}" type="pres">
      <dgm:prSet presAssocID="{C787183D-788E-40C0-A253-BDFEDE819E12}" presName="hierChild2" presStyleCnt="0"/>
      <dgm:spPr/>
    </dgm:pt>
    <dgm:pt modelId="{C23E78C1-DF2C-47B4-8334-1B4E418FD15C}" type="pres">
      <dgm:prSet presAssocID="{09BBCA89-3355-4395-814A-2D8047ECA5EB}" presName="hierRoot1" presStyleCnt="0"/>
      <dgm:spPr/>
    </dgm:pt>
    <dgm:pt modelId="{B337EDA7-476E-46D8-9090-6D876E636815}" type="pres">
      <dgm:prSet presAssocID="{09BBCA89-3355-4395-814A-2D8047ECA5EB}" presName="composite" presStyleCnt="0"/>
      <dgm:spPr/>
    </dgm:pt>
    <dgm:pt modelId="{504F5E4F-DDD7-43D1-910F-7E09827CD86E}" type="pres">
      <dgm:prSet presAssocID="{09BBCA89-3355-4395-814A-2D8047ECA5EB}" presName="background" presStyleLbl="node0" presStyleIdx="2" presStyleCnt="3"/>
      <dgm:spPr/>
    </dgm:pt>
    <dgm:pt modelId="{0EC72B90-4627-4BA0-83E2-6B0B3F7D247E}" type="pres">
      <dgm:prSet presAssocID="{09BBCA89-3355-4395-814A-2D8047ECA5EB}" presName="text" presStyleLbl="fgAcc0" presStyleIdx="2" presStyleCnt="3">
        <dgm:presLayoutVars>
          <dgm:chPref val="3"/>
        </dgm:presLayoutVars>
      </dgm:prSet>
      <dgm:spPr/>
    </dgm:pt>
    <dgm:pt modelId="{FB86B82A-89AD-45B8-835D-5634D4D40D64}" type="pres">
      <dgm:prSet presAssocID="{09BBCA89-3355-4395-814A-2D8047ECA5EB}" presName="hierChild2" presStyleCnt="0"/>
      <dgm:spPr/>
    </dgm:pt>
  </dgm:ptLst>
  <dgm:cxnLst>
    <dgm:cxn modelId="{9271D80B-1767-4E75-80BF-33054495352A}" type="presOf" srcId="{C787183D-788E-40C0-A253-BDFEDE819E12}" destId="{25D954C9-8F50-42FC-BCAE-8D24B30DB158}" srcOrd="0" destOrd="0" presId="urn:microsoft.com/office/officeart/2005/8/layout/hierarchy1"/>
    <dgm:cxn modelId="{E6D6B643-A407-4C58-9627-E504D9EBFAEE}" srcId="{9FCFF5A1-CB4B-45A0-A05A-731328651308}" destId="{09BBCA89-3355-4395-814A-2D8047ECA5EB}" srcOrd="2" destOrd="0" parTransId="{74F456A0-0A5C-484B-AEAC-512152D8925A}" sibTransId="{2BCBF6E0-DF9A-4277-B28D-D22157E5AC4A}"/>
    <dgm:cxn modelId="{5D2FFA43-270C-4A86-9785-2C295B1E4219}" type="presOf" srcId="{9FCFF5A1-CB4B-45A0-A05A-731328651308}" destId="{3AFAF3CD-37BD-43A1-9724-322FDCDB7283}" srcOrd="0" destOrd="0" presId="urn:microsoft.com/office/officeart/2005/8/layout/hierarchy1"/>
    <dgm:cxn modelId="{942B2044-3855-4A57-8A59-6C1BAD0BFEAD}" srcId="{9FCFF5A1-CB4B-45A0-A05A-731328651308}" destId="{C787183D-788E-40C0-A253-BDFEDE819E12}" srcOrd="1" destOrd="0" parTransId="{78132708-58E1-450D-8C56-A08629C5E1C8}" sibTransId="{D14BE6FD-0DA4-4880-B57C-AA6407799D47}"/>
    <dgm:cxn modelId="{17540099-D525-48D8-9B4F-6828CA8E1AE8}" type="presOf" srcId="{4088AB9B-06F6-45FE-9F0C-93B95E626294}" destId="{0AA7AF0E-3AD5-4A58-80EA-EDFF7E588A2D}" srcOrd="0" destOrd="0" presId="urn:microsoft.com/office/officeart/2005/8/layout/hierarchy1"/>
    <dgm:cxn modelId="{F108E8D8-3CD1-4736-B97E-3A5581BE5563}" srcId="{9FCFF5A1-CB4B-45A0-A05A-731328651308}" destId="{4088AB9B-06F6-45FE-9F0C-93B95E626294}" srcOrd="0" destOrd="0" parTransId="{D786AB6F-6939-40CA-9AAB-7850E330C9AD}" sibTransId="{441B1707-776E-4604-917E-B9605F867908}"/>
    <dgm:cxn modelId="{23FB32EA-2330-4BC9-84D4-EFB93E03004C}" type="presOf" srcId="{09BBCA89-3355-4395-814A-2D8047ECA5EB}" destId="{0EC72B90-4627-4BA0-83E2-6B0B3F7D247E}" srcOrd="0" destOrd="0" presId="urn:microsoft.com/office/officeart/2005/8/layout/hierarchy1"/>
    <dgm:cxn modelId="{8842CC47-6C9E-4E8E-A145-4B97185ABC2A}" type="presParOf" srcId="{3AFAF3CD-37BD-43A1-9724-322FDCDB7283}" destId="{9BFD7413-5BDE-4693-BDB6-B95F963F5748}" srcOrd="0" destOrd="0" presId="urn:microsoft.com/office/officeart/2005/8/layout/hierarchy1"/>
    <dgm:cxn modelId="{92F3651C-5ACE-45FC-A9C9-043DCBACD31A}" type="presParOf" srcId="{9BFD7413-5BDE-4693-BDB6-B95F963F5748}" destId="{B9576B5E-1235-4420-A76A-0D04501D1FA8}" srcOrd="0" destOrd="0" presId="urn:microsoft.com/office/officeart/2005/8/layout/hierarchy1"/>
    <dgm:cxn modelId="{7283EB41-4C77-4FFA-AE5A-9ABF538996E8}" type="presParOf" srcId="{B9576B5E-1235-4420-A76A-0D04501D1FA8}" destId="{8E870DB8-6BE3-4F0D-8F09-D060E192AB2C}" srcOrd="0" destOrd="0" presId="urn:microsoft.com/office/officeart/2005/8/layout/hierarchy1"/>
    <dgm:cxn modelId="{EB892CAD-5BC9-4911-85F0-AF53603FFC17}" type="presParOf" srcId="{B9576B5E-1235-4420-A76A-0D04501D1FA8}" destId="{0AA7AF0E-3AD5-4A58-80EA-EDFF7E588A2D}" srcOrd="1" destOrd="0" presId="urn:microsoft.com/office/officeart/2005/8/layout/hierarchy1"/>
    <dgm:cxn modelId="{95DBD1CC-8C8F-4E13-BF2E-8A26E6F721E9}" type="presParOf" srcId="{9BFD7413-5BDE-4693-BDB6-B95F963F5748}" destId="{15492CAB-9118-4556-AB31-F01111AABF54}" srcOrd="1" destOrd="0" presId="urn:microsoft.com/office/officeart/2005/8/layout/hierarchy1"/>
    <dgm:cxn modelId="{ADC9C7F4-F5A2-4E0A-9042-ECE3AF0577E5}" type="presParOf" srcId="{3AFAF3CD-37BD-43A1-9724-322FDCDB7283}" destId="{2AC8E9CD-5BB7-4D73-A478-A5A7B85BF4EC}" srcOrd="1" destOrd="0" presId="urn:microsoft.com/office/officeart/2005/8/layout/hierarchy1"/>
    <dgm:cxn modelId="{06D1786A-9ECA-4CCF-AEC3-9E545CB7B2CE}" type="presParOf" srcId="{2AC8E9CD-5BB7-4D73-A478-A5A7B85BF4EC}" destId="{F3389577-FED9-4903-BB24-712CA37D6981}" srcOrd="0" destOrd="0" presId="urn:microsoft.com/office/officeart/2005/8/layout/hierarchy1"/>
    <dgm:cxn modelId="{18654CFE-CF27-4D18-91D6-E19D9C1ECB65}" type="presParOf" srcId="{F3389577-FED9-4903-BB24-712CA37D6981}" destId="{8A213F50-7000-4B93-8418-1183D63197B5}" srcOrd="0" destOrd="0" presId="urn:microsoft.com/office/officeart/2005/8/layout/hierarchy1"/>
    <dgm:cxn modelId="{C2C5472B-D00E-4FCA-BB21-6673C08728DC}" type="presParOf" srcId="{F3389577-FED9-4903-BB24-712CA37D6981}" destId="{25D954C9-8F50-42FC-BCAE-8D24B30DB158}" srcOrd="1" destOrd="0" presId="urn:microsoft.com/office/officeart/2005/8/layout/hierarchy1"/>
    <dgm:cxn modelId="{F7EA3D49-D753-40FF-A43F-A1A955178DB2}" type="presParOf" srcId="{2AC8E9CD-5BB7-4D73-A478-A5A7B85BF4EC}" destId="{3E6C6BFA-9E16-4C2C-BF26-52F549B725D8}" srcOrd="1" destOrd="0" presId="urn:microsoft.com/office/officeart/2005/8/layout/hierarchy1"/>
    <dgm:cxn modelId="{7926AD9E-24BC-42D2-AF22-7F7FE155F6AD}" type="presParOf" srcId="{3AFAF3CD-37BD-43A1-9724-322FDCDB7283}" destId="{C23E78C1-DF2C-47B4-8334-1B4E418FD15C}" srcOrd="2" destOrd="0" presId="urn:microsoft.com/office/officeart/2005/8/layout/hierarchy1"/>
    <dgm:cxn modelId="{F7EF8B1E-46B6-4C88-9C29-E958265B4569}" type="presParOf" srcId="{C23E78C1-DF2C-47B4-8334-1B4E418FD15C}" destId="{B337EDA7-476E-46D8-9090-6D876E636815}" srcOrd="0" destOrd="0" presId="urn:microsoft.com/office/officeart/2005/8/layout/hierarchy1"/>
    <dgm:cxn modelId="{9E1B995C-A8A7-4FB3-B7BF-BA537EEF9269}" type="presParOf" srcId="{B337EDA7-476E-46D8-9090-6D876E636815}" destId="{504F5E4F-DDD7-43D1-910F-7E09827CD86E}" srcOrd="0" destOrd="0" presId="urn:microsoft.com/office/officeart/2005/8/layout/hierarchy1"/>
    <dgm:cxn modelId="{B21670C1-9570-40BE-9F2D-8241E1BAED19}" type="presParOf" srcId="{B337EDA7-476E-46D8-9090-6D876E636815}" destId="{0EC72B90-4627-4BA0-83E2-6B0B3F7D247E}" srcOrd="1" destOrd="0" presId="urn:microsoft.com/office/officeart/2005/8/layout/hierarchy1"/>
    <dgm:cxn modelId="{6FD6842E-DAC9-4063-B086-3D47686A1508}" type="presParOf" srcId="{C23E78C1-DF2C-47B4-8334-1B4E418FD15C}" destId="{FB86B82A-89AD-45B8-835D-5634D4D40D6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EA319B-645A-4959-9F56-9E2CE056B3FC}">
      <dsp:nvSpPr>
        <dsp:cNvPr id="0" name=""/>
        <dsp:cNvSpPr/>
      </dsp:nvSpPr>
      <dsp:spPr>
        <a:xfrm>
          <a:off x="1227" y="213139"/>
          <a:ext cx="4309690" cy="273665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5075D0-B409-42D3-8488-EBDAE06485A8}">
      <dsp:nvSpPr>
        <dsp:cNvPr id="0" name=""/>
        <dsp:cNvSpPr/>
      </dsp:nvSpPr>
      <dsp:spPr>
        <a:xfrm>
          <a:off x="480082" y="668051"/>
          <a:ext cx="4309690" cy="273665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Pakistan joined UN nation on September 30 1947, a few months of its independence</a:t>
          </a:r>
        </a:p>
      </dsp:txBody>
      <dsp:txXfrm>
        <a:off x="560236" y="748205"/>
        <a:ext cx="4149382" cy="2576345"/>
      </dsp:txXfrm>
    </dsp:sp>
    <dsp:sp modelId="{4A760121-81B2-4534-ADED-17E4D2EAE564}">
      <dsp:nvSpPr>
        <dsp:cNvPr id="0" name=""/>
        <dsp:cNvSpPr/>
      </dsp:nvSpPr>
      <dsp:spPr>
        <a:xfrm>
          <a:off x="5268627" y="213139"/>
          <a:ext cx="4309690" cy="2736653"/>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6BD3251-41C4-4770-A680-7649071EFF52}">
      <dsp:nvSpPr>
        <dsp:cNvPr id="0" name=""/>
        <dsp:cNvSpPr/>
      </dsp:nvSpPr>
      <dsp:spPr>
        <a:xfrm>
          <a:off x="5747481" y="668051"/>
          <a:ext cx="4309690" cy="273665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Over the last 79 years, Pakistan has put this vision into practice by making significant contributions to the principles and purposes of the UN charter.</a:t>
          </a:r>
        </a:p>
      </dsp:txBody>
      <dsp:txXfrm>
        <a:off x="5827635" y="748205"/>
        <a:ext cx="4149382" cy="2576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F636C7-996E-4E7D-BF11-EAEA1E8F4730}">
      <dsp:nvSpPr>
        <dsp:cNvPr id="0" name=""/>
        <dsp:cNvSpPr/>
      </dsp:nvSpPr>
      <dsp:spPr>
        <a:xfrm>
          <a:off x="0" y="76771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157C1B-6340-405A-9EC2-14565A6A1C65}">
      <dsp:nvSpPr>
        <dsp:cNvPr id="0" name=""/>
        <dsp:cNvSpPr/>
      </dsp:nvSpPr>
      <dsp:spPr>
        <a:xfrm>
          <a:off x="314325" y="106632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 2013, Pakistan established CIPS in Islamabad</a:t>
          </a:r>
        </a:p>
      </dsp:txBody>
      <dsp:txXfrm>
        <a:off x="366939" y="1118934"/>
        <a:ext cx="2723696" cy="1691139"/>
      </dsp:txXfrm>
    </dsp:sp>
    <dsp:sp modelId="{CB71A06A-36FF-4B98-8F72-A4A4232F066E}">
      <dsp:nvSpPr>
        <dsp:cNvPr id="0" name=""/>
        <dsp:cNvSpPr/>
      </dsp:nvSpPr>
      <dsp:spPr>
        <a:xfrm>
          <a:off x="3457574" y="76771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AA6CA0-0AD3-4750-B29F-5C05A29531C0}">
      <dsp:nvSpPr>
        <dsp:cNvPr id="0" name=""/>
        <dsp:cNvSpPr/>
      </dsp:nvSpPr>
      <dsp:spPr>
        <a:xfrm>
          <a:off x="3771899" y="106632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Inaugurated by then UN Secretary General, Ban Ki-Moon.</a:t>
          </a:r>
        </a:p>
      </dsp:txBody>
      <dsp:txXfrm>
        <a:off x="3824513" y="1118934"/>
        <a:ext cx="2723696" cy="1691139"/>
      </dsp:txXfrm>
    </dsp:sp>
    <dsp:sp modelId="{61D31DB5-F1DF-4080-AA22-D3B8C8D97CCA}">
      <dsp:nvSpPr>
        <dsp:cNvPr id="0" name=""/>
        <dsp:cNvSpPr/>
      </dsp:nvSpPr>
      <dsp:spPr>
        <a:xfrm>
          <a:off x="6915149" y="767711"/>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8E63DC-1203-4508-900B-60471FD98977}">
      <dsp:nvSpPr>
        <dsp:cNvPr id="0" name=""/>
        <dsp:cNvSpPr/>
      </dsp:nvSpPr>
      <dsp:spPr>
        <a:xfrm>
          <a:off x="7229475" y="1066320"/>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Its aim to train peacekeeper in research and </a:t>
          </a:r>
          <a:r>
            <a:rPr lang="en-US" sz="2500" kern="1200" dirty="0" err="1"/>
            <a:t>acadamia</a:t>
          </a:r>
          <a:r>
            <a:rPr lang="en-US" sz="2500" kern="1200" dirty="0"/>
            <a:t>.</a:t>
          </a:r>
        </a:p>
      </dsp:txBody>
      <dsp:txXfrm>
        <a:off x="7282089" y="1118934"/>
        <a:ext cx="2723696" cy="16911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870DB8-6BE3-4F0D-8F09-D060E192AB2C}">
      <dsp:nvSpPr>
        <dsp:cNvPr id="0" name=""/>
        <dsp:cNvSpPr/>
      </dsp:nvSpPr>
      <dsp:spPr>
        <a:xfrm>
          <a:off x="0" y="761434"/>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A7AF0E-3AD5-4A58-80EA-EDFF7E588A2D}">
      <dsp:nvSpPr>
        <dsp:cNvPr id="0" name=""/>
        <dsp:cNvSpPr/>
      </dsp:nvSpPr>
      <dsp:spPr>
        <a:xfrm>
          <a:off x="314325" y="1060043"/>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Pakistan’s superior geo-strategic location comes with a range of challenges</a:t>
          </a:r>
        </a:p>
      </dsp:txBody>
      <dsp:txXfrm>
        <a:off x="366939" y="1112657"/>
        <a:ext cx="2723696" cy="1691139"/>
      </dsp:txXfrm>
    </dsp:sp>
    <dsp:sp modelId="{8A213F50-7000-4B93-8418-1183D63197B5}">
      <dsp:nvSpPr>
        <dsp:cNvPr id="0" name=""/>
        <dsp:cNvSpPr/>
      </dsp:nvSpPr>
      <dsp:spPr>
        <a:xfrm>
          <a:off x="3457574" y="761434"/>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D954C9-8F50-42FC-BCAE-8D24B30DB158}">
      <dsp:nvSpPr>
        <dsp:cNvPr id="0" name=""/>
        <dsp:cNvSpPr/>
      </dsp:nvSpPr>
      <dsp:spPr>
        <a:xfrm>
          <a:off x="3771899" y="1060043"/>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Bridging the Middle East, Europe, and Asia</a:t>
          </a:r>
        </a:p>
      </dsp:txBody>
      <dsp:txXfrm>
        <a:off x="3824513" y="1112657"/>
        <a:ext cx="2723696" cy="1691139"/>
      </dsp:txXfrm>
    </dsp:sp>
    <dsp:sp modelId="{504F5E4F-DDD7-43D1-910F-7E09827CD86E}">
      <dsp:nvSpPr>
        <dsp:cNvPr id="0" name=""/>
        <dsp:cNvSpPr/>
      </dsp:nvSpPr>
      <dsp:spPr>
        <a:xfrm>
          <a:off x="6915149" y="761434"/>
          <a:ext cx="2828924" cy="1796367"/>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C72B90-4627-4BA0-83E2-6B0B3F7D247E}">
      <dsp:nvSpPr>
        <dsp:cNvPr id="0" name=""/>
        <dsp:cNvSpPr/>
      </dsp:nvSpPr>
      <dsp:spPr>
        <a:xfrm>
          <a:off x="7229475" y="1060043"/>
          <a:ext cx="2828924" cy="179636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Indian-administered Kashmir is highly significant in global security landscape.</a:t>
          </a:r>
        </a:p>
      </dsp:txBody>
      <dsp:txXfrm>
        <a:off x="7282089" y="1112657"/>
        <a:ext cx="2723696" cy="169113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59FA2A0-F80F-412A-BEE2-83D048602A8D}"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1124B-85CA-4855-A54E-D05439F621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7591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FA2A0-F80F-412A-BEE2-83D048602A8D}"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375952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9FA2A0-F80F-412A-BEE2-83D048602A8D}"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1124B-85CA-4855-A54E-D05439F621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760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9FA2A0-F80F-412A-BEE2-83D048602A8D}"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281450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9FA2A0-F80F-412A-BEE2-83D048602A8D}"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2120566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9FA2A0-F80F-412A-BEE2-83D048602A8D}"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3385909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9FA2A0-F80F-412A-BEE2-83D048602A8D}"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305478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59FA2A0-F80F-412A-BEE2-83D048602A8D}"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861185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9FA2A0-F80F-412A-BEE2-83D048602A8D}"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21124B-85CA-4855-A54E-D05439F6218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5181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FA2A0-F80F-412A-BEE2-83D048602A8D}"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1124B-85CA-4855-A54E-D05439F62180}" type="slidenum">
              <a:rPr lang="en-US" smtClean="0"/>
              <a:t>‹#›</a:t>
            </a:fld>
            <a:endParaRPr lang="en-US"/>
          </a:p>
        </p:txBody>
      </p:sp>
    </p:spTree>
    <p:extLst>
      <p:ext uri="{BB962C8B-B14F-4D97-AF65-F5344CB8AC3E}">
        <p14:creationId xmlns:p14="http://schemas.microsoft.com/office/powerpoint/2010/main" val="3172857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9FA2A0-F80F-412A-BEE2-83D048602A8D}"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21124B-85CA-4855-A54E-D05439F62180}"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5976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59FA2A0-F80F-412A-BEE2-83D048602A8D}" type="datetimeFigureOut">
              <a:rPr lang="en-US" smtClean="0"/>
              <a:t>3/13/2026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621124B-85CA-4855-A54E-D05439F62180}"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687804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CC9120-1E0F-8D4A-59E3-BB825FED5380}"/>
              </a:ext>
            </a:extLst>
          </p:cNvPr>
          <p:cNvSpPr>
            <a:spLocks noGrp="1"/>
          </p:cNvSpPr>
          <p:nvPr>
            <p:ph type="ctrTitle"/>
          </p:nvPr>
        </p:nvSpPr>
        <p:spPr>
          <a:xfrm>
            <a:off x="4713224" y="1105351"/>
            <a:ext cx="6353967" cy="3023981"/>
          </a:xfrm>
        </p:spPr>
        <p:txBody>
          <a:bodyPr anchor="b">
            <a:noAutofit/>
          </a:bodyPr>
          <a:lstStyle/>
          <a:p>
            <a:pPr algn="ctr"/>
            <a:r>
              <a:rPr lang="en-US" dirty="0">
                <a:solidFill>
                  <a:srgbClr val="FFFFFF"/>
                </a:solidFill>
              </a:rPr>
              <a:t>Pakistan In Pursuit of Global Agenda II</a:t>
            </a:r>
          </a:p>
        </p:txBody>
      </p:sp>
      <p:sp>
        <p:nvSpPr>
          <p:cNvPr id="3" name="Subtitle 2">
            <a:extLst>
              <a:ext uri="{FF2B5EF4-FFF2-40B4-BE49-F238E27FC236}">
                <a16:creationId xmlns:a16="http://schemas.microsoft.com/office/drawing/2014/main" id="{8DD9A3D1-401B-CD53-7204-C0E302F2D6C7}"/>
              </a:ext>
            </a:extLst>
          </p:cNvPr>
          <p:cNvSpPr>
            <a:spLocks noGrp="1"/>
          </p:cNvSpPr>
          <p:nvPr>
            <p:ph type="subTitle" idx="1"/>
          </p:nvPr>
        </p:nvSpPr>
        <p:spPr>
          <a:xfrm>
            <a:off x="4713224" y="4297556"/>
            <a:ext cx="6353968" cy="1433391"/>
          </a:xfrm>
        </p:spPr>
        <p:txBody>
          <a:bodyPr anchor="t">
            <a:normAutofit/>
          </a:bodyPr>
          <a:lstStyle/>
          <a:p>
            <a:pPr algn="ctr"/>
            <a:r>
              <a:rPr lang="en-US" sz="2500" dirty="0">
                <a:solidFill>
                  <a:srgbClr val="FFFFFF"/>
                </a:solidFill>
              </a:rPr>
              <a:t>Socio-Political Impacts of Pakistan’s Role in Global Peace &amp; Security</a:t>
            </a:r>
          </a:p>
        </p:txBody>
      </p:sp>
      <p:cxnSp>
        <p:nvCxnSpPr>
          <p:cNvPr id="14" name="Straight Connector 13">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128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5969CA-CE62-20BD-9AF2-BDA5C5C549D0}"/>
              </a:ext>
            </a:extLst>
          </p:cNvPr>
          <p:cNvSpPr>
            <a:spLocks noGrp="1"/>
          </p:cNvSpPr>
          <p:nvPr>
            <p:ph type="title"/>
          </p:nvPr>
        </p:nvSpPr>
        <p:spPr>
          <a:xfrm>
            <a:off x="964788" y="804333"/>
            <a:ext cx="3391900" cy="5249334"/>
          </a:xfrm>
        </p:spPr>
        <p:txBody>
          <a:bodyPr>
            <a:normAutofit/>
          </a:bodyPr>
          <a:lstStyle/>
          <a:p>
            <a:pPr algn="ctr"/>
            <a:r>
              <a:rPr lang="en-US" dirty="0">
                <a:solidFill>
                  <a:srgbClr val="FFFFFF"/>
                </a:solidFill>
              </a:rPr>
              <a:t>What is Global Agenda?</a:t>
            </a:r>
          </a:p>
        </p:txBody>
      </p:sp>
      <p:sp>
        <p:nvSpPr>
          <p:cNvPr id="3" name="Content Placeholder 2">
            <a:extLst>
              <a:ext uri="{FF2B5EF4-FFF2-40B4-BE49-F238E27FC236}">
                <a16:creationId xmlns:a16="http://schemas.microsoft.com/office/drawing/2014/main" id="{7FCB4083-2E29-16F4-B4BF-5CD3B63C076A}"/>
              </a:ext>
            </a:extLst>
          </p:cNvPr>
          <p:cNvSpPr>
            <a:spLocks noGrp="1"/>
          </p:cNvSpPr>
          <p:nvPr>
            <p:ph idx="1"/>
          </p:nvPr>
        </p:nvSpPr>
        <p:spPr>
          <a:xfrm>
            <a:off x="4951048" y="804333"/>
            <a:ext cx="6306003" cy="5249334"/>
          </a:xfrm>
        </p:spPr>
        <p:txBody>
          <a:bodyPr anchor="ctr">
            <a:normAutofit/>
          </a:bodyPr>
          <a:lstStyle/>
          <a:p>
            <a:pPr algn="just"/>
            <a:r>
              <a:rPr lang="en-US" sz="2500" dirty="0"/>
              <a:t>The Global Agenda of Local and Regional Governments for the 21st Century sets out the vision and aspirations of sub-national governments and explains the contributions we can make to ensuring sustainable development in a rapidly changing world.</a:t>
            </a:r>
          </a:p>
        </p:txBody>
      </p:sp>
    </p:spTree>
    <p:extLst>
      <p:ext uri="{BB962C8B-B14F-4D97-AF65-F5344CB8AC3E}">
        <p14:creationId xmlns:p14="http://schemas.microsoft.com/office/powerpoint/2010/main" val="4142790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382D1-C615-E4E4-4522-85F217DE61E5}"/>
              </a:ext>
            </a:extLst>
          </p:cNvPr>
          <p:cNvSpPr>
            <a:spLocks noGrp="1"/>
          </p:cNvSpPr>
          <p:nvPr>
            <p:ph type="title"/>
          </p:nvPr>
        </p:nvSpPr>
        <p:spPr>
          <a:xfrm>
            <a:off x="1286934" y="1465790"/>
            <a:ext cx="3860798" cy="3941345"/>
          </a:xfrm>
        </p:spPr>
        <p:txBody>
          <a:bodyPr>
            <a:normAutofit/>
          </a:bodyPr>
          <a:lstStyle/>
          <a:p>
            <a:pPr algn="ctr"/>
            <a:r>
              <a:rPr lang="en-US" dirty="0"/>
              <a:t>Pakistan’s Pursuit of the Global Agenda</a:t>
            </a:r>
          </a:p>
        </p:txBody>
      </p:sp>
      <p:sp>
        <p:nvSpPr>
          <p:cNvPr id="3" name="Content Placeholder 2">
            <a:extLst>
              <a:ext uri="{FF2B5EF4-FFF2-40B4-BE49-F238E27FC236}">
                <a16:creationId xmlns:a16="http://schemas.microsoft.com/office/drawing/2014/main" id="{57000149-411B-E2E5-2BC0-17EB10234584}"/>
              </a:ext>
            </a:extLst>
          </p:cNvPr>
          <p:cNvSpPr>
            <a:spLocks noGrp="1"/>
          </p:cNvSpPr>
          <p:nvPr>
            <p:ph idx="1"/>
          </p:nvPr>
        </p:nvSpPr>
        <p:spPr>
          <a:xfrm>
            <a:off x="5717407" y="1196903"/>
            <a:ext cx="6006246" cy="4464194"/>
          </a:xfrm>
        </p:spPr>
        <p:txBody>
          <a:bodyPr anchor="ctr">
            <a:noAutofit/>
          </a:bodyPr>
          <a:lstStyle/>
          <a:p>
            <a:pPr algn="just"/>
            <a:r>
              <a:rPr lang="en-US" sz="2500" dirty="0"/>
              <a:t>Pakistan is the world’s sixth most populous nation. Given the young demographic (the median age is 22), it should be well positioned for robust economic growth provided critical steps are taken to improve the country’s human development. The key challenges are insufficient access to quality education, the lack of employment opportunities and limited potential to expand into new market.</a:t>
            </a:r>
          </a:p>
          <a:p>
            <a:pPr algn="just"/>
            <a:r>
              <a:rPr lang="en-US" sz="2500" dirty="0"/>
              <a:t>Pakistan has displayed commendable commitment to the 2030 Agenda for Sustainable Development as it was one of the first countries to endorse it globally in 2015.</a:t>
            </a:r>
          </a:p>
        </p:txBody>
      </p:sp>
    </p:spTree>
    <p:extLst>
      <p:ext uri="{BB962C8B-B14F-4D97-AF65-F5344CB8AC3E}">
        <p14:creationId xmlns:p14="http://schemas.microsoft.com/office/powerpoint/2010/main" val="2275978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30501-2324-3F2A-2B4E-32B3422516CD}"/>
              </a:ext>
            </a:extLst>
          </p:cNvPr>
          <p:cNvSpPr>
            <a:spLocks noGrp="1"/>
          </p:cNvSpPr>
          <p:nvPr>
            <p:ph type="title"/>
          </p:nvPr>
        </p:nvSpPr>
        <p:spPr>
          <a:xfrm>
            <a:off x="964788" y="804333"/>
            <a:ext cx="3391900" cy="5249334"/>
          </a:xfrm>
        </p:spPr>
        <p:txBody>
          <a:bodyPr>
            <a:normAutofit/>
          </a:bodyPr>
          <a:lstStyle/>
          <a:p>
            <a:pPr algn="ctr"/>
            <a:r>
              <a:rPr lang="en-US" dirty="0">
                <a:solidFill>
                  <a:srgbClr val="FFFFFF"/>
                </a:solidFill>
              </a:rPr>
              <a:t>Sustainable development goals &amp; Pakistan</a:t>
            </a:r>
          </a:p>
        </p:txBody>
      </p:sp>
      <p:sp>
        <p:nvSpPr>
          <p:cNvPr id="3" name="Content Placeholder 2">
            <a:extLst>
              <a:ext uri="{FF2B5EF4-FFF2-40B4-BE49-F238E27FC236}">
                <a16:creationId xmlns:a16="http://schemas.microsoft.com/office/drawing/2014/main" id="{D11ED1A3-66B8-47AA-68F3-57D7F3C10C1B}"/>
              </a:ext>
            </a:extLst>
          </p:cNvPr>
          <p:cNvSpPr>
            <a:spLocks noGrp="1"/>
          </p:cNvSpPr>
          <p:nvPr>
            <p:ph idx="1"/>
          </p:nvPr>
        </p:nvSpPr>
        <p:spPr>
          <a:xfrm>
            <a:off x="4951048" y="804333"/>
            <a:ext cx="6306003" cy="5249334"/>
          </a:xfrm>
        </p:spPr>
        <p:txBody>
          <a:bodyPr anchor="ctr">
            <a:noAutofit/>
          </a:bodyPr>
          <a:lstStyle/>
          <a:p>
            <a:pPr algn="just">
              <a:buFont typeface="Arial" panose="020B0604020202020204" pitchFamily="34" charset="0"/>
              <a:buChar char="•"/>
            </a:pPr>
            <a:r>
              <a:rPr lang="en-US" sz="2500" dirty="0">
                <a:effectLst/>
                <a:latin typeface="+mj-lt"/>
                <a:ea typeface="Times New Roman" panose="02020603050405020304" pitchFamily="18" charset="0"/>
              </a:rPr>
              <a:t> These 17 Goals build on the Millennium Development Goals (MDGs), while including new areas such as climate change, economic inequality, innovation, sustainable consumption, peace and justice, among other priorities. The goals are interconnected; often the key to success on one will involve tackling issues more commonly associated with another.</a:t>
            </a:r>
          </a:p>
          <a:p>
            <a:pPr algn="just">
              <a:buFont typeface="Arial" panose="020B0604020202020204" pitchFamily="34" charset="0"/>
              <a:buChar char="•"/>
            </a:pPr>
            <a:r>
              <a:rPr lang="en-US" sz="2500" dirty="0">
                <a:latin typeface="+mj-lt"/>
              </a:rPr>
              <a:t>No poverty</a:t>
            </a:r>
          </a:p>
          <a:p>
            <a:pPr algn="just">
              <a:buFont typeface="Arial" panose="020B0604020202020204" pitchFamily="34" charset="0"/>
              <a:buChar char="•"/>
            </a:pPr>
            <a:r>
              <a:rPr lang="en-US" sz="2500" dirty="0">
                <a:latin typeface="+mj-lt"/>
              </a:rPr>
              <a:t>Quality education</a:t>
            </a:r>
          </a:p>
          <a:p>
            <a:pPr algn="just">
              <a:buFont typeface="Arial" panose="020B0604020202020204" pitchFamily="34" charset="0"/>
              <a:buChar char="•"/>
            </a:pPr>
            <a:r>
              <a:rPr lang="en-US" sz="2500" dirty="0">
                <a:latin typeface="+mj-lt"/>
              </a:rPr>
              <a:t>Affordable and clean energy</a:t>
            </a:r>
          </a:p>
          <a:p>
            <a:pPr algn="just">
              <a:buFont typeface="Arial" panose="020B0604020202020204" pitchFamily="34" charset="0"/>
              <a:buChar char="•"/>
            </a:pPr>
            <a:r>
              <a:rPr lang="en-US" sz="2500" dirty="0">
                <a:latin typeface="+mj-lt"/>
              </a:rPr>
              <a:t>Industry , innovation and infra structure</a:t>
            </a:r>
          </a:p>
          <a:p>
            <a:pPr algn="just">
              <a:buFont typeface="Arial" panose="020B0604020202020204" pitchFamily="34" charset="0"/>
              <a:buChar char="•"/>
            </a:pPr>
            <a:r>
              <a:rPr lang="en-US" sz="2500" dirty="0">
                <a:latin typeface="+mj-lt"/>
              </a:rPr>
              <a:t>Climate action</a:t>
            </a:r>
          </a:p>
          <a:p>
            <a:pPr algn="just">
              <a:buFont typeface="Arial" panose="020B0604020202020204" pitchFamily="34" charset="0"/>
              <a:buChar char="•"/>
            </a:pPr>
            <a:r>
              <a:rPr lang="en-US" sz="2500" dirty="0">
                <a:latin typeface="+mj-lt"/>
              </a:rPr>
              <a:t>Peace, justice and strong institution</a:t>
            </a:r>
          </a:p>
          <a:p>
            <a:pPr algn="just">
              <a:buFont typeface="Arial" panose="020B0604020202020204" pitchFamily="34" charset="0"/>
              <a:buChar char="•"/>
            </a:pPr>
            <a:r>
              <a:rPr lang="en-US" sz="2500" dirty="0">
                <a:latin typeface="+mj-lt"/>
              </a:rPr>
              <a:t>Partnership for the goals</a:t>
            </a:r>
          </a:p>
        </p:txBody>
      </p:sp>
    </p:spTree>
    <p:extLst>
      <p:ext uri="{BB962C8B-B14F-4D97-AF65-F5344CB8AC3E}">
        <p14:creationId xmlns:p14="http://schemas.microsoft.com/office/powerpoint/2010/main" val="3131013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D1333D-60C6-9B11-3B4F-F34EE83CB7A0}"/>
              </a:ext>
            </a:extLst>
          </p:cNvPr>
          <p:cNvPicPr>
            <a:picLocks noGrp="1" noChangeAspect="1"/>
          </p:cNvPicPr>
          <p:nvPr>
            <p:ph idx="1"/>
          </p:nvPr>
        </p:nvPicPr>
        <p:blipFill>
          <a:blip r:embed="rId2"/>
          <a:stretch>
            <a:fillRect/>
          </a:stretch>
        </p:blipFill>
        <p:spPr>
          <a:xfrm>
            <a:off x="382228" y="382132"/>
            <a:ext cx="11631581" cy="5804136"/>
          </a:xfrm>
        </p:spPr>
      </p:pic>
    </p:spTree>
    <p:extLst>
      <p:ext uri="{BB962C8B-B14F-4D97-AF65-F5344CB8AC3E}">
        <p14:creationId xmlns:p14="http://schemas.microsoft.com/office/powerpoint/2010/main" val="764121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50BCF-EDB1-3EB4-EDA5-709D410BFCBA}"/>
              </a:ext>
            </a:extLst>
          </p:cNvPr>
          <p:cNvSpPr>
            <a:spLocks noGrp="1"/>
          </p:cNvSpPr>
          <p:nvPr>
            <p:ph idx="1"/>
          </p:nvPr>
        </p:nvSpPr>
        <p:spPr>
          <a:xfrm>
            <a:off x="856184" y="2011680"/>
            <a:ext cx="10479631" cy="4020953"/>
          </a:xfrm>
        </p:spPr>
        <p:txBody>
          <a:bodyPr>
            <a:normAutofit/>
          </a:bodyPr>
          <a:lstStyle/>
          <a:p>
            <a:pPr algn="just"/>
            <a:r>
              <a:rPr lang="en-US" sz="2500" dirty="0"/>
              <a:t>Pakistan has displayed commendable commitment to the 2030 Agenda for Sustainable Development as it was one of the first countries to endorse it globally in 2015.</a:t>
            </a:r>
          </a:p>
          <a:p>
            <a:pPr algn="just"/>
            <a:r>
              <a:rPr lang="en-US" sz="2500" dirty="0"/>
              <a:t>On 16th February 2016, the Parliament approved the SDGs as the national development agenda. It also formed the Parliamentary SDGs Secretariat based at the National Assembly (one of the few countries to do so) </a:t>
            </a:r>
          </a:p>
          <a:p>
            <a:pPr algn="just"/>
            <a:r>
              <a:rPr lang="en-US" sz="2500" dirty="0"/>
              <a:t>The process of localizing the SDGs in Pakistan has been more than just agreeing to formal arrangements with government partners. It has also been an inclusive process relying on evidence-based solutions to transform abstract SDG aspirations into real and objective targets for all stakeholders.</a:t>
            </a:r>
            <a:endParaRPr lang="en-US" dirty="0"/>
          </a:p>
        </p:txBody>
      </p:sp>
    </p:spTree>
    <p:extLst>
      <p:ext uri="{BB962C8B-B14F-4D97-AF65-F5344CB8AC3E}">
        <p14:creationId xmlns:p14="http://schemas.microsoft.com/office/powerpoint/2010/main" val="2288957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5837E-4B61-865E-C593-2D3595F34FC2}"/>
              </a:ext>
            </a:extLst>
          </p:cNvPr>
          <p:cNvSpPr>
            <a:spLocks noGrp="1"/>
          </p:cNvSpPr>
          <p:nvPr>
            <p:ph type="title"/>
          </p:nvPr>
        </p:nvSpPr>
        <p:spPr>
          <a:xfrm>
            <a:off x="1024127" y="334959"/>
            <a:ext cx="9720072" cy="1499616"/>
          </a:xfrm>
        </p:spPr>
        <p:txBody>
          <a:bodyPr/>
          <a:lstStyle/>
          <a:p>
            <a:pPr algn="ctr"/>
            <a:r>
              <a:rPr lang="en-US" dirty="0"/>
              <a:t>MAIN DEVELOPMENTAL GOALS</a:t>
            </a:r>
          </a:p>
        </p:txBody>
      </p:sp>
      <p:sp>
        <p:nvSpPr>
          <p:cNvPr id="3" name="Content Placeholder 2">
            <a:extLst>
              <a:ext uri="{FF2B5EF4-FFF2-40B4-BE49-F238E27FC236}">
                <a16:creationId xmlns:a16="http://schemas.microsoft.com/office/drawing/2014/main" id="{BCA9B832-0B00-D2FF-FF3F-F53A5CECDCC4}"/>
              </a:ext>
            </a:extLst>
          </p:cNvPr>
          <p:cNvSpPr>
            <a:spLocks noGrp="1"/>
          </p:cNvSpPr>
          <p:nvPr>
            <p:ph idx="1"/>
          </p:nvPr>
        </p:nvSpPr>
        <p:spPr>
          <a:xfrm>
            <a:off x="890577" y="1767198"/>
            <a:ext cx="9987173" cy="4224528"/>
          </a:xfrm>
        </p:spPr>
        <p:txBody>
          <a:bodyPr>
            <a:noAutofit/>
          </a:bodyPr>
          <a:lstStyle/>
          <a:p>
            <a:pPr>
              <a:buFont typeface="Arial" panose="020B0604020202020204" pitchFamily="34" charset="0"/>
              <a:buChar char="•"/>
            </a:pPr>
            <a:r>
              <a:rPr lang="en-US" sz="2500" dirty="0"/>
              <a:t>The SDGs work in the spirit of partnership and pragmatism to make the right choices now to improve life, in a sustainable way, for future generations.</a:t>
            </a:r>
          </a:p>
          <a:p>
            <a:pPr>
              <a:buFont typeface="Arial" panose="020B0604020202020204" pitchFamily="34" charset="0"/>
              <a:buChar char="•"/>
            </a:pPr>
            <a:r>
              <a:rPr lang="en-US" sz="2500" dirty="0"/>
              <a:t>They provide clear guidelines and targets for all countries to adopt in accordance with their own priorities and the environmental challenges of the world at large.</a:t>
            </a:r>
          </a:p>
          <a:p>
            <a:pPr>
              <a:buFont typeface="Arial" panose="020B0604020202020204" pitchFamily="34" charset="0"/>
              <a:buChar char="•"/>
            </a:pPr>
            <a:r>
              <a:rPr lang="en-US" sz="2500" dirty="0"/>
              <a:t>They tackle the root causes of poverty and unite us together to make a positive change for both people and planet. Poverty eradication is at the heart of the 2030 Agenda, and so is the commitment to leave no-one behind.</a:t>
            </a:r>
          </a:p>
          <a:p>
            <a:pPr>
              <a:buFont typeface="Arial" panose="020B0604020202020204" pitchFamily="34" charset="0"/>
              <a:buChar char="•"/>
            </a:pPr>
            <a:r>
              <a:rPr lang="en-US" sz="2500" dirty="0"/>
              <a:t>Dealing with the threat of climate change impacts how we manage our fragile natural resources, achieving gender equality or better health helps eradicate poverty, and fostering peace and inclusive societies will reduce inequalities and help economies prosper.</a:t>
            </a:r>
          </a:p>
        </p:txBody>
      </p:sp>
    </p:spTree>
    <p:extLst>
      <p:ext uri="{BB962C8B-B14F-4D97-AF65-F5344CB8AC3E}">
        <p14:creationId xmlns:p14="http://schemas.microsoft.com/office/powerpoint/2010/main" val="4219744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1A48-BDD5-6AAF-641C-59C1A11A0823}"/>
              </a:ext>
            </a:extLst>
          </p:cNvPr>
          <p:cNvSpPr>
            <a:spLocks noGrp="1"/>
          </p:cNvSpPr>
          <p:nvPr>
            <p:ph type="title"/>
          </p:nvPr>
        </p:nvSpPr>
        <p:spPr/>
        <p:txBody>
          <a:bodyPr>
            <a:normAutofit/>
          </a:bodyPr>
          <a:lstStyle/>
          <a:p>
            <a:pPr algn="ctr"/>
            <a:r>
              <a:rPr lang="en-US" dirty="0">
                <a:effectLst/>
                <a:ea typeface="Calibri" panose="020F0502020204030204" pitchFamily="34" charset="0"/>
                <a:cs typeface="Arial" panose="020B0604020202020204" pitchFamily="34" charset="0"/>
              </a:rPr>
              <a:t>Role of Pakistan in global peace &amp; security</a:t>
            </a:r>
            <a:endParaRPr lang="en-US" dirty="0"/>
          </a:p>
        </p:txBody>
      </p:sp>
      <p:sp>
        <p:nvSpPr>
          <p:cNvPr id="3" name="Content Placeholder 2">
            <a:extLst>
              <a:ext uri="{FF2B5EF4-FFF2-40B4-BE49-F238E27FC236}">
                <a16:creationId xmlns:a16="http://schemas.microsoft.com/office/drawing/2014/main" id="{3E410A66-E2DA-88CB-4443-A9F3DFF1D613}"/>
              </a:ext>
            </a:extLst>
          </p:cNvPr>
          <p:cNvSpPr>
            <a:spLocks noGrp="1"/>
          </p:cNvSpPr>
          <p:nvPr>
            <p:ph idx="1"/>
          </p:nvPr>
        </p:nvSpPr>
        <p:spPr>
          <a:xfrm>
            <a:off x="1066800" y="1796074"/>
            <a:ext cx="10058400" cy="3851787"/>
          </a:xfrm>
        </p:spPr>
        <p:txBody>
          <a:bodyPr>
            <a:noAutofit/>
          </a:bodyPr>
          <a:lstStyle/>
          <a:p>
            <a:pPr marL="0" marR="0" lvl="0" indent="0" algn="just" rtl="0">
              <a:spcBef>
                <a:spcPts val="0"/>
              </a:spcBef>
              <a:spcAft>
                <a:spcPts val="800"/>
              </a:spcAft>
              <a:buNone/>
            </a:pPr>
            <a:r>
              <a:rPr lang="en-GB" sz="2500" dirty="0">
                <a:latin typeface="+mj-lt"/>
              </a:rPr>
              <a:t>Global Peace System is a concept of global conflict resolution dependent on nonviolent processes to eradicate war. It relies upon a multi-strand approach to conflict resolution, incorporating broad social and political solutions.</a:t>
            </a:r>
            <a:endParaRPr lang="en-US" sz="2500" b="1" dirty="0">
              <a:effectLst/>
              <a:latin typeface="+mj-lt"/>
              <a:ea typeface="Calibri" panose="020F0502020204030204" pitchFamily="34" charset="0"/>
              <a:cs typeface="Arial" panose="020B0604020202020204" pitchFamily="34" charset="0"/>
            </a:endParaRPr>
          </a:p>
          <a:p>
            <a:pPr marL="0" marR="0" lvl="0" indent="0" rtl="0">
              <a:spcBef>
                <a:spcPts val="0"/>
              </a:spcBef>
              <a:spcAft>
                <a:spcPts val="800"/>
              </a:spcAft>
              <a:buNone/>
            </a:pPr>
            <a:r>
              <a:rPr lang="en-US" sz="2500" b="1" dirty="0">
                <a:effectLst/>
                <a:latin typeface="+mj-lt"/>
                <a:ea typeface="Calibri" panose="020F0502020204030204" pitchFamily="34" charset="0"/>
                <a:cs typeface="Arial" panose="020B0604020202020204" pitchFamily="34" charset="0"/>
              </a:rPr>
              <a:t>Aims &amp; Objectives</a:t>
            </a:r>
          </a:p>
          <a:p>
            <a:pPr marL="0" marR="0" indent="0" algn="just">
              <a:spcBef>
                <a:spcPts val="0"/>
              </a:spcBef>
              <a:spcAft>
                <a:spcPts val="800"/>
              </a:spcAft>
              <a:buNone/>
            </a:pPr>
            <a:r>
              <a:rPr lang="en-US" sz="2500" dirty="0">
                <a:effectLst/>
                <a:latin typeface="+mj-lt"/>
                <a:ea typeface="Calibri" panose="020F0502020204030204" pitchFamily="34" charset="0"/>
                <a:cs typeface="Arial" panose="020B0604020202020204" pitchFamily="34" charset="0"/>
              </a:rPr>
              <a:t>Pakistan's foreign policy seeks to protect, promote and advance Pakistan's national interests in the external domain.</a:t>
            </a:r>
          </a:p>
          <a:p>
            <a:pPr marL="0" marR="0" lvl="0" indent="0">
              <a:spcBef>
                <a:spcPts val="0"/>
              </a:spcBef>
              <a:spcAft>
                <a:spcPts val="0"/>
              </a:spcAft>
              <a:buNone/>
            </a:pPr>
            <a:r>
              <a:rPr lang="en-US" sz="2500" b="1" dirty="0">
                <a:effectLst/>
                <a:latin typeface="+mj-lt"/>
                <a:ea typeface="Calibri" panose="020F0502020204030204" pitchFamily="34" charset="0"/>
                <a:cs typeface="Arial" panose="020B0604020202020204" pitchFamily="34" charset="0"/>
              </a:rPr>
              <a:t>Article 40 of the constitution</a:t>
            </a:r>
          </a:p>
          <a:p>
            <a:pPr marL="342900" marR="0" lvl="0" indent="-342900">
              <a:spcBef>
                <a:spcPts val="0"/>
              </a:spcBef>
              <a:spcAft>
                <a:spcPts val="0"/>
              </a:spcAft>
              <a:buFont typeface="Symbol" panose="05050102010706020507" pitchFamily="18" charset="2"/>
              <a:buChar char=""/>
            </a:pPr>
            <a:r>
              <a:rPr lang="en-US" sz="2500" dirty="0">
                <a:effectLst/>
                <a:latin typeface="+mj-lt"/>
                <a:ea typeface="Calibri" panose="020F0502020204030204" pitchFamily="34" charset="0"/>
                <a:cs typeface="Arial" panose="020B0604020202020204" pitchFamily="34" charset="0"/>
              </a:rPr>
              <a:t>The state shall endeavor to preserve and strengthen fraternal relations among muslim countries based on islamic unity.</a:t>
            </a:r>
          </a:p>
          <a:p>
            <a:pPr marL="342900" marR="0" lvl="0" indent="-342900">
              <a:spcBef>
                <a:spcPts val="0"/>
              </a:spcBef>
              <a:spcAft>
                <a:spcPts val="0"/>
              </a:spcAft>
              <a:buFont typeface="Symbol" panose="05050102010706020507" pitchFamily="18" charset="2"/>
              <a:buChar char=""/>
            </a:pPr>
            <a:r>
              <a:rPr lang="en-US" sz="2500" dirty="0">
                <a:effectLst/>
                <a:latin typeface="+mj-lt"/>
                <a:ea typeface="Calibri" panose="020F0502020204030204" pitchFamily="34" charset="0"/>
                <a:cs typeface="Arial" panose="020B0604020202020204" pitchFamily="34" charset="0"/>
              </a:rPr>
              <a:t>Support the common interests of the peoples of Asia, Africa and Latin</a:t>
            </a:r>
          </a:p>
          <a:p>
            <a:pPr marL="342900" marR="0" lvl="0" indent="-342900">
              <a:spcBef>
                <a:spcPts val="0"/>
              </a:spcBef>
              <a:spcAft>
                <a:spcPts val="800"/>
              </a:spcAft>
              <a:buFont typeface="Symbol" panose="05050102010706020507" pitchFamily="18" charset="2"/>
              <a:buChar char=""/>
            </a:pPr>
            <a:r>
              <a:rPr lang="en-US" sz="2500" dirty="0">
                <a:effectLst/>
                <a:latin typeface="+mj-lt"/>
                <a:ea typeface="Calibri" panose="020F0502020204030204" pitchFamily="34" charset="0"/>
                <a:cs typeface="Arial" panose="020B0604020202020204" pitchFamily="34" charset="0"/>
              </a:rPr>
              <a:t>America promote international peace and security, foster goodwill and friendly relations among all nations and encourage the settlement of international disputes by peaceful means.</a:t>
            </a:r>
          </a:p>
        </p:txBody>
      </p:sp>
    </p:spTree>
    <p:extLst>
      <p:ext uri="{BB962C8B-B14F-4D97-AF65-F5344CB8AC3E}">
        <p14:creationId xmlns:p14="http://schemas.microsoft.com/office/powerpoint/2010/main" val="327846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DD11-5179-403B-D7E8-2216C0AF3ECE}"/>
              </a:ext>
            </a:extLst>
          </p:cNvPr>
          <p:cNvSpPr>
            <a:spLocks noGrp="1"/>
          </p:cNvSpPr>
          <p:nvPr>
            <p:ph type="title"/>
          </p:nvPr>
        </p:nvSpPr>
        <p:spPr/>
        <p:txBody>
          <a:bodyPr>
            <a:normAutofit/>
          </a:bodyPr>
          <a:lstStyle/>
          <a:p>
            <a:pPr algn="ctr"/>
            <a:r>
              <a:rPr lang="en-US" dirty="0">
                <a:effectLst/>
                <a:ea typeface="Calibri" panose="020F0502020204030204" pitchFamily="34" charset="0"/>
                <a:cs typeface="Arial" panose="020B0604020202020204" pitchFamily="34" charset="0"/>
              </a:rPr>
              <a:t>MEMBER OF UNITED NATION</a:t>
            </a:r>
            <a:r>
              <a:rPr lang="en-US" dirty="0">
                <a:ea typeface="Calibri" panose="020F0502020204030204" pitchFamily="34" charset="0"/>
                <a:cs typeface="Arial" panose="020B0604020202020204" pitchFamily="34" charset="0"/>
              </a:rPr>
              <a:t>s</a:t>
            </a:r>
            <a:endParaRPr lang="en-US" dirty="0"/>
          </a:p>
        </p:txBody>
      </p:sp>
      <p:graphicFrame>
        <p:nvGraphicFramePr>
          <p:cNvPr id="5" name="Content Placeholder 2">
            <a:extLst>
              <a:ext uri="{FF2B5EF4-FFF2-40B4-BE49-F238E27FC236}">
                <a16:creationId xmlns:a16="http://schemas.microsoft.com/office/drawing/2014/main" id="{9761B2F6-432A-201E-9993-CF56EB0F5BA0}"/>
              </a:ext>
            </a:extLst>
          </p:cNvPr>
          <p:cNvGraphicFramePr>
            <a:graphicFrameLocks noGrp="1"/>
          </p:cNvGraphicFramePr>
          <p:nvPr>
            <p:ph idx="1"/>
            <p:extLst>
              <p:ext uri="{D42A27DB-BD31-4B8C-83A1-F6EECF244321}">
                <p14:modId xmlns:p14="http://schemas.microsoft.com/office/powerpoint/2010/main" val="4029404628"/>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1892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BB681-D1B4-06FE-11C1-B0F55A880B41}"/>
              </a:ext>
            </a:extLst>
          </p:cNvPr>
          <p:cNvSpPr>
            <a:spLocks noGrp="1"/>
          </p:cNvSpPr>
          <p:nvPr>
            <p:ph idx="1"/>
          </p:nvPr>
        </p:nvSpPr>
        <p:spPr>
          <a:xfrm>
            <a:off x="1024128" y="1376413"/>
            <a:ext cx="9720073" cy="4932947"/>
          </a:xfrm>
        </p:spPr>
        <p:txBody>
          <a:bodyPr anchor="ctr">
            <a:normAutofit/>
          </a:bodyPr>
          <a:lstStyle/>
          <a:p>
            <a:pPr marL="342900" marR="0" lvl="0" indent="-342900" rtl="0">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Pakistan participated in 43 peacekeeping missions in 26 countries, with over 172,000 peacekeepers including 400 women. </a:t>
            </a:r>
          </a:p>
          <a:p>
            <a:pPr marL="342900" marR="0" lvl="0" indent="-342900">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A total of 157 Pakistani UN peacekeepers have laid down their lives in the line of duty. </a:t>
            </a:r>
          </a:p>
          <a:p>
            <a:pPr marL="342900" marR="0" lvl="0" indent="-342900">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June 5 is commemorated as Pakistani Peacekeepers Day.</a:t>
            </a:r>
          </a:p>
          <a:p>
            <a:pPr marL="342900" marR="0" lvl="0" indent="-342900">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Currently, over 7000 Pakistani peacekeepers including more than 6,000 armed forces personnel; over 70 military experts; around 66 staff officers; UN peacekeeping missions. </a:t>
            </a:r>
          </a:p>
          <a:p>
            <a:pPr marL="342900" marR="0" lvl="0" indent="-342900">
              <a:spcBef>
                <a:spcPts val="0"/>
              </a:spcBef>
              <a:spcAft>
                <a:spcPts val="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Pakistan is signatory to a large number of UN and international conventions related to global peace and prosperity. </a:t>
            </a:r>
          </a:p>
          <a:p>
            <a:pPr marL="342900" marR="0" lvl="0" indent="-342900">
              <a:spcBef>
                <a:spcPts val="0"/>
              </a:spcBef>
              <a:spcAft>
                <a:spcPts val="800"/>
              </a:spcAft>
              <a:buFont typeface="Symbol" panose="05050102010706020507" pitchFamily="18" charset="2"/>
              <a:buChar char=""/>
            </a:pPr>
            <a:r>
              <a:rPr lang="en-US" sz="2500" dirty="0">
                <a:effectLst/>
                <a:latin typeface="Calibri" panose="020F0502020204030204" pitchFamily="34" charset="0"/>
                <a:ea typeface="Calibri" panose="020F0502020204030204" pitchFamily="34" charset="0"/>
                <a:cs typeface="Arial" panose="020B0604020202020204" pitchFamily="34" charset="0"/>
              </a:rPr>
              <a:t>Pakistan provides leadership and useful policy contributions for several issues faced by humanity, from human rights to the environment.</a:t>
            </a:r>
          </a:p>
        </p:txBody>
      </p:sp>
    </p:spTree>
    <p:extLst>
      <p:ext uri="{BB962C8B-B14F-4D97-AF65-F5344CB8AC3E}">
        <p14:creationId xmlns:p14="http://schemas.microsoft.com/office/powerpoint/2010/main" val="2561088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7053C-3534-F0B6-24FB-6EAB4E6BBA1A}"/>
              </a:ext>
            </a:extLst>
          </p:cNvPr>
          <p:cNvSpPr>
            <a:spLocks noGrp="1"/>
          </p:cNvSpPr>
          <p:nvPr>
            <p:ph type="title"/>
          </p:nvPr>
        </p:nvSpPr>
        <p:spPr/>
        <p:txBody>
          <a:bodyPr>
            <a:noAutofit/>
          </a:bodyPr>
          <a:lstStyle/>
          <a:p>
            <a:pPr algn="ctr"/>
            <a:r>
              <a:rPr lang="en-US" b="1" dirty="0">
                <a:effectLst/>
                <a:ea typeface="Calibri" panose="020F0502020204030204" pitchFamily="34" charset="0"/>
                <a:cs typeface="Arial" panose="020B0604020202020204" pitchFamily="34" charset="0"/>
              </a:rPr>
              <a:t>CIPS</a:t>
            </a:r>
            <a:br>
              <a:rPr lang="en-US" b="1" dirty="0">
                <a:effectLst/>
                <a:ea typeface="Calibri" panose="020F0502020204030204" pitchFamily="34" charset="0"/>
                <a:cs typeface="Arial" panose="020B0604020202020204" pitchFamily="34" charset="0"/>
              </a:rPr>
            </a:br>
            <a:r>
              <a:rPr lang="en-US" b="1" dirty="0">
                <a:effectLst/>
                <a:ea typeface="Calibri" panose="020F0502020204030204" pitchFamily="34" charset="0"/>
                <a:cs typeface="Arial" panose="020B0604020202020204" pitchFamily="34" charset="0"/>
              </a:rPr>
              <a:t>(Center of International peacekeeper Stability)</a:t>
            </a:r>
            <a:endParaRPr lang="en-US" dirty="0"/>
          </a:p>
        </p:txBody>
      </p:sp>
      <p:graphicFrame>
        <p:nvGraphicFramePr>
          <p:cNvPr id="5" name="Content Placeholder 2">
            <a:extLst>
              <a:ext uri="{FF2B5EF4-FFF2-40B4-BE49-F238E27FC236}">
                <a16:creationId xmlns:a16="http://schemas.microsoft.com/office/drawing/2014/main" id="{9AF524BB-4833-E116-9804-66BC84B4ED30}"/>
              </a:ext>
            </a:extLst>
          </p:cNvPr>
          <p:cNvGraphicFramePr>
            <a:graphicFrameLocks noGrp="1"/>
          </p:cNvGraphicFramePr>
          <p:nvPr>
            <p:ph idx="1"/>
            <p:extLst>
              <p:ext uri="{D42A27DB-BD31-4B8C-83A1-F6EECF244321}">
                <p14:modId xmlns:p14="http://schemas.microsoft.com/office/powerpoint/2010/main" val="1010932537"/>
              </p:ext>
            </p:extLst>
          </p:nvPr>
        </p:nvGraphicFramePr>
        <p:xfrm>
          <a:off x="1069975" y="2385390"/>
          <a:ext cx="10058400" cy="36303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3483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31FF2-5FFA-9035-C2AD-7E82E4556D21}"/>
              </a:ext>
            </a:extLst>
          </p:cNvPr>
          <p:cNvSpPr>
            <a:spLocks noGrp="1"/>
          </p:cNvSpPr>
          <p:nvPr>
            <p:ph type="title"/>
          </p:nvPr>
        </p:nvSpPr>
        <p:spPr/>
        <p:txBody>
          <a:bodyPr>
            <a:normAutofit/>
          </a:bodyPr>
          <a:lstStyle/>
          <a:p>
            <a:pPr algn="ctr"/>
            <a:r>
              <a:rPr lang="en-US" dirty="0">
                <a:effectLst/>
                <a:ea typeface="Calibri" panose="020F0502020204030204" pitchFamily="34" charset="0"/>
                <a:cs typeface="Arial" panose="020B0604020202020204" pitchFamily="34" charset="0"/>
              </a:rPr>
              <a:t>Geo Strategic problems</a:t>
            </a:r>
            <a:endParaRPr lang="en-US" dirty="0"/>
          </a:p>
        </p:txBody>
      </p:sp>
      <p:graphicFrame>
        <p:nvGraphicFramePr>
          <p:cNvPr id="5" name="Content Placeholder 2">
            <a:extLst>
              <a:ext uri="{FF2B5EF4-FFF2-40B4-BE49-F238E27FC236}">
                <a16:creationId xmlns:a16="http://schemas.microsoft.com/office/drawing/2014/main" id="{40FA123A-21F0-7574-640A-7DA40136B430}"/>
              </a:ext>
            </a:extLst>
          </p:cNvPr>
          <p:cNvGraphicFramePr>
            <a:graphicFrameLocks noGrp="1"/>
          </p:cNvGraphicFramePr>
          <p:nvPr>
            <p:ph idx="1"/>
            <p:extLst>
              <p:ext uri="{D42A27DB-BD31-4B8C-83A1-F6EECF244321}">
                <p14:modId xmlns:p14="http://schemas.microsoft.com/office/powerpoint/2010/main" val="161733298"/>
              </p:ext>
            </p:extLst>
          </p:nvPr>
        </p:nvGraphicFramePr>
        <p:xfrm>
          <a:off x="1069975" y="2385390"/>
          <a:ext cx="10058400" cy="36178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2821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55702C3-0D74-61A9-E10B-4425CD8C76AA}"/>
              </a:ext>
            </a:extLst>
          </p:cNvPr>
          <p:cNvPicPr>
            <a:picLocks noChangeAspect="1"/>
          </p:cNvPicPr>
          <p:nvPr/>
        </p:nvPicPr>
        <p:blipFill rotWithShape="1">
          <a:blip r:embed="rId2"/>
          <a:srcRect r="4274" b="3"/>
          <a:stretch/>
        </p:blipFill>
        <p:spPr>
          <a:xfrm>
            <a:off x="6096000" y="1033448"/>
            <a:ext cx="5088800" cy="4791104"/>
          </a:xfrm>
          <a:prstGeom prst="rect">
            <a:avLst/>
          </a:prstGeom>
        </p:spPr>
      </p:pic>
      <p:sp>
        <p:nvSpPr>
          <p:cNvPr id="3" name="Text Placeholder 2">
            <a:extLst>
              <a:ext uri="{FF2B5EF4-FFF2-40B4-BE49-F238E27FC236}">
                <a16:creationId xmlns:a16="http://schemas.microsoft.com/office/drawing/2014/main" id="{2E3B831B-818C-4208-A6E0-DF4A943136E5}"/>
              </a:ext>
            </a:extLst>
          </p:cNvPr>
          <p:cNvSpPr>
            <a:spLocks noGrp="1"/>
          </p:cNvSpPr>
          <p:nvPr>
            <p:ph type="body" sz="half" idx="2"/>
          </p:nvPr>
        </p:nvSpPr>
        <p:spPr>
          <a:xfrm>
            <a:off x="1024128" y="1033448"/>
            <a:ext cx="5071872" cy="4986352"/>
          </a:xfrm>
        </p:spPr>
        <p:txBody>
          <a:bodyPr>
            <a:normAutofit/>
          </a:bodyPr>
          <a:lstStyle/>
          <a:p>
            <a:pPr marL="342900" lvl="0" indent="-342900">
              <a:lnSpc>
                <a:spcPct val="107000"/>
              </a:lnSpc>
              <a:spcBef>
                <a:spcPts val="0"/>
              </a:spcBef>
              <a:spcAft>
                <a:spcPts val="0"/>
              </a:spcAft>
              <a:buFont typeface="Symbol" panose="05050102010706020507" pitchFamily="18" charset="2"/>
              <a:buChar char=""/>
            </a:pPr>
            <a:r>
              <a:rPr lang="en-US" sz="2500" dirty="0">
                <a:solidFill>
                  <a:srgbClr val="000000"/>
                </a:solidFill>
                <a:latin typeface="Calibri" panose="020F0502020204030204" pitchFamily="34" charset="0"/>
                <a:ea typeface="Calibri" panose="020F0502020204030204" pitchFamily="34" charset="0"/>
                <a:cs typeface="Arial" panose="020B0604020202020204" pitchFamily="34" charset="0"/>
              </a:rPr>
              <a:t>Unfairly portrayed in world media</a:t>
            </a:r>
            <a:endParaRPr lang="en-US" sz="25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2500" dirty="0">
                <a:solidFill>
                  <a:srgbClr val="000000"/>
                </a:solidFill>
                <a:latin typeface="Calibri" panose="020F0502020204030204" pitchFamily="34" charset="0"/>
                <a:ea typeface="Calibri" panose="020F0502020204030204" pitchFamily="34" charset="0"/>
                <a:cs typeface="Arial" panose="020B0604020202020204" pitchFamily="34" charset="0"/>
              </a:rPr>
              <a:t>It is at its heart full of inspiring and phenomenal people</a:t>
            </a:r>
            <a:endParaRPr lang="en-US" sz="25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Symbol" panose="05050102010706020507" pitchFamily="18" charset="2"/>
              <a:buChar char=""/>
            </a:pPr>
            <a:r>
              <a:rPr lang="en-US" sz="2500" dirty="0">
                <a:solidFill>
                  <a:srgbClr val="000000"/>
                </a:solidFill>
                <a:latin typeface="Calibri" panose="020F0502020204030204" pitchFamily="34" charset="0"/>
                <a:ea typeface="Calibri" panose="020F0502020204030204" pitchFamily="34" charset="0"/>
                <a:cs typeface="Arial" panose="020B0604020202020204" pitchFamily="34" charset="0"/>
              </a:rPr>
              <a:t>Charles Leadbeater, in an article in the Financial Times once wrote:</a:t>
            </a:r>
          </a:p>
          <a:p>
            <a:pPr marR="0" lvl="0" algn="ctr">
              <a:lnSpc>
                <a:spcPct val="107000"/>
              </a:lnSpc>
              <a:spcBef>
                <a:spcPts val="0"/>
              </a:spcBef>
              <a:spcAft>
                <a:spcPts val="800"/>
              </a:spcAft>
            </a:pPr>
            <a:r>
              <a:rPr lang="en-US" sz="2500" i="1" dirty="0">
                <a:solidFill>
                  <a:srgbClr val="000000"/>
                </a:solidFill>
                <a:latin typeface="Calibri" panose="020F0502020204030204" pitchFamily="34" charset="0"/>
                <a:ea typeface="Calibri" panose="020F0502020204030204" pitchFamily="34" charset="0"/>
                <a:cs typeface="Arial" panose="020B0604020202020204" pitchFamily="34" charset="0"/>
              </a:rPr>
              <a:t>“There are hidden forces at work in Pakistan that hold it together and offer it a better future. When government and partners work creatively with these forces, amazing things can happen.”</a:t>
            </a:r>
            <a:endParaRPr lang="en-US" sz="2500" i="1" dirty="0">
              <a:latin typeface="Calibri" panose="020F0502020204030204" pitchFamily="34" charset="0"/>
              <a:ea typeface="Calibri" panose="020F050202020403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2243057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Conceptual Framing</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1667096"/>
            <a:ext cx="9931909" cy="4605688"/>
          </a:xfrm>
        </p:spPr>
        <p:txBody>
          <a:bodyPr>
            <a:noAutofit/>
          </a:bodyPr>
          <a:lstStyle/>
          <a:p>
            <a:pPr>
              <a:buFont typeface="Arial" panose="020B0604020202020204" pitchFamily="34" charset="0"/>
              <a:buChar char="•"/>
            </a:pPr>
            <a:r>
              <a:rPr lang="en-US" sz="2500" dirty="0"/>
              <a:t>Pakistan’s participation in peacekeeping reflects a strategic blend of national interest and normative commitment to collective security under UN</a:t>
            </a:r>
          </a:p>
          <a:p>
            <a:pPr>
              <a:buFont typeface="Arial" panose="020B0604020202020204" pitchFamily="34" charset="0"/>
              <a:buChar char="•"/>
            </a:pPr>
            <a:r>
              <a:rPr lang="en-US" sz="2500" dirty="0"/>
              <a:t>Peacekeeping simultaneously functions as an instrument of foreign policy and global visibility.</a:t>
            </a:r>
          </a:p>
          <a:p>
            <a:pPr>
              <a:buFont typeface="Arial" panose="020B0604020202020204" pitchFamily="34" charset="0"/>
              <a:buChar char="•"/>
            </a:pPr>
            <a:r>
              <a:rPr lang="en-US" sz="2500" dirty="0"/>
              <a:t>From a liberal institutionalist perspective, Pakistan strengthens multilateral cooperation through sustained troop contributions.</a:t>
            </a:r>
          </a:p>
          <a:p>
            <a:pPr>
              <a:buFont typeface="Arial" panose="020B0604020202020204" pitchFamily="34" charset="0"/>
              <a:buChar char="•"/>
            </a:pPr>
            <a:r>
              <a:rPr lang="en-US" sz="2500" dirty="0"/>
              <a:t>From a realist lens, participation enhances strategic leverage and international bargaining power.</a:t>
            </a:r>
          </a:p>
          <a:p>
            <a:pPr>
              <a:buFont typeface="Arial" panose="020B0604020202020204" pitchFamily="34" charset="0"/>
              <a:buChar char="•"/>
            </a:pPr>
            <a:r>
              <a:rPr lang="en-US" sz="2500" dirty="0"/>
              <a:t>Constructivist interpretations suggest that peacekeeping shapes Pakistan’s identity as a responsible and peace-oriented state.</a:t>
            </a:r>
          </a:p>
          <a:p>
            <a:pPr>
              <a:buFont typeface="Arial" panose="020B0604020202020204" pitchFamily="34" charset="0"/>
              <a:buChar char="•"/>
            </a:pPr>
            <a:r>
              <a:rPr lang="en-US" sz="2500" dirty="0"/>
              <a:t>Pakistan’s peacekeeping role operates at the intersection of moral obligation and geopolitical calculation.</a:t>
            </a:r>
          </a:p>
        </p:txBody>
      </p:sp>
    </p:spTree>
    <p:extLst>
      <p:ext uri="{BB962C8B-B14F-4D97-AF65-F5344CB8AC3E}">
        <p14:creationId xmlns:p14="http://schemas.microsoft.com/office/powerpoint/2010/main" val="2229985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Scale and Strategic Depth of Contribution</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1785486"/>
            <a:ext cx="9720073" cy="4023360"/>
          </a:xfrm>
        </p:spPr>
        <p:txBody>
          <a:bodyPr>
            <a:noAutofit/>
          </a:bodyPr>
          <a:lstStyle/>
          <a:p>
            <a:pPr>
              <a:buFont typeface="Arial" panose="020B0604020202020204" pitchFamily="34" charset="0"/>
              <a:buChar char="•"/>
            </a:pPr>
            <a:r>
              <a:rPr lang="en-US" sz="2500" dirty="0"/>
              <a:t>Pakistan’s status as one of the largest troop contributors signals long-term institutional commitment rather than symbolic engagement.</a:t>
            </a:r>
          </a:p>
          <a:p>
            <a:pPr>
              <a:buFont typeface="Arial" panose="020B0604020202020204" pitchFamily="34" charset="0"/>
              <a:buChar char="•"/>
            </a:pPr>
            <a:r>
              <a:rPr lang="en-US" sz="2500" dirty="0"/>
              <a:t>Deployment in regions such as Democratic Republic of the Congo, Liberia, Sierra Leone, Sudan, and South Sudan places Pakistan within complex post-conflict environments that test institutional resilience.</a:t>
            </a:r>
          </a:p>
          <a:p>
            <a:pPr>
              <a:buFont typeface="Arial" panose="020B0604020202020204" pitchFamily="34" charset="0"/>
              <a:buChar char="•"/>
            </a:pPr>
            <a:r>
              <a:rPr lang="en-US" sz="2500" dirty="0"/>
              <a:t>Sustained engagement enhances operational credibility in high-risk zones.</a:t>
            </a:r>
          </a:p>
          <a:p>
            <a:pPr>
              <a:buFont typeface="Arial" panose="020B0604020202020204" pitchFamily="34" charset="0"/>
              <a:buChar char="•"/>
            </a:pPr>
            <a:r>
              <a:rPr lang="en-US" sz="2500" dirty="0"/>
              <a:t>High troop contributions do not automatically translate into proportional political influence within UN decision-making bodies.</a:t>
            </a:r>
          </a:p>
          <a:p>
            <a:pPr>
              <a:buFont typeface="Arial" panose="020B0604020202020204" pitchFamily="34" charset="0"/>
              <a:buChar char="•"/>
            </a:pPr>
            <a:r>
              <a:rPr lang="en-US" sz="2500" dirty="0"/>
              <a:t>This imbalance reflects structural inequalities in global governance.</a:t>
            </a:r>
          </a:p>
          <a:p>
            <a:pPr>
              <a:buFont typeface="Arial" panose="020B0604020202020204" pitchFamily="34" charset="0"/>
              <a:buChar char="•"/>
            </a:pPr>
            <a:r>
              <a:rPr lang="en-US" sz="2500" dirty="0"/>
              <a:t>Pakistan contributes extensively at the operational level but remains constrained at the strategic policy level.</a:t>
            </a:r>
          </a:p>
        </p:txBody>
      </p:sp>
    </p:spTree>
    <p:extLst>
      <p:ext uri="{BB962C8B-B14F-4D97-AF65-F5344CB8AC3E}">
        <p14:creationId xmlns:p14="http://schemas.microsoft.com/office/powerpoint/2010/main" val="2645638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Impact on Global Peace Architecture</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Pakistan’s peacekeepers contribute to ceasefire monitoring, civilian protection, and stabilization in fragile states.</a:t>
            </a:r>
          </a:p>
          <a:p>
            <a:pPr>
              <a:buFont typeface="Arial" panose="020B0604020202020204" pitchFamily="34" charset="0"/>
              <a:buChar char="•"/>
            </a:pPr>
            <a:r>
              <a:rPr lang="en-US" dirty="0"/>
              <a:t>These efforts reinforce the legitimacy of multilateral peace enforcement mechanisms.</a:t>
            </a:r>
          </a:p>
          <a:p>
            <a:pPr>
              <a:buFont typeface="Arial" panose="020B0604020202020204" pitchFamily="34" charset="0"/>
              <a:buChar char="•"/>
            </a:pPr>
            <a:r>
              <a:rPr lang="en-US" dirty="0"/>
              <a:t>By preventing conflict relapse, Pakistan indirectly supports global economic and political stability.</a:t>
            </a:r>
          </a:p>
          <a:p>
            <a:pPr>
              <a:buFont typeface="Arial" panose="020B0604020202020204" pitchFamily="34" charset="0"/>
              <a:buChar char="•"/>
            </a:pPr>
            <a:r>
              <a:rPr lang="en-US" dirty="0"/>
              <a:t>Peacekeeping missions often operate within mandates limited by geopolitical rivalries among major powers.</a:t>
            </a:r>
          </a:p>
          <a:p>
            <a:pPr>
              <a:buFont typeface="Arial" panose="020B0604020202020204" pitchFamily="34" charset="0"/>
              <a:buChar char="•"/>
            </a:pPr>
            <a:r>
              <a:rPr lang="en-US" dirty="0"/>
              <a:t>Pakistan’s effectiveness is partly shaped by broader power politics within the international system.</a:t>
            </a:r>
          </a:p>
          <a:p>
            <a:pPr>
              <a:buFont typeface="Arial" panose="020B0604020202020204" pitchFamily="34" charset="0"/>
              <a:buChar char="•"/>
            </a:pPr>
            <a:r>
              <a:rPr lang="en-US" dirty="0"/>
              <a:t>This highlights the structural limitations of peacekeeping as a tool of global governance.</a:t>
            </a:r>
          </a:p>
        </p:txBody>
      </p:sp>
    </p:spTree>
    <p:extLst>
      <p:ext uri="{BB962C8B-B14F-4D97-AF65-F5344CB8AC3E}">
        <p14:creationId xmlns:p14="http://schemas.microsoft.com/office/powerpoint/2010/main" val="1319371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Enhancement of International Reputation</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024128" y="1901952"/>
            <a:ext cx="10143744" cy="4023360"/>
          </a:xfrm>
        </p:spPr>
        <p:txBody>
          <a:bodyPr>
            <a:noAutofit/>
          </a:bodyPr>
          <a:lstStyle/>
          <a:p>
            <a:pPr>
              <a:buFont typeface="Arial" panose="020B0604020202020204" pitchFamily="34" charset="0"/>
              <a:buChar char="•"/>
            </a:pPr>
            <a:r>
              <a:rPr lang="en-US" sz="2500" dirty="0"/>
              <a:t>Peacekeeping strengthens Pakistan’s image as a constructive global actor despite regional security challenges.</a:t>
            </a:r>
          </a:p>
          <a:p>
            <a:pPr>
              <a:buFont typeface="Arial" panose="020B0604020202020204" pitchFamily="34" charset="0"/>
              <a:buChar char="•"/>
            </a:pPr>
            <a:r>
              <a:rPr lang="en-US" sz="2500" dirty="0"/>
              <a:t>It functions as a soft power resource that improves diplomatic standing in multilateral forums.</a:t>
            </a:r>
          </a:p>
          <a:p>
            <a:pPr>
              <a:buFont typeface="Arial" panose="020B0604020202020204" pitchFamily="34" charset="0"/>
              <a:buChar char="•"/>
            </a:pPr>
            <a:r>
              <a:rPr lang="en-US" sz="2500" dirty="0"/>
              <a:t>The humanitarian narrative associated with peacekeeping counters stereotypes linking Pakistan solely to conflict zones.</a:t>
            </a:r>
          </a:p>
          <a:p>
            <a:pPr>
              <a:buFont typeface="Arial" panose="020B0604020202020204" pitchFamily="34" charset="0"/>
              <a:buChar char="•"/>
            </a:pPr>
            <a:r>
              <a:rPr lang="en-US" sz="2500" dirty="0"/>
              <a:t>Global recognition often remains limited compared to major powers with smaller troop contributions but larger financial stakes.</a:t>
            </a:r>
          </a:p>
          <a:p>
            <a:pPr>
              <a:buFont typeface="Arial" panose="020B0604020202020204" pitchFamily="34" charset="0"/>
              <a:buChar char="•"/>
            </a:pPr>
            <a:r>
              <a:rPr lang="en-US" sz="2500" dirty="0"/>
              <a:t>This disparity reveals the political hierarchy embedded within international institutions.</a:t>
            </a:r>
          </a:p>
          <a:p>
            <a:pPr>
              <a:buFont typeface="Arial" panose="020B0604020202020204" pitchFamily="34" charset="0"/>
              <a:buChar char="•"/>
            </a:pPr>
            <a:r>
              <a:rPr lang="en-US" sz="2500" dirty="0"/>
              <a:t>Reputational gains exist but are moderated by structural power asymmetries.</a:t>
            </a:r>
          </a:p>
        </p:txBody>
      </p:sp>
    </p:spTree>
    <p:extLst>
      <p:ext uri="{BB962C8B-B14F-4D97-AF65-F5344CB8AC3E}">
        <p14:creationId xmlns:p14="http://schemas.microsoft.com/office/powerpoint/2010/main" val="420223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a:xfrm>
            <a:off x="1024128" y="585216"/>
            <a:ext cx="10680192" cy="1499616"/>
          </a:xfrm>
        </p:spPr>
        <p:txBody>
          <a:bodyPr/>
          <a:lstStyle/>
          <a:p>
            <a:pPr algn="ctr"/>
            <a:r>
              <a:rPr lang="en-US" dirty="0"/>
              <a:t>Domestic Institutional &amp; Military Implications</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2084832"/>
            <a:ext cx="9720073" cy="4023360"/>
          </a:xfrm>
        </p:spPr>
        <p:txBody>
          <a:bodyPr>
            <a:noAutofit/>
          </a:bodyPr>
          <a:lstStyle/>
          <a:p>
            <a:pPr>
              <a:buFont typeface="Arial" panose="020B0604020202020204" pitchFamily="34" charset="0"/>
              <a:buChar char="•"/>
            </a:pPr>
            <a:r>
              <a:rPr lang="en-US" sz="2500" dirty="0"/>
              <a:t>Participation enhances professional competence, interoperability, and strategic exposure of Pakistan’s armed forces.</a:t>
            </a:r>
          </a:p>
          <a:p>
            <a:pPr>
              <a:buFont typeface="Arial" panose="020B0604020202020204" pitchFamily="34" charset="0"/>
              <a:buChar char="•"/>
            </a:pPr>
            <a:r>
              <a:rPr lang="en-US" sz="2500" dirty="0"/>
              <a:t>Experience in multinational coordination strengthens crisis response capabilities.</a:t>
            </a:r>
          </a:p>
          <a:p>
            <a:pPr>
              <a:buFont typeface="Arial" panose="020B0604020202020204" pitchFamily="34" charset="0"/>
              <a:buChar char="•"/>
            </a:pPr>
            <a:r>
              <a:rPr lang="en-US" sz="2500" dirty="0"/>
              <a:t>Peacekeeping fosters modernization in training and doctrine development.</a:t>
            </a:r>
          </a:p>
          <a:p>
            <a:pPr>
              <a:buFont typeface="Arial" panose="020B0604020202020204" pitchFamily="34" charset="0"/>
              <a:buChar char="•"/>
            </a:pPr>
            <a:r>
              <a:rPr lang="en-US" sz="2500" dirty="0"/>
              <a:t>Extended deployments can strain domestic security resources.</a:t>
            </a:r>
          </a:p>
          <a:p>
            <a:pPr>
              <a:buFont typeface="Arial" panose="020B0604020202020204" pitchFamily="34" charset="0"/>
              <a:buChar char="•"/>
            </a:pPr>
            <a:r>
              <a:rPr lang="en-US" sz="2500" dirty="0"/>
              <a:t>The dual burden of internal counterterrorism and external peacekeeping requires careful strategic balance.</a:t>
            </a:r>
          </a:p>
          <a:p>
            <a:pPr>
              <a:buFont typeface="Arial" panose="020B0604020202020204" pitchFamily="34" charset="0"/>
              <a:buChar char="•"/>
            </a:pPr>
            <a:r>
              <a:rPr lang="en-US" sz="2500" dirty="0"/>
              <a:t>Institutional gains must be weighed against opportunity costs at the domestic level.</a:t>
            </a:r>
          </a:p>
        </p:txBody>
      </p:sp>
    </p:spTree>
    <p:extLst>
      <p:ext uri="{BB962C8B-B14F-4D97-AF65-F5344CB8AC3E}">
        <p14:creationId xmlns:p14="http://schemas.microsoft.com/office/powerpoint/2010/main" val="3132719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Social and Identity-Based Impacts</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2249424"/>
            <a:ext cx="9720073" cy="4023360"/>
          </a:xfrm>
        </p:spPr>
        <p:txBody>
          <a:bodyPr>
            <a:noAutofit/>
          </a:bodyPr>
          <a:lstStyle/>
          <a:p>
            <a:pPr>
              <a:buFont typeface="Arial" panose="020B0604020202020204" pitchFamily="34" charset="0"/>
              <a:buChar char="•"/>
            </a:pPr>
            <a:r>
              <a:rPr lang="en-US" sz="2500" dirty="0"/>
              <a:t>Peacekeeping fosters a narrative of Pakistan as a humanitarian contributor rather than merely a security consumer.</a:t>
            </a:r>
          </a:p>
          <a:p>
            <a:pPr>
              <a:buFont typeface="Arial" panose="020B0604020202020204" pitchFamily="34" charset="0"/>
              <a:buChar char="•"/>
            </a:pPr>
            <a:r>
              <a:rPr lang="en-US" sz="2500" dirty="0"/>
              <a:t>The sacrifices of peacekeepers generate collective national pride and symbolic unity.</a:t>
            </a:r>
          </a:p>
          <a:p>
            <a:pPr>
              <a:buFont typeface="Arial" panose="020B0604020202020204" pitchFamily="34" charset="0"/>
              <a:buChar char="•"/>
            </a:pPr>
            <a:r>
              <a:rPr lang="en-US" sz="2500" dirty="0"/>
              <a:t>The participation of female peacekeepers challenges traditional gender roles within security institutions.</a:t>
            </a:r>
          </a:p>
          <a:p>
            <a:pPr>
              <a:buFont typeface="Arial" panose="020B0604020202020204" pitchFamily="34" charset="0"/>
              <a:buChar char="•"/>
            </a:pPr>
            <a:r>
              <a:rPr lang="en-US" sz="2500" dirty="0"/>
              <a:t>Identity construction through peacekeeping remains influenced by internal political discourse.</a:t>
            </a:r>
          </a:p>
          <a:p>
            <a:pPr>
              <a:buFont typeface="Arial" panose="020B0604020202020204" pitchFamily="34" charset="0"/>
              <a:buChar char="•"/>
            </a:pPr>
            <a:r>
              <a:rPr lang="en-US" sz="2500" dirty="0"/>
              <a:t>Social impacts are significant but not uniformly interpreted across society.</a:t>
            </a:r>
          </a:p>
        </p:txBody>
      </p:sp>
    </p:spTree>
    <p:extLst>
      <p:ext uri="{BB962C8B-B14F-4D97-AF65-F5344CB8AC3E}">
        <p14:creationId xmlns:p14="http://schemas.microsoft.com/office/powerpoint/2010/main" val="1339025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Political &amp; Diplomatic Outcomes</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1930827"/>
            <a:ext cx="9931909" cy="4267841"/>
          </a:xfrm>
        </p:spPr>
        <p:txBody>
          <a:bodyPr>
            <a:noAutofit/>
          </a:bodyPr>
          <a:lstStyle/>
          <a:p>
            <a:pPr>
              <a:buFont typeface="Arial" panose="020B0604020202020204" pitchFamily="34" charset="0"/>
              <a:buChar char="•"/>
            </a:pPr>
            <a:r>
              <a:rPr lang="en-US" sz="2500" dirty="0"/>
              <a:t>Peacekeeping creates diplomatic goodwill with host states and other troop-contributing countries.</a:t>
            </a:r>
          </a:p>
          <a:p>
            <a:pPr>
              <a:buFont typeface="Arial" panose="020B0604020202020204" pitchFamily="34" charset="0"/>
              <a:buChar char="•"/>
            </a:pPr>
            <a:r>
              <a:rPr lang="en-US" sz="2500" dirty="0"/>
              <a:t>Engagement enhances Pakistan’s bargaining capacity in multilateral negotiations.</a:t>
            </a:r>
          </a:p>
          <a:p>
            <a:pPr>
              <a:buFont typeface="Arial" panose="020B0604020202020204" pitchFamily="34" charset="0"/>
              <a:buChar char="•"/>
            </a:pPr>
            <a:r>
              <a:rPr lang="en-US" sz="2500" dirty="0"/>
              <a:t>It provides indirect support for Pakistan’s advocacy on issues of sovereignty and non-intervention.</a:t>
            </a:r>
          </a:p>
          <a:p>
            <a:pPr>
              <a:buFont typeface="Arial" panose="020B0604020202020204" pitchFamily="34" charset="0"/>
              <a:buChar char="•"/>
            </a:pPr>
            <a:r>
              <a:rPr lang="en-US" sz="2500" dirty="0"/>
              <a:t>Peacekeeping does not guarantee support for Pakistan’s core geopolitical concerns.</a:t>
            </a:r>
          </a:p>
          <a:p>
            <a:pPr>
              <a:buFont typeface="Arial" panose="020B0604020202020204" pitchFamily="34" charset="0"/>
              <a:buChar char="•"/>
            </a:pPr>
            <a:r>
              <a:rPr lang="en-US" sz="2500" dirty="0"/>
              <a:t>Diplomatic dividends are therefore situational rather than automatic.</a:t>
            </a:r>
          </a:p>
          <a:p>
            <a:pPr>
              <a:buFont typeface="Arial" panose="020B0604020202020204" pitchFamily="34" charset="0"/>
              <a:buChar char="•"/>
            </a:pPr>
            <a:r>
              <a:rPr lang="en-US" sz="2500" dirty="0"/>
              <a:t>This demonstrates the complexity of translating military contribution into political capital.</a:t>
            </a:r>
          </a:p>
        </p:txBody>
      </p:sp>
    </p:spTree>
    <p:extLst>
      <p:ext uri="{BB962C8B-B14F-4D97-AF65-F5344CB8AC3E}">
        <p14:creationId xmlns:p14="http://schemas.microsoft.com/office/powerpoint/2010/main" val="20606149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Economic &amp; Strategic Evaluation</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2080982"/>
            <a:ext cx="9931909" cy="4191802"/>
          </a:xfrm>
        </p:spPr>
        <p:txBody>
          <a:bodyPr>
            <a:noAutofit/>
          </a:bodyPr>
          <a:lstStyle/>
          <a:p>
            <a:pPr>
              <a:buFont typeface="Arial" panose="020B0604020202020204" pitchFamily="34" charset="0"/>
              <a:buChar char="•"/>
            </a:pPr>
            <a:r>
              <a:rPr lang="en-US" sz="2500" dirty="0"/>
              <a:t>UN reimbursements provide financial compensation, yet they represent limited economic incentive compared to operational risks.</a:t>
            </a:r>
          </a:p>
          <a:p>
            <a:pPr>
              <a:buFont typeface="Arial" panose="020B0604020202020204" pitchFamily="34" charset="0"/>
              <a:buChar char="•"/>
            </a:pPr>
            <a:r>
              <a:rPr lang="en-US" sz="2500" dirty="0"/>
              <a:t>Strategic visibility gained through peacekeeping enhances Pakistan’s defense diplomacy profile.</a:t>
            </a:r>
          </a:p>
          <a:p>
            <a:pPr>
              <a:buFont typeface="Arial" panose="020B0604020202020204" pitchFamily="34" charset="0"/>
              <a:buChar char="•"/>
            </a:pPr>
            <a:r>
              <a:rPr lang="en-US" sz="2500" dirty="0"/>
              <a:t>Participation signals reliability as a security partner in global conflict management.</a:t>
            </a:r>
          </a:p>
          <a:p>
            <a:pPr>
              <a:buFont typeface="Arial" panose="020B0604020202020204" pitchFamily="34" charset="0"/>
              <a:buChar char="•"/>
            </a:pPr>
            <a:r>
              <a:rPr lang="en-US" sz="2500" dirty="0"/>
              <a:t>However, financial gains remain secondary to strategic and reputational objectives.</a:t>
            </a:r>
          </a:p>
          <a:p>
            <a:pPr>
              <a:buFont typeface="Arial" panose="020B0604020202020204" pitchFamily="34" charset="0"/>
              <a:buChar char="•"/>
            </a:pPr>
            <a:r>
              <a:rPr lang="en-US" sz="2500" dirty="0"/>
              <a:t>The human cost of casualties underscores the tangible sacrifices involved.</a:t>
            </a:r>
          </a:p>
          <a:p>
            <a:pPr>
              <a:buFont typeface="Arial" panose="020B0604020202020204" pitchFamily="34" charset="0"/>
              <a:buChar char="•"/>
            </a:pPr>
            <a:r>
              <a:rPr lang="en-US" sz="2500" dirty="0"/>
              <a:t>The economic dimension is supplementary rather than primary in motivation.</a:t>
            </a:r>
          </a:p>
        </p:txBody>
      </p:sp>
    </p:spTree>
    <p:extLst>
      <p:ext uri="{BB962C8B-B14F-4D97-AF65-F5344CB8AC3E}">
        <p14:creationId xmlns:p14="http://schemas.microsoft.com/office/powerpoint/2010/main" val="814800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p:txBody>
          <a:bodyPr/>
          <a:lstStyle/>
          <a:p>
            <a:pPr algn="ctr"/>
            <a:r>
              <a:rPr lang="en-US" dirty="0"/>
              <a:t>Structural Challenges &amp; Global Inequality</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235963" y="2084832"/>
            <a:ext cx="9931909" cy="4187952"/>
          </a:xfrm>
        </p:spPr>
        <p:txBody>
          <a:bodyPr>
            <a:noAutofit/>
          </a:bodyPr>
          <a:lstStyle/>
          <a:p>
            <a:pPr>
              <a:buFont typeface="Arial" panose="020B0604020202020204" pitchFamily="34" charset="0"/>
              <a:buChar char="•"/>
            </a:pPr>
            <a:r>
              <a:rPr lang="en-US" sz="2500" dirty="0"/>
              <a:t>Pakistan’s extensive operational contribution contrasts with limited representation in elite global decision-making structures.</a:t>
            </a:r>
          </a:p>
          <a:p>
            <a:pPr>
              <a:buFont typeface="Arial" panose="020B0604020202020204" pitchFamily="34" charset="0"/>
              <a:buChar char="•"/>
            </a:pPr>
            <a:r>
              <a:rPr lang="en-US" sz="2500" dirty="0"/>
              <a:t>Structural inequalities within the UN Security Council constrain influence for troop-contributing states.</a:t>
            </a:r>
          </a:p>
          <a:p>
            <a:pPr>
              <a:buFont typeface="Arial" panose="020B0604020202020204" pitchFamily="34" charset="0"/>
              <a:buChar char="•"/>
            </a:pPr>
            <a:r>
              <a:rPr lang="en-US" sz="2500" dirty="0"/>
              <a:t>Peacekeeping exposes personnel to asymmetric warfare and evolving non-state threats.</a:t>
            </a:r>
          </a:p>
          <a:p>
            <a:pPr>
              <a:buFont typeface="Arial" panose="020B0604020202020204" pitchFamily="34" charset="0"/>
              <a:buChar char="•"/>
            </a:pPr>
            <a:r>
              <a:rPr lang="en-US" sz="2500" dirty="0"/>
              <a:t>Mandate limitations sometimes restrict the ability to fully resolve conflicts.</a:t>
            </a:r>
          </a:p>
          <a:p>
            <a:pPr>
              <a:buFont typeface="Arial" panose="020B0604020202020204" pitchFamily="34" charset="0"/>
              <a:buChar char="•"/>
            </a:pPr>
            <a:r>
              <a:rPr lang="en-US" sz="2500" dirty="0"/>
              <a:t>These constraints highlight the tension between operational commitment and political authority.</a:t>
            </a:r>
          </a:p>
          <a:p>
            <a:pPr>
              <a:buFont typeface="Arial" panose="020B0604020202020204" pitchFamily="34" charset="0"/>
              <a:buChar char="•"/>
            </a:pPr>
            <a:r>
              <a:rPr lang="en-US" sz="2500" dirty="0"/>
              <a:t>Pakistan’s role illustrates both the strengths and limits of middle-power engagement in global governance.</a:t>
            </a:r>
          </a:p>
        </p:txBody>
      </p:sp>
    </p:spTree>
    <p:extLst>
      <p:ext uri="{BB962C8B-B14F-4D97-AF65-F5344CB8AC3E}">
        <p14:creationId xmlns:p14="http://schemas.microsoft.com/office/powerpoint/2010/main" val="2722838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5C2F1B-6A0F-4D45-B03A-9612BB604F70}"/>
              </a:ext>
            </a:extLst>
          </p:cNvPr>
          <p:cNvSpPr>
            <a:spLocks noGrp="1"/>
          </p:cNvSpPr>
          <p:nvPr>
            <p:ph type="title"/>
          </p:nvPr>
        </p:nvSpPr>
        <p:spPr>
          <a:xfrm>
            <a:off x="1024127" y="585216"/>
            <a:ext cx="10506937" cy="1499616"/>
          </a:xfrm>
        </p:spPr>
        <p:txBody>
          <a:bodyPr/>
          <a:lstStyle/>
          <a:p>
            <a:pPr algn="ctr"/>
            <a:r>
              <a:rPr lang="en-US" dirty="0"/>
              <a:t>Peacekeeping as Strategy, Identity &amp; Diplomacy</a:t>
            </a:r>
          </a:p>
        </p:txBody>
      </p:sp>
      <p:sp>
        <p:nvSpPr>
          <p:cNvPr id="6" name="Content Placeholder 5">
            <a:extLst>
              <a:ext uri="{FF2B5EF4-FFF2-40B4-BE49-F238E27FC236}">
                <a16:creationId xmlns:a16="http://schemas.microsoft.com/office/drawing/2014/main" id="{A0F0B1D8-D78C-4039-B237-995F91F1C52D}"/>
              </a:ext>
            </a:extLst>
          </p:cNvPr>
          <p:cNvSpPr>
            <a:spLocks noGrp="1"/>
          </p:cNvSpPr>
          <p:nvPr>
            <p:ph idx="1"/>
          </p:nvPr>
        </p:nvSpPr>
        <p:spPr>
          <a:xfrm>
            <a:off x="1024128" y="2084832"/>
            <a:ext cx="9720073" cy="4224528"/>
          </a:xfrm>
        </p:spPr>
        <p:txBody>
          <a:bodyPr>
            <a:normAutofit lnSpcReduction="10000"/>
          </a:bodyPr>
          <a:lstStyle/>
          <a:p>
            <a:pPr>
              <a:buFont typeface="Arial" panose="020B0604020202020204" pitchFamily="34" charset="0"/>
              <a:buChar char="•"/>
            </a:pPr>
            <a:r>
              <a:rPr lang="en-US" sz="2500" dirty="0"/>
              <a:t>Pakistan’s peacekeeping participation reflects a strategic fusion of moral commitment and national interest.</a:t>
            </a:r>
          </a:p>
          <a:p>
            <a:pPr>
              <a:buFont typeface="Arial" panose="020B0604020202020204" pitchFamily="34" charset="0"/>
              <a:buChar char="•"/>
            </a:pPr>
            <a:r>
              <a:rPr lang="en-US" sz="2500" dirty="0"/>
              <a:t>It enhances diplomatic credibility while simultaneously serving institutional and strategic objectives.</a:t>
            </a:r>
          </a:p>
          <a:p>
            <a:pPr>
              <a:buFont typeface="Arial" panose="020B0604020202020204" pitchFamily="34" charset="0"/>
              <a:buChar char="•"/>
            </a:pPr>
            <a:r>
              <a:rPr lang="en-US" sz="2500" dirty="0"/>
              <a:t>Socio-political benefits are substantial but shaped by global power hierarchies.</a:t>
            </a:r>
          </a:p>
          <a:p>
            <a:pPr>
              <a:buFont typeface="Arial" panose="020B0604020202020204" pitchFamily="34" charset="0"/>
              <a:buChar char="•"/>
            </a:pPr>
            <a:r>
              <a:rPr lang="en-US" sz="2500" dirty="0"/>
              <a:t>Domestic institutional gains coexist with resource and security trade-offs.</a:t>
            </a:r>
          </a:p>
          <a:p>
            <a:pPr>
              <a:buFont typeface="Arial" panose="020B0604020202020204" pitchFamily="34" charset="0"/>
              <a:buChar char="•"/>
            </a:pPr>
            <a:r>
              <a:rPr lang="en-US" sz="2500" dirty="0"/>
              <a:t>Reputational improvements are meaningful yet structurally moderated.</a:t>
            </a:r>
          </a:p>
          <a:p>
            <a:pPr>
              <a:buFont typeface="Arial" panose="020B0604020202020204" pitchFamily="34" charset="0"/>
              <a:buChar char="•"/>
            </a:pPr>
            <a:r>
              <a:rPr lang="en-US" sz="2500" dirty="0"/>
              <a:t>Pakistan’s engagement demonstrates how middle powers navigate global peace architecture to balance responsibility with strategic ambition.</a:t>
            </a:r>
          </a:p>
          <a:p>
            <a:endParaRPr lang="en-US" dirty="0"/>
          </a:p>
        </p:txBody>
      </p:sp>
    </p:spTree>
    <p:extLst>
      <p:ext uri="{BB962C8B-B14F-4D97-AF65-F5344CB8AC3E}">
        <p14:creationId xmlns:p14="http://schemas.microsoft.com/office/powerpoint/2010/main" val="2616000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338</TotalTime>
  <Words>1650</Words>
  <Application>Microsoft Office PowerPoint</Application>
  <PresentationFormat>Widescreen</PresentationFormat>
  <Paragraphs>122</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Symbol</vt:lpstr>
      <vt:lpstr>Tw Cen MT</vt:lpstr>
      <vt:lpstr>Tw Cen MT Condensed</vt:lpstr>
      <vt:lpstr>Wingdings 3</vt:lpstr>
      <vt:lpstr>Integral</vt:lpstr>
      <vt:lpstr>Pakistan In Pursuit of Global Agenda II</vt:lpstr>
      <vt:lpstr>What is Global Agenda?</vt:lpstr>
      <vt:lpstr>Pakistan’s Pursuit of the Global Agenda</vt:lpstr>
      <vt:lpstr>Sustainable development goals &amp; Pakistan</vt:lpstr>
      <vt:lpstr>PowerPoint Presentation</vt:lpstr>
      <vt:lpstr>PowerPoint Presentation</vt:lpstr>
      <vt:lpstr>MAIN DEVELOPMENTAL GOALS</vt:lpstr>
      <vt:lpstr>Role of Pakistan in global peace &amp; security</vt:lpstr>
      <vt:lpstr>MEMBER OF UNITED NATIONs</vt:lpstr>
      <vt:lpstr>PowerPoint Presentation</vt:lpstr>
      <vt:lpstr>CIPS (Center of International peacekeeper Stability)</vt:lpstr>
      <vt:lpstr>Geo Strategic problems</vt:lpstr>
      <vt:lpstr>PowerPoint Presentation</vt:lpstr>
      <vt:lpstr>Conceptual Framing</vt:lpstr>
      <vt:lpstr>Scale and Strategic Depth of Contribution</vt:lpstr>
      <vt:lpstr>Impact on Global Peace Architecture</vt:lpstr>
      <vt:lpstr>Enhancement of International Reputation</vt:lpstr>
      <vt:lpstr>Domestic Institutional &amp; Military Implications</vt:lpstr>
      <vt:lpstr>Social and Identity-Based Impacts</vt:lpstr>
      <vt:lpstr>Political &amp; Diplomatic Outcomes</vt:lpstr>
      <vt:lpstr>Economic &amp; Strategic Evaluation</vt:lpstr>
      <vt:lpstr>Structural Challenges &amp; Global Inequality</vt:lpstr>
      <vt:lpstr>Peacekeeping as Strategy, Identity &amp; Diplomacy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 Pursuing Global Agenda</dc:title>
  <dc:creator>Muhammad Ullah</dc:creator>
  <cp:lastModifiedBy>Asefa Khilji</cp:lastModifiedBy>
  <cp:revision>18</cp:revision>
  <dcterms:created xsi:type="dcterms:W3CDTF">2022-11-29T17:59:29Z</dcterms:created>
  <dcterms:modified xsi:type="dcterms:W3CDTF">2026-03-13T03:33:13Z</dcterms:modified>
</cp:coreProperties>
</file>