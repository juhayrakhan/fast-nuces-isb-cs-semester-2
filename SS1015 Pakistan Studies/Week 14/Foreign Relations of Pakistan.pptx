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31"/>
  </p:notesMasterIdLst>
  <p:handoutMasterIdLst>
    <p:handoutMasterId r:id="rId32"/>
  </p:handoutMasterIdLst>
  <p:sldIdLst>
    <p:sldId id="325" r:id="rId5"/>
    <p:sldId id="341" r:id="rId6"/>
    <p:sldId id="369" r:id="rId7"/>
    <p:sldId id="370" r:id="rId8"/>
    <p:sldId id="371" r:id="rId9"/>
    <p:sldId id="372" r:id="rId10"/>
    <p:sldId id="367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4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995-F5C2-43C5-8751-B838C901247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07B6872E-FC33-6D2E-49F7-E943588DA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DEB48-AA4C-BB6A-A33E-09D9A5AD3AE6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767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321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6473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098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1156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98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2938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5795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150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414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689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801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39352-2201-403C-8694-91A5819C9CC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1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66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>
            <a:noAutofit/>
          </a:bodyPr>
          <a:lstStyle/>
          <a:p>
            <a:r>
              <a:rPr lang="en-US" sz="10000" b="1" dirty="0"/>
              <a:t>Foreign Relations of Pakistan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4551B4-7E57-D4FD-607B-36D05626B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5000" b="1" dirty="0"/>
          </a:p>
          <a:p>
            <a:r>
              <a:rPr lang="en-US" sz="5000" b="1" dirty="0"/>
              <a:t>with the help of IR Terminologies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3AEB8-71CF-9C47-3BD0-80EDCA46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576072"/>
            <a:ext cx="5819419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Theoretical Frameworks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0C271-8A30-BBB2-2709-37FD1F90C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endParaRPr lang="en-US" sz="2800" i="1" dirty="0"/>
          </a:p>
          <a:p>
            <a:pPr marL="228600" indent="0" algn="ctr">
              <a:buNone/>
            </a:pPr>
            <a:r>
              <a:rPr lang="en-US" sz="2500" b="1" dirty="0"/>
              <a:t>The Strategic Pivot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B95E46-64BE-907C-3CA1-F2F446F6D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Geostrategic Existence: Pakistan’s location has historically made it a "pivot" for geostrategic and political activity in South Asia.</a:t>
            </a:r>
          </a:p>
          <a:p>
            <a:r>
              <a:rPr lang="en-US" sz="3600" dirty="0"/>
              <a:t>Buffer State Legacy: Historically, Pakistan functioned as a "buffer state," serving as a neutral cushion between competing empires during the Cold War.</a:t>
            </a:r>
          </a:p>
          <a:p>
            <a:r>
              <a:rPr lang="en-US" sz="3600" dirty="0"/>
              <a:t>Transition to Fulcrum: Pakistan is now transitioning from a security buffer to the "fulcrum" of China’s massive Belt and Road Initiative (BRI).</a:t>
            </a:r>
          </a:p>
          <a:p>
            <a:r>
              <a:rPr lang="en-US" sz="3600" dirty="0"/>
              <a:t>The CPEC Anchor: This shift is primarily driven by the CPEC, a flagship $75 billion scheme.</a:t>
            </a:r>
          </a:p>
          <a:p>
            <a:r>
              <a:rPr lang="en-US" sz="3600" dirty="0"/>
              <a:t>Regional Connectivity: The project aims to revitalize the historical Silk Road to remove social, political, and economic hindrances globally.</a:t>
            </a:r>
          </a:p>
          <a:p>
            <a:r>
              <a:rPr lang="en-US" sz="3600" dirty="0"/>
              <a:t>National Interest: This shift represents a move toward prioritizing regional integration and economic stability as core national interests.</a:t>
            </a:r>
          </a:p>
        </p:txBody>
      </p:sp>
    </p:spTree>
    <p:extLst>
      <p:ext uri="{BB962C8B-B14F-4D97-AF65-F5344CB8AC3E}">
        <p14:creationId xmlns:p14="http://schemas.microsoft.com/office/powerpoint/2010/main" val="297378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0510-7C92-82BB-DDD4-3A663EEB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98398D-5A24-6796-4199-B51E1042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576072"/>
            <a:ext cx="5819419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Theoretical Frameworks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F9956-BF9E-DCAC-3DE3-16136B9DD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endParaRPr lang="en-US" sz="2500" i="1" dirty="0"/>
          </a:p>
          <a:p>
            <a:pPr marL="228600" indent="0" algn="ctr">
              <a:buNone/>
            </a:pPr>
            <a:r>
              <a:rPr lang="en-US" sz="2500" b="1" dirty="0"/>
              <a:t>Hard Power – </a:t>
            </a:r>
          </a:p>
          <a:p>
            <a:pPr marL="228600" indent="0" algn="ctr">
              <a:buNone/>
            </a:pPr>
            <a:r>
              <a:rPr lang="en-US" sz="2500" b="1" dirty="0"/>
              <a:t>The Capacity to Coerce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53A81B-0682-A0A8-C7D3-62EE69B54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55000" lnSpcReduction="20000"/>
          </a:bodyPr>
          <a:lstStyle/>
          <a:p>
            <a:r>
              <a:rPr lang="en-US" sz="3600" i="1" dirty="0"/>
              <a:t>The capacity of an actor to coerce others to act in ways they otherwise would not.</a:t>
            </a:r>
          </a:p>
          <a:p>
            <a:r>
              <a:rPr lang="en-US" sz="3600" dirty="0"/>
              <a:t>Primary Instruments: Utilizes "sticks and carrots," such as military intervention, coercive diplomacy, and economic sanctions.</a:t>
            </a:r>
          </a:p>
          <a:p>
            <a:r>
              <a:rPr lang="en-US" sz="3600" dirty="0"/>
              <a:t>Neorealist Roots: Academic neorealist approaches emphasize the hard power of states to enforce their interests via strength.</a:t>
            </a:r>
          </a:p>
          <a:p>
            <a:r>
              <a:rPr lang="en-US" sz="3600" dirty="0"/>
              <a:t>Institutional Dominance: Hard power institutions, such as the military, are traditionally vastly larger and better funded than soft power agencies.</a:t>
            </a:r>
          </a:p>
          <a:p>
            <a:r>
              <a:rPr lang="en-US" sz="3600" dirty="0"/>
              <a:t>Traditional Purview: Proponents often believe they can ignore elements of national power that lie outside their traditional military focus.</a:t>
            </a:r>
          </a:p>
          <a:p>
            <a:r>
              <a:rPr lang="en-US" sz="3600" dirty="0"/>
              <a:t>Limitations: Relying solely on hard power can provoke unprecedented resentment and diminish a nation’s standing in a "smarter" world.</a:t>
            </a:r>
          </a:p>
        </p:txBody>
      </p:sp>
    </p:spTree>
    <p:extLst>
      <p:ext uri="{BB962C8B-B14F-4D97-AF65-F5344CB8AC3E}">
        <p14:creationId xmlns:p14="http://schemas.microsoft.com/office/powerpoint/2010/main" val="116812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FD8B-7B5F-E385-E009-415FEFCE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D0B66A-4AE6-732B-FDD1-A272B902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576072"/>
            <a:ext cx="5819419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Theoretical Frameworks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C2FCF-043B-142F-6DD5-610E93930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Soft Power – </a:t>
            </a:r>
          </a:p>
          <a:p>
            <a:pPr marL="228600" indent="0" algn="ctr">
              <a:buNone/>
            </a:pPr>
            <a:r>
              <a:rPr lang="en-US" sz="2500" b="1" dirty="0"/>
              <a:t>The Capacity to Persuade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23B153-C586-84E8-C6DC-CC209E887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55000" lnSpcReduction="20000"/>
          </a:bodyPr>
          <a:lstStyle/>
          <a:p>
            <a:r>
              <a:rPr lang="en-US" sz="3600" i="1" dirty="0"/>
              <a:t>The ability to get what one wants through persuasion or attraction rather than through coercion.</a:t>
            </a:r>
          </a:p>
          <a:p>
            <a:r>
              <a:rPr lang="en-US" sz="3600" dirty="0"/>
              <a:t>Mechanism of Attraction: It builds attraction so that other nations "want what you want" via emulation of values.</a:t>
            </a:r>
          </a:p>
          <a:p>
            <a:r>
              <a:rPr lang="en-US" sz="3600" dirty="0"/>
              <a:t>Intangible Assets: Resources are the assets—culture, political values, and legitimate policies—that produce this attraction.</a:t>
            </a:r>
          </a:p>
          <a:p>
            <a:r>
              <a:rPr lang="en-US" sz="3600" dirty="0"/>
              <a:t>Liberal Institutionalism: Scholars emphasize soft power as an essential resource of modern statecraft in a globalized era.</a:t>
            </a:r>
          </a:p>
          <a:p>
            <a:r>
              <a:rPr lang="en-US" sz="3600" dirty="0"/>
              <a:t>Public Diplomacy: A central tool aimed at communicating with and influencing foreign publics to build a favorable image.</a:t>
            </a:r>
          </a:p>
          <a:p>
            <a:r>
              <a:rPr lang="en-US" sz="3600" dirty="0"/>
              <a:t>National Security Role: Soft power is now a prominent part of modern security, moving beyond simple military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51769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085AA-8FE5-BC23-B81B-C59C2346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1A7B1C-B8E1-4DC9-C3F0-3C057C67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576072"/>
            <a:ext cx="5819419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Theoretical Frameworks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C9F895-8E74-4F45-A790-A9F9C06A9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800" b="1" dirty="0"/>
          </a:p>
          <a:p>
            <a:pPr marL="228600" indent="0" algn="ctr">
              <a:buNone/>
            </a:pPr>
            <a:r>
              <a:rPr lang="en-US" sz="2800" b="1" dirty="0"/>
              <a:t>The Smart Power Imperative</a:t>
            </a:r>
            <a:endParaRPr lang="en-US" sz="25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11FA28-F3F8-762F-36BB-4CBB4F25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55000" lnSpcReduction="20000"/>
          </a:bodyPr>
          <a:lstStyle/>
          <a:p>
            <a:r>
              <a:rPr lang="en-US" sz="3600" i="1" dirty="0"/>
              <a:t>The capacity of an actor to combine elements of hard and soft power in mutually reinforcing ways.</a:t>
            </a:r>
          </a:p>
          <a:p>
            <a:r>
              <a:rPr lang="en-US" sz="3600" dirty="0"/>
              <a:t>Effective Advancement: Its goal is to advance an actor’s purposes more effectively than using hard or soft power in isolation.</a:t>
            </a:r>
          </a:p>
          <a:p>
            <a:r>
              <a:rPr lang="en-US" sz="3600" dirty="0"/>
              <a:t>National Security Imperative: Advancing smart power is now a security imperative driven by structural changes in international conditions.</a:t>
            </a:r>
          </a:p>
          <a:p>
            <a:r>
              <a:rPr lang="en-US" sz="3600" dirty="0"/>
              <a:t>Institutional Synergy: It requires the sophisticated integration of traditionally separate cultures, like the military and diplomatic corps.</a:t>
            </a:r>
          </a:p>
          <a:p>
            <a:r>
              <a:rPr lang="en-US" sz="3600" dirty="0"/>
              <a:t>Structural Awareness: Smart power requires a firm familiarity with the full repertoire of the instruments of statecraft.</a:t>
            </a:r>
          </a:p>
          <a:p>
            <a:r>
              <a:rPr lang="en-US" sz="3600" dirty="0"/>
              <a:t>Strategic Choice: It involves the wisdom to know how to combine coercive power with the power to inspire and lead.</a:t>
            </a:r>
          </a:p>
        </p:txBody>
      </p:sp>
    </p:spTree>
    <p:extLst>
      <p:ext uri="{BB962C8B-B14F-4D97-AF65-F5344CB8AC3E}">
        <p14:creationId xmlns:p14="http://schemas.microsoft.com/office/powerpoint/2010/main" val="155024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D8B7-C438-6C7F-6C52-9641BB09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415015-7A99-186A-41E4-2A131BFC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576072"/>
            <a:ext cx="5819419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Theoretical Frameworks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5ACAB-3FCB-79B8-38A9-302065C9F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Requirements for a Smart Strategy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FE5A8A-82E1-F1DD-B885-BE4CE0525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Self-Knowledge: The wielder of power must understand their own country's goals, will, and capacity to deliver.</a:t>
            </a:r>
          </a:p>
          <a:p>
            <a:r>
              <a:rPr lang="en-US" sz="3600" dirty="0"/>
              <a:t>Target Knowledge: Power cannot be "smart" if wielders are ignorant of the internal nature and global context of target populations.</a:t>
            </a:r>
          </a:p>
          <a:p>
            <a:r>
              <a:rPr lang="en-US" sz="3600" dirty="0"/>
              <a:t>Contextual Awareness: Smart power must be conducted with a deep understanding of the broader regional and global landscape.</a:t>
            </a:r>
          </a:p>
          <a:p>
            <a:r>
              <a:rPr lang="en-US" sz="3600" dirty="0"/>
              <a:t>Tool Versatility: Smart power involves knowing the specific strengths and limitations of each instrument (economic vs. military).</a:t>
            </a:r>
          </a:p>
          <a:p>
            <a:r>
              <a:rPr lang="en-US" sz="3600" dirty="0"/>
              <a:t>Appropriate Deployment: Requires the capacity to recognize when to use one kind of power over another depending on the specific situation.</a:t>
            </a:r>
          </a:p>
          <a:p>
            <a:r>
              <a:rPr lang="en-US" sz="3600" dirty="0"/>
              <a:t>Historical Guidance: Effective smart power draws from past successes where hard and soft power were combined for a lasting impact.</a:t>
            </a:r>
          </a:p>
        </p:txBody>
      </p:sp>
    </p:spTree>
    <p:extLst>
      <p:ext uri="{BB962C8B-B14F-4D97-AF65-F5344CB8AC3E}">
        <p14:creationId xmlns:p14="http://schemas.microsoft.com/office/powerpoint/2010/main" val="176022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EC7B-E1D3-BBE5-D55A-946D5597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55A70C-F129-09D7-23B8-966DCF38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 Regional Environment &amp; Geopolitics</a:t>
            </a:r>
            <a:endParaRPr lang="en-US" sz="5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C2D44-9D0B-DC32-180F-162E36CD9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Navigating the Zero-Sum Regional Environment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477066-0B7A-F1DA-C11A-C4412768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A zero-sum environment is one where one nation’s progress is perceived as another nation’s direct loss.</a:t>
            </a:r>
          </a:p>
          <a:p>
            <a:r>
              <a:rPr lang="en-US" dirty="0"/>
              <a:t>Unipolar Competition: Regional dynamics are often overshadowed by contested competition rather than shared collaboration.</a:t>
            </a:r>
          </a:p>
          <a:p>
            <a:r>
              <a:rPr lang="en-US" dirty="0"/>
              <a:t>South Asian Context: In South Asia, historical grievances and security dilemmas often trap nations in this zero-sum mindset.</a:t>
            </a:r>
          </a:p>
          <a:p>
            <a:r>
              <a:rPr lang="en-US" dirty="0"/>
              <a:t>CPEC as an Antidote: CPEC is framed as a "Win-Win" approach intended to break this cycle by providing stability for all.</a:t>
            </a:r>
          </a:p>
          <a:p>
            <a:r>
              <a:rPr lang="en-US" dirty="0"/>
              <a:t>Global Integration: The project aims to replace hegemonic competition with global integration and collaboration among diverse actors.</a:t>
            </a:r>
          </a:p>
          <a:p>
            <a:r>
              <a:rPr lang="en-US" dirty="0"/>
              <a:t>Hegemonic Resistance: Rivals in a zero-sum world view collaborative projects with "cynical apprehension," fearing shifts in power.</a:t>
            </a:r>
          </a:p>
        </p:txBody>
      </p:sp>
    </p:spTree>
    <p:extLst>
      <p:ext uri="{BB962C8B-B14F-4D97-AF65-F5344CB8AC3E}">
        <p14:creationId xmlns:p14="http://schemas.microsoft.com/office/powerpoint/2010/main" val="296370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66D1B-5FD8-C0A8-6B53-76E3E958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81A10F-075D-9C81-B414-641F30169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 Regional Environment &amp; Geopolitics</a:t>
            </a:r>
            <a:endParaRPr lang="en-US" sz="5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9871C-6C14-22CF-9F15-2D5FF1D55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57607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Deadly Triangles and the Security Dilemma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AA4ECF-E211-251E-EE42-90B21EEA8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A "deadly triangle" is a trilateral dilemma where a move for security by one state is perceived as a threat by others.</a:t>
            </a:r>
          </a:p>
          <a:p>
            <a:r>
              <a:rPr lang="en-US" dirty="0"/>
              <a:t>Regional Instability: These triangles create a permanent state of tension where actors struggle to achieve security without provocation.</a:t>
            </a:r>
          </a:p>
          <a:p>
            <a:r>
              <a:rPr lang="en-US" dirty="0"/>
              <a:t>The Pak-India-Afghan Triad: This specific triangle involves competing interests in regional stability and the fear of encirclement.</a:t>
            </a:r>
          </a:p>
          <a:p>
            <a:r>
              <a:rPr lang="en-US" dirty="0"/>
              <a:t>Global Power Overlap: Regional triangles are complicated by the overlapping interests of superpowers like the US and China.</a:t>
            </a:r>
          </a:p>
          <a:p>
            <a:r>
              <a:rPr lang="en-US" dirty="0"/>
              <a:t>Security Dilemma: Arises when defensive actions (like military modernization) are interpreted by rivals as preparation for aggression.</a:t>
            </a:r>
          </a:p>
          <a:p>
            <a:r>
              <a:rPr lang="en-US" dirty="0"/>
              <a:t>Role of Smart Power: Navigating these triangles requires building trust through economic connectivity while maintaining credible deterrence</a:t>
            </a:r>
          </a:p>
        </p:txBody>
      </p:sp>
    </p:spTree>
    <p:extLst>
      <p:ext uri="{BB962C8B-B14F-4D97-AF65-F5344CB8AC3E}">
        <p14:creationId xmlns:p14="http://schemas.microsoft.com/office/powerpoint/2010/main" val="122948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B628-7DF1-7FD7-B2A2-B78F7C2D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7B4DA8-455A-6DC1-D27E-6C956E55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The Regional Environment &amp; Geopolitics</a:t>
            </a:r>
            <a:endParaRPr lang="en-US" sz="5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851FF-ECB9-EE55-DE59-88411AF7F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Proxy Wars and Regional Conflict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1342AC-3471-BA65-EFFA-586AA6112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A proxy war occurs when opposing powers use third parties as substitutes to fight for their interests.</a:t>
            </a:r>
          </a:p>
          <a:p>
            <a:r>
              <a:rPr lang="en-US" dirty="0"/>
              <a:t>Regional Context: Applies to South Asian conflicts where external actors fund or support local insurgent groups.</a:t>
            </a:r>
          </a:p>
          <a:p>
            <a:r>
              <a:rPr lang="en-US" dirty="0"/>
              <a:t>CPEC Security Concerns: There is an identified nexus of regional actors (RAW, NDS, TTP) allegedly attempting to sabotage CPEC.</a:t>
            </a:r>
          </a:p>
          <a:p>
            <a:r>
              <a:rPr lang="en-US" dirty="0"/>
              <a:t>Threat to Stability: These "security constrictions" pose a major hurdle to the successful implementation of the economic corridor.</a:t>
            </a:r>
          </a:p>
          <a:p>
            <a:r>
              <a:rPr lang="en-US" dirty="0"/>
              <a:t>Hard Power Response: Countering proxy threats requires significant investment in military security along trade routes.</a:t>
            </a:r>
          </a:p>
          <a:p>
            <a:r>
              <a:rPr lang="en-US" dirty="0"/>
              <a:t>Soft Power Mitigation: Addressing root causes requires tools like social development, provincial integration, and economic opportunity.</a:t>
            </a:r>
          </a:p>
        </p:txBody>
      </p:sp>
    </p:spTree>
    <p:extLst>
      <p:ext uri="{BB962C8B-B14F-4D97-AF65-F5344CB8AC3E}">
        <p14:creationId xmlns:p14="http://schemas.microsoft.com/office/powerpoint/2010/main" val="2438536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F95C-7C80-D32F-846B-8A63A6A7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CC00E4-BFB8-A695-406C-648F6CDC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Strategic Maneuvering &amp; Diplomacy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582A4-B785-7C66-D18E-B18794A7B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r>
              <a:rPr lang="en-US" sz="2500" b="1" dirty="0" err="1"/>
              <a:t>Bandwagoning</a:t>
            </a:r>
            <a:r>
              <a:rPr lang="en-US" sz="2500" b="1" dirty="0"/>
              <a:t> </a:t>
            </a:r>
          </a:p>
          <a:p>
            <a:pPr marL="228600" indent="0" algn="ctr">
              <a:buNone/>
            </a:pPr>
            <a:r>
              <a:rPr lang="en-US" sz="2500" b="1" dirty="0"/>
              <a:t>vs</a:t>
            </a:r>
          </a:p>
          <a:p>
            <a:pPr marL="228600" indent="0" algn="ctr">
              <a:buNone/>
            </a:pPr>
            <a:r>
              <a:rPr lang="en-US" sz="2500" b="1" dirty="0"/>
              <a:t> Strategic Hedging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48E36A-1FE1-8C88-E2C1-2C2071062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i="1" dirty="0" err="1"/>
              <a:t>Bandwagoning</a:t>
            </a:r>
            <a:r>
              <a:rPr lang="en-US" i="1" dirty="0"/>
              <a:t> involves a smaller state aligning itself with a stronger power to ensure its survival or gain benefits.</a:t>
            </a:r>
          </a:p>
          <a:p>
            <a:r>
              <a:rPr lang="en-US" dirty="0"/>
              <a:t>Historical Context: Pakistan’s early history included </a:t>
            </a:r>
            <a:r>
              <a:rPr lang="en-US" dirty="0" err="1"/>
              <a:t>bandwagoning</a:t>
            </a:r>
            <a:r>
              <a:rPr lang="en-US" dirty="0"/>
              <a:t> with Western alliances (SEATO/CENTO) for military support.</a:t>
            </a:r>
          </a:p>
          <a:p>
            <a:r>
              <a:rPr lang="en-US" i="1" dirty="0"/>
              <a:t>Hedging is a strategy of "strategic ambiguity" where a state avoids choosing a single side in a rivalry.</a:t>
            </a:r>
          </a:p>
          <a:p>
            <a:r>
              <a:rPr lang="en-US" dirty="0"/>
              <a:t>Pakistan’s Modern Hedging: Pakistan currently "hedges" by maintaining a partnership with China while engaging Western security.</a:t>
            </a:r>
          </a:p>
          <a:p>
            <a:r>
              <a:rPr lang="en-US" dirty="0"/>
              <a:t>Risk Mitigation: Hedging allows a state to extract benefits from multiple powers while avoiding being "incarcerated" in one bloc.</a:t>
            </a:r>
          </a:p>
          <a:p>
            <a:r>
              <a:rPr lang="en-US" dirty="0"/>
              <a:t>Strategic Autonomy: The goal of hedging is to maximize national interest and maintain freedom of action in a shifting landscape.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58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459F-328F-720E-546B-A7295085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D47479-5C08-987B-19E1-758AF870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Strategic Maneuvering &amp; Diplomacy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4BE25-ABDC-84B0-59EE-5CD0CB12F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Signaling &amp; Resolving Misperception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855182-ADD2-72F7-B2C9-1CFD6B492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Signaling refers to actions taken by a state to communicate its intentions, resolve, or capabilities without formal words.</a:t>
            </a:r>
          </a:p>
          <a:p>
            <a:r>
              <a:rPr lang="en-US" dirty="0"/>
              <a:t>Purpose: It is used to reduce uncertainty and influence the perceptions of both allies and rivals.</a:t>
            </a:r>
          </a:p>
          <a:p>
            <a:r>
              <a:rPr lang="en-US" dirty="0"/>
              <a:t>Economic Signaling: Launching massive projects like CPEC signals to the world that a nation is stable and open for commerce.</a:t>
            </a:r>
          </a:p>
          <a:p>
            <a:r>
              <a:rPr lang="en-US" dirty="0"/>
              <a:t>Military Signaling: Exercises or high-level defense visits serve to signal military resolve and "military globalization."</a:t>
            </a:r>
          </a:p>
          <a:p>
            <a:r>
              <a:rPr lang="en-US" dirty="0"/>
              <a:t>Countering Narratives: Signaling is used to counter negative regional narratives that portray trade projects as hegemonic.</a:t>
            </a:r>
          </a:p>
          <a:p>
            <a:r>
              <a:rPr lang="en-US" dirty="0"/>
              <a:t>Consistency: For signaling to be effective, it must be backed by "policy consistency" and tangible progress on the ground.</a:t>
            </a:r>
          </a:p>
        </p:txBody>
      </p:sp>
    </p:spTree>
    <p:extLst>
      <p:ext uri="{BB962C8B-B14F-4D97-AF65-F5344CB8AC3E}">
        <p14:creationId xmlns:p14="http://schemas.microsoft.com/office/powerpoint/2010/main" val="309440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8B910-6D7B-68B9-9529-BD5C80E12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48624D-8A4A-5CE3-F7A9-B7B71940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Strategic Maneuvering &amp; Diplomacy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E0794-2D64-0A13-34A2-ABD510A8D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Full Spectrum &amp; Transformational Diplomacy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2226D9-09BA-3823-4D69-ADE5BD989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Shift in Diplomacy: Modern diplomacy is moving from "government-to-government" talks to "transformational diplomacy."</a:t>
            </a:r>
          </a:p>
          <a:p>
            <a:r>
              <a:rPr lang="en-US" dirty="0"/>
              <a:t>Rooted in Partnership: Transformational diplomacy is rooted in partnership, doing things with people rather than for them.</a:t>
            </a:r>
          </a:p>
          <a:p>
            <a:r>
              <a:rPr lang="en-US" dirty="0"/>
              <a:t>Citizen Engagement: It involves engaging with foreign citizens directly to help them build their own nations and futures.</a:t>
            </a:r>
          </a:p>
          <a:p>
            <a:r>
              <a:rPr lang="en-US" dirty="0"/>
              <a:t>Full Spectrum Approach: This approach integrates economic, cultural, and digital dimensions into traditional statecraft.</a:t>
            </a:r>
          </a:p>
          <a:p>
            <a:r>
              <a:rPr lang="en-US" dirty="0"/>
              <a:t>Institutional Change: Requires "transforming old diplomatic institutions to serve new purposes" like social development.</a:t>
            </a:r>
          </a:p>
          <a:p>
            <a:r>
              <a:rPr lang="en-US" dirty="0"/>
              <a:t>Pakistan’s Application: Involves using CPEC as a platform for cultural and social integration alongside purely economic trade.</a:t>
            </a:r>
          </a:p>
        </p:txBody>
      </p:sp>
    </p:spTree>
    <p:extLst>
      <p:ext uri="{BB962C8B-B14F-4D97-AF65-F5344CB8AC3E}">
        <p14:creationId xmlns:p14="http://schemas.microsoft.com/office/powerpoint/2010/main" val="421479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F743-6FFD-F6B8-5F4F-4AF1DAF4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75A42A-7944-56C8-0718-041B8CD2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Strategic Maneuvering &amp; Diplomacy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8140F-D39C-F3FD-F0EF-3DF3E96C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People-to-People Diplomacy in CPEC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87AEAC-8A00-3AAB-1C70-BB2732043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Core Benefit: People-to-people diplomacy is identified as the "most productive consequence" of the CPEC project.</a:t>
            </a:r>
          </a:p>
          <a:p>
            <a:r>
              <a:rPr lang="en-US" dirty="0"/>
              <a:t>Bilateral Morality: It creates the most reliable medium for friendly socio-political and moral relations between populations.</a:t>
            </a:r>
          </a:p>
          <a:p>
            <a:r>
              <a:rPr lang="en-US" dirty="0"/>
              <a:t>Educational Outreach: Chinese institutes have launched training centers in cities like Lahore, Quetta, and Peshawar.</a:t>
            </a:r>
          </a:p>
          <a:p>
            <a:r>
              <a:rPr lang="en-US" dirty="0"/>
              <a:t>Scholarship Programs: Thousands of Pakistani students have been granted fully funded international scholarships to study in China.</a:t>
            </a:r>
          </a:p>
          <a:p>
            <a:r>
              <a:rPr lang="en-US" dirty="0"/>
              <a:t>Community Impact: Projects like the "Friendship School" in Gwadar demonstrate local-level social and soft power investment.</a:t>
            </a:r>
          </a:p>
          <a:p>
            <a:r>
              <a:rPr lang="en-US" dirty="0"/>
              <a:t>Cultural Congruence: This builds a "new epoch of congruence" that lasts longer than purely commercial contracts.</a:t>
            </a:r>
          </a:p>
        </p:txBody>
      </p:sp>
    </p:spTree>
    <p:extLst>
      <p:ext uri="{BB962C8B-B14F-4D97-AF65-F5344CB8AC3E}">
        <p14:creationId xmlns:p14="http://schemas.microsoft.com/office/powerpoint/2010/main" val="251082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A63A-D833-F785-BCF6-A7BAA544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E9DA2A-A6BD-31BE-EB47-327EEDA8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Strategic Maneuvering &amp; Diplomacy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D5CF1-D4A1-9117-1681-DCA5517B6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Military Globalization &amp; Regional Connectivity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52A940-D3E7-1592-517B-BABAE6D7D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Military Globalization refers to the integration of a nation’s military into global security networks to project influence.</a:t>
            </a:r>
          </a:p>
          <a:p>
            <a:r>
              <a:rPr lang="en-US" dirty="0"/>
              <a:t>Global Peacekeeping: Pakistan’s role as a top contributor to UN peacekeeping is a prime example of military globalization.</a:t>
            </a:r>
          </a:p>
          <a:p>
            <a:r>
              <a:rPr lang="en-US" dirty="0"/>
              <a:t>Defense Exports: The development and export of tech (like JF-17) serves as a tool of both hard security and diplomatic prestige.</a:t>
            </a:r>
          </a:p>
          <a:p>
            <a:r>
              <a:rPr lang="en-US" dirty="0"/>
              <a:t>Regional Association: Pakistan provides a critical regional link between Eurasia and the Gulf countries.</a:t>
            </a:r>
          </a:p>
          <a:p>
            <a:r>
              <a:rPr lang="en-US" dirty="0"/>
              <a:t>Geostrategic Fulcrum: Gwadar Seaport serves as the "fulcrum point" where land routes from China meet maritime routes.</a:t>
            </a:r>
          </a:p>
          <a:p>
            <a:r>
              <a:rPr lang="en-US" dirty="0"/>
              <a:t>Consensus Requirement: Successful connectivity requires a global consensus and reliability among regional and developed nations.</a:t>
            </a:r>
          </a:p>
        </p:txBody>
      </p:sp>
    </p:spTree>
    <p:extLst>
      <p:ext uri="{BB962C8B-B14F-4D97-AF65-F5344CB8AC3E}">
        <p14:creationId xmlns:p14="http://schemas.microsoft.com/office/powerpoint/2010/main" val="15369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D81B-060A-14C1-E567-0C85A13F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165AD4-9B5E-8132-2B6A-CD7D55A7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CPEC Implementation &amp; Impacts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B0807-4E8C-0B8F-993F-07B15F25C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Economic Dimensions – </a:t>
            </a:r>
          </a:p>
          <a:p>
            <a:pPr marL="228600" indent="0" algn="ctr">
              <a:buNone/>
            </a:pPr>
            <a:r>
              <a:rPr lang="en-US" sz="2500" b="1" dirty="0"/>
              <a:t>Market Orientation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778793-D241-E941-B602-553595757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Scale: Initially estimated at $46 billion, the project has expanded to approximately $62 billion.</a:t>
            </a:r>
          </a:p>
          <a:p>
            <a:r>
              <a:rPr lang="en-US" dirty="0"/>
              <a:t>Inclusive Approach: Follows an "inclusive approach" to march westwards through landlocked nations and maritime waters.</a:t>
            </a:r>
          </a:p>
          <a:p>
            <a:r>
              <a:rPr lang="en-US" dirty="0"/>
              <a:t>Unlatching Routes: Aims to open commercial paths across China, Central Asia, the Middle East, and Europe.</a:t>
            </a:r>
          </a:p>
          <a:p>
            <a:r>
              <a:rPr lang="en-US" dirty="0"/>
              <a:t>Dependency Management: Globalization has extended geopolitical dependency among nations to a critical level.</a:t>
            </a:r>
          </a:p>
          <a:p>
            <a:r>
              <a:rPr lang="en-US" dirty="0"/>
              <a:t>Global Village Integration: CPEC is a plan to enhance "global village" integration between diverse regional actors.</a:t>
            </a:r>
          </a:p>
          <a:p>
            <a:r>
              <a:rPr lang="en-US" dirty="0"/>
              <a:t>Win-Win Response: Despite a zero-sum atmosphere, the project is designed for win-win, reliable relations.</a:t>
            </a:r>
          </a:p>
        </p:txBody>
      </p:sp>
    </p:spTree>
    <p:extLst>
      <p:ext uri="{BB962C8B-B14F-4D97-AF65-F5344CB8AC3E}">
        <p14:creationId xmlns:p14="http://schemas.microsoft.com/office/powerpoint/2010/main" val="558853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EAFE-D39C-2D0D-A61D-1AB59294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D10434-6624-170B-9031-C64C8E8C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CPEC Implementation &amp; Impacts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D830-19E2-C853-A638-751EBD783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Infrastructure – </a:t>
            </a:r>
          </a:p>
          <a:p>
            <a:pPr marL="228600" indent="0" algn="ctr">
              <a:buNone/>
            </a:pPr>
            <a:r>
              <a:rPr lang="en-US" sz="2500" b="1" dirty="0"/>
              <a:t>Removing Trade Barriers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5C01BD-3E2C-9AE6-DCC4-5C003E748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/>
          </a:bodyPr>
          <a:lstStyle/>
          <a:p>
            <a:r>
              <a:rPr lang="en-US" dirty="0"/>
              <a:t>Rehabilitation Goals: CPEC aims to rehabilitate and invest in railways, roads, ports, airports, and highways.</a:t>
            </a:r>
          </a:p>
          <a:p>
            <a:r>
              <a:rPr lang="en-US" dirty="0"/>
              <a:t>Infrastructural Connection: The project will enhance Pakistan's connection with other regions of Asia, Africa, and Europe.</a:t>
            </a:r>
          </a:p>
          <a:p>
            <a:r>
              <a:rPr lang="en-US" dirty="0"/>
              <a:t>Barrier Elimination: A primary goal is to "knock down" social, political, and economic hindrances across the region.</a:t>
            </a:r>
          </a:p>
          <a:p>
            <a:r>
              <a:rPr lang="en-US" dirty="0"/>
              <a:t>Key Road Projects: Major projects include the </a:t>
            </a:r>
            <a:r>
              <a:rPr lang="en-US" dirty="0" err="1"/>
              <a:t>Thakot-Havelian</a:t>
            </a:r>
            <a:r>
              <a:rPr lang="en-US" dirty="0"/>
              <a:t> section (KKH Phase II) and the Peshawar-Karachi Motorway.</a:t>
            </a:r>
          </a:p>
          <a:p>
            <a:r>
              <a:rPr lang="en-US" dirty="0"/>
              <a:t>Maritime Integration: The Gwadar Port is the central node where land-based infrastructure meets the sea.</a:t>
            </a:r>
          </a:p>
          <a:p>
            <a:r>
              <a:rPr lang="en-US" dirty="0"/>
              <a:t>Business Environment: These developments create a competitive business environment for global multi-national corporations.</a:t>
            </a:r>
          </a:p>
        </p:txBody>
      </p:sp>
    </p:spTree>
    <p:extLst>
      <p:ext uri="{BB962C8B-B14F-4D97-AF65-F5344CB8AC3E}">
        <p14:creationId xmlns:p14="http://schemas.microsoft.com/office/powerpoint/2010/main" val="2683946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C94B-9040-0654-98D3-E5ED66EE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927903-5578-19FF-FA40-E48D73B8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CPEC Implementation &amp; Impacts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8E733-F686-D8D1-810A-561AC850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Energy Enrichment – </a:t>
            </a:r>
          </a:p>
          <a:p>
            <a:pPr marL="228600" indent="0" algn="ctr">
              <a:buNone/>
            </a:pPr>
            <a:r>
              <a:rPr lang="en-US" sz="2500" b="1" dirty="0"/>
              <a:t>The Backbone of Development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440FC6-FF5A-4871-1F8E-73C6B672E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Historical Precedent: History shows that energy is the primary "backbone" of industrial revolutions and growth.</a:t>
            </a:r>
          </a:p>
          <a:p>
            <a:r>
              <a:rPr lang="en-US" dirty="0"/>
              <a:t>Growth Linkage: National economic growth is intimately linked to the availability and stability of energy resources.</a:t>
            </a:r>
          </a:p>
          <a:p>
            <a:r>
              <a:rPr lang="en-US" dirty="0"/>
              <a:t>Four Pillars of Revolution: Successful industrial revolutions require Energy, Labor, Technology, and Risk Capital.</a:t>
            </a:r>
          </a:p>
          <a:p>
            <a:r>
              <a:rPr lang="en-US" dirty="0"/>
              <a:t>Resolving Crises: CPEC includes massive energy-generating arrangements to resolve Pakistan's chronic energy shortages.</a:t>
            </a:r>
          </a:p>
          <a:p>
            <a:r>
              <a:rPr lang="en-US" dirty="0"/>
              <a:t>Industrial Vitality: Energy is required to run all the industries and companies that CPEC-linked trade will foster.</a:t>
            </a:r>
          </a:p>
          <a:p>
            <a:r>
              <a:rPr lang="en-US" dirty="0"/>
              <a:t>Long-Term Vision: Ensuring energy security is viewed as essential for the "bright future" of the nation.</a:t>
            </a:r>
          </a:p>
        </p:txBody>
      </p:sp>
    </p:spTree>
    <p:extLst>
      <p:ext uri="{BB962C8B-B14F-4D97-AF65-F5344CB8AC3E}">
        <p14:creationId xmlns:p14="http://schemas.microsoft.com/office/powerpoint/2010/main" val="2121834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B320-2A42-8DD2-9728-FBF48697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C090C1-4E6F-1E58-21CB-EC10C907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CPEC Implementation &amp; Impacts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AB7BA-516B-ED9E-E1A0-AA9925C18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Employment &amp; </a:t>
            </a:r>
          </a:p>
          <a:p>
            <a:pPr marL="228600" indent="0" algn="ctr">
              <a:buNone/>
            </a:pPr>
            <a:r>
              <a:rPr lang="en-US" sz="2500" b="1" dirty="0"/>
              <a:t>Human Resource Development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509BD9-667E-0E36-B5E0-28C2C737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/>
          </a:bodyPr>
          <a:lstStyle/>
          <a:p>
            <a:r>
              <a:rPr lang="en-US" dirty="0"/>
              <a:t>Job Generation: Official claims suggest CPEC could help generate approximately 1.2 million jobs in Pakistan.</a:t>
            </a:r>
          </a:p>
          <a:p>
            <a:r>
              <a:rPr lang="en-US" dirty="0"/>
              <a:t>Labor Force Requirement: The accomplishment of such a megaproject requires a vast and diverse labor force.</a:t>
            </a:r>
          </a:p>
          <a:p>
            <a:r>
              <a:rPr lang="en-US" dirty="0"/>
              <a:t>Knowledge Transfer: Chinese corporations are facilitating "knowledge transfer" to local firms to facilitate HR growth.</a:t>
            </a:r>
          </a:p>
          <a:p>
            <a:r>
              <a:rPr lang="en-US" dirty="0"/>
              <a:t>Innovative Practices: These partnerships provide innovative practices to help Pakistan revolutionize its human resources.</a:t>
            </a:r>
          </a:p>
          <a:p>
            <a:r>
              <a:rPr lang="en-US" dirty="0"/>
              <a:t>Socio-Economic Stability: Job creation is expected to lead to broader socio-political and economic stability.</a:t>
            </a:r>
          </a:p>
          <a:p>
            <a:r>
              <a:rPr lang="en-US" dirty="0"/>
              <a:t>Human Resource Evolution: The project aims to upskill the local population to meet the demands of a globalized economy.</a:t>
            </a:r>
          </a:p>
        </p:txBody>
      </p:sp>
    </p:spTree>
    <p:extLst>
      <p:ext uri="{BB962C8B-B14F-4D97-AF65-F5344CB8AC3E}">
        <p14:creationId xmlns:p14="http://schemas.microsoft.com/office/powerpoint/2010/main" val="15593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ECEED-7399-B418-DBAD-221FE8BF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C0D18-A2E7-76E9-BC9D-78894F3E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576072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CPEC Implementation &amp; Impacts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FD526-CFC0-3E21-3C8C-B0F204EFE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Tourism &amp; Cultural Revival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D34CDB-D9AE-8756-796E-935571B1F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792361"/>
            <a:ext cx="10076688" cy="3489567"/>
          </a:xfrm>
        </p:spPr>
        <p:txBody>
          <a:bodyPr>
            <a:normAutofit fontScale="92500"/>
          </a:bodyPr>
          <a:lstStyle/>
          <a:p>
            <a:r>
              <a:rPr lang="en-US" dirty="0"/>
              <a:t>Stable Outlook: CPEC provides a political and economic revivalism that projects a "stable outlook" for Pakistan.</a:t>
            </a:r>
          </a:p>
          <a:p>
            <a:r>
              <a:rPr lang="en-US" dirty="0"/>
              <a:t>Attracting Visitors: This stability is expected to attract international tourists to Pakistan’s northern valleys.</a:t>
            </a:r>
          </a:p>
          <a:p>
            <a:r>
              <a:rPr lang="en-US" dirty="0"/>
              <a:t>Economic Benefit: Increased tourism automatically leads to increased foreign investment in the service sector.</a:t>
            </a:r>
          </a:p>
          <a:p>
            <a:r>
              <a:rPr lang="en-US" dirty="0"/>
              <a:t>Service Sector Growth: Tourism is specifically beneficial for the growth of the hotel and hospitality business.</a:t>
            </a:r>
          </a:p>
          <a:p>
            <a:r>
              <a:rPr lang="en-US" dirty="0"/>
              <a:t>Ease of Access: Infrastructural improvements make it significantly easier for tourists to travel within the country.</a:t>
            </a:r>
          </a:p>
          <a:p>
            <a:r>
              <a:rPr lang="en-US" dirty="0"/>
              <a:t>Global Integration: A thriving tourism industry serves as a soft power tool, integrating Pakistan socially into the world.</a:t>
            </a:r>
          </a:p>
        </p:txBody>
      </p:sp>
    </p:spTree>
    <p:extLst>
      <p:ext uri="{BB962C8B-B14F-4D97-AF65-F5344CB8AC3E}">
        <p14:creationId xmlns:p14="http://schemas.microsoft.com/office/powerpoint/2010/main" val="99036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A24D-3295-A53E-9C18-D6C73EAA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0E2C95-88E6-2024-EB9E-85BB2075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C3F81-76F1-95CC-7EC2-9FFA1C7D9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Security Constrictions &amp; Sabotage Risks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F146D6-C4E1-BEC7-4899-9F86B415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Identified Hurdles: Major hurdles include energy crises, fiscal inflation, and infrastructural backwardness.</a:t>
            </a:r>
          </a:p>
          <a:p>
            <a:r>
              <a:rPr lang="en-US" dirty="0"/>
              <a:t>Sabotage Nexus: Concerns exist that regional groups have developed a nexus to sabotage the project's progress.</a:t>
            </a:r>
          </a:p>
          <a:p>
            <a:r>
              <a:rPr lang="en-US" dirty="0"/>
              <a:t>Political Risk: Instability and a lack of "policy consistency" can drag a project toward socio-political incarceration.</a:t>
            </a:r>
          </a:p>
          <a:p>
            <a:r>
              <a:rPr lang="en-US" dirty="0"/>
              <a:t>Regional Antagonism: India’s "cynical apprehension" of the project is seen as a significant constraint to cooperation.</a:t>
            </a:r>
          </a:p>
          <a:p>
            <a:r>
              <a:rPr lang="en-US" dirty="0"/>
              <a:t>Institutional Weakness: The study highlights the need to address institutional weaknesses within the region to ensure success.</a:t>
            </a:r>
          </a:p>
          <a:p>
            <a:r>
              <a:rPr lang="en-US" dirty="0"/>
              <a:t>Research-Based Remedies: Governments are urged to consider research-based suggestions to smoothen project outcomes.</a:t>
            </a:r>
          </a:p>
        </p:txBody>
      </p:sp>
    </p:spTree>
    <p:extLst>
      <p:ext uri="{BB962C8B-B14F-4D97-AF65-F5344CB8AC3E}">
        <p14:creationId xmlns:p14="http://schemas.microsoft.com/office/powerpoint/2010/main" val="2695554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B009-608D-31EB-3582-B68ABB72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6B63ED-6B9D-96E6-36A7-CDB3D45E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5BE88-CC9D-C773-F9E0-4AD53C8B9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The Revolution in Post-Industrial Power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199E6D-A90F-49FF-703C-6B9F085A9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Shift from Industrial: G-8 nations are accelerating their transformation toward knowledge-based economies.</a:t>
            </a:r>
          </a:p>
          <a:p>
            <a:r>
              <a:rPr lang="en-US" dirty="0"/>
              <a:t>Knowledge-Based Power: Power increasingly rests on a nation’s capacity to create and manipulate information.</a:t>
            </a:r>
          </a:p>
          <a:p>
            <a:r>
              <a:rPr lang="en-US" dirty="0"/>
              <a:t>Creativity over Armor: A country’s capacity for innovation can now trump its possession of traditional armored divisions.</a:t>
            </a:r>
          </a:p>
          <a:p>
            <a:r>
              <a:rPr lang="en-US" dirty="0"/>
              <a:t>Digital Warfare: The world of warfare has become more digital, networked, and flexible in the 21st century.</a:t>
            </a:r>
          </a:p>
          <a:p>
            <a:r>
              <a:rPr lang="en-US" dirty="0"/>
              <a:t>High-Tech Influence: New high-tech tools greatly enhance the reach of both military and non-military influence.</a:t>
            </a:r>
          </a:p>
          <a:p>
            <a:r>
              <a:rPr lang="en-US" dirty="0"/>
              <a:t>Military Re-positioning: While still important, the relative role of the military has changed in the modern asset mix.</a:t>
            </a:r>
          </a:p>
        </p:txBody>
      </p:sp>
    </p:spTree>
    <p:extLst>
      <p:ext uri="{BB962C8B-B14F-4D97-AF65-F5344CB8AC3E}">
        <p14:creationId xmlns:p14="http://schemas.microsoft.com/office/powerpoint/2010/main" val="3132306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CED1-B145-B219-B81C-3F7D21E6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BC8317-7D9E-A5DE-0A62-AF988101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DC28A-B2F3-F8B7-725D-A51BCED9F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The Emergence of "Smarter" Populations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4A604D-2D24-F667-DC60-78F09888A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Better Education: Target populations have become "smarter" due to the spread of higher education globally.</a:t>
            </a:r>
          </a:p>
          <a:p>
            <a:r>
              <a:rPr lang="en-US" dirty="0"/>
              <a:t>Information Availability: Media outlets mean populations are more sophisticated and knowledgeable about their own societies.</a:t>
            </a:r>
          </a:p>
          <a:p>
            <a:r>
              <a:rPr lang="en-US" dirty="0"/>
              <a:t>Urbanization and Class: As the world becomes more urban and middle-class, individuals are becoming more assertive.</a:t>
            </a:r>
          </a:p>
          <a:p>
            <a:r>
              <a:rPr lang="en-US" dirty="0"/>
              <a:t>End of Paternalism: Newly educated populations demand to be treated as partners—paternalism is less effective.</a:t>
            </a:r>
          </a:p>
          <a:p>
            <a:r>
              <a:rPr lang="en-US" dirty="0"/>
              <a:t>Democratic Constraints: The spread of democratic practices means foreign leaders have less leeway to act as surrogates.</a:t>
            </a:r>
          </a:p>
          <a:p>
            <a:r>
              <a:rPr lang="en-US" dirty="0"/>
              <a:t>Opportunity for Smart Power: Democracy provides distinct opportunities for the design of more sophisticated foreign policy.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567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0E58-CEC6-DFBB-C897-4C23A34F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E18CC0-C47D-94C9-2FAD-20BC10D65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E12A8-776C-02E3-8E21-C72445AA0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r>
              <a:rPr lang="en-US" sz="2500" b="1" dirty="0"/>
              <a:t>Non-State Actors</a:t>
            </a:r>
          </a:p>
          <a:p>
            <a:pPr marL="228600" indent="0" algn="ctr">
              <a:buNone/>
            </a:pPr>
            <a:r>
              <a:rPr lang="en-US" sz="2500" b="1" dirty="0"/>
              <a:t> &amp;</a:t>
            </a:r>
          </a:p>
          <a:p>
            <a:pPr marL="228600" indent="0" algn="ctr">
              <a:buNone/>
            </a:pPr>
            <a:r>
              <a:rPr lang="en-US" sz="2500" b="1" dirty="0"/>
              <a:t> Media Platforms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B45CA5-9EC8-4A5D-1D66-FC1ACFDC9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/>
          </a:bodyPr>
          <a:lstStyle/>
          <a:p>
            <a:r>
              <a:rPr lang="en-US" dirty="0"/>
              <a:t>Universal Smartness: As states get smarter, so too do non-state actors in their use of media platforms.</a:t>
            </a:r>
          </a:p>
          <a:p>
            <a:r>
              <a:rPr lang="en-US" dirty="0"/>
              <a:t>Multi-Platform Usage: Non-state groups utilize digital platforms to project influence and counter state narratives.</a:t>
            </a:r>
          </a:p>
          <a:p>
            <a:r>
              <a:rPr lang="en-US" dirty="0"/>
              <a:t>Strategic Requirement: Any actor aspiring to enhance its position must build strategies around these "fundamentals of smartness".</a:t>
            </a:r>
          </a:p>
          <a:p>
            <a:r>
              <a:rPr lang="en-US" dirty="0"/>
              <a:t>Force Ineffectiveness: Conventional hard power is often ineffective against dispersed, digitally-connected non-state actors.</a:t>
            </a:r>
          </a:p>
          <a:p>
            <a:r>
              <a:rPr lang="en-US" dirty="0"/>
              <a:t>Information Control: The ability to control the framing of information is as critical as physical security today.</a:t>
            </a:r>
          </a:p>
          <a:p>
            <a:r>
              <a:rPr lang="en-US" dirty="0"/>
              <a:t>Global Reach: Digital tools allow even small groups to achieve a global reach previously reserved for nation-states.</a:t>
            </a:r>
          </a:p>
        </p:txBody>
      </p:sp>
    </p:spTree>
    <p:extLst>
      <p:ext uri="{BB962C8B-B14F-4D97-AF65-F5344CB8AC3E}">
        <p14:creationId xmlns:p14="http://schemas.microsoft.com/office/powerpoint/2010/main" val="3345353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1A72-F1F5-A981-CD0A-AAB84FA7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FA38B0-FD1B-F7A9-40F3-6CA76FE4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81603-D01C-5074-4020-A83D01E3B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Global Shifts &amp; New Constraints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7C4B5A-D584-4C31-3FFC-8F2103BFF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Collapse of Old Dichotomies: The rise of India, China, and Brazil means old Cold War dichotomies have collapsed.</a:t>
            </a:r>
          </a:p>
          <a:p>
            <a:r>
              <a:rPr lang="en-US" dirty="0"/>
              <a:t>Rise of New Actors: These new actors impose distinct constraints on the unilateral actions of established G-8 nations.</a:t>
            </a:r>
          </a:p>
          <a:p>
            <a:r>
              <a:rPr lang="en-US" dirty="0"/>
              <a:t>Greater Sophistication Needed: Designing foreign policy today requires greater nuance than in the 20th century.</a:t>
            </a:r>
          </a:p>
          <a:p>
            <a:r>
              <a:rPr lang="en-US" dirty="0"/>
              <a:t>Unilateralism Limits: The era where one or two superpowers could dictate global terms has largely ended.</a:t>
            </a:r>
          </a:p>
          <a:p>
            <a:r>
              <a:rPr lang="en-US" dirty="0"/>
              <a:t>Multi-Polarity: The global environment is increasingly multi-polar, requiring more complex "hedging" strategies.</a:t>
            </a:r>
          </a:p>
          <a:p>
            <a:r>
              <a:rPr lang="en-US" dirty="0"/>
              <a:t>Interdependence: Economic and environmental interdependence makes unilateral hard power moves more costly.</a:t>
            </a:r>
          </a:p>
        </p:txBody>
      </p:sp>
    </p:spTree>
    <p:extLst>
      <p:ext uri="{BB962C8B-B14F-4D97-AF65-F5344CB8AC3E}">
        <p14:creationId xmlns:p14="http://schemas.microsoft.com/office/powerpoint/2010/main" val="2903348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17FC-33EC-B849-866C-663D598B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11A936-0256-4A4E-301F-FCC31D2F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41543"/>
            <a:ext cx="5029200" cy="182880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Challenges &amp; The Evolution of Power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A248-D739-7A3B-2E15-AAD836FFF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50152"/>
            <a:ext cx="4572000" cy="148064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Institutional Imbalance &amp; Risks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D0E8-F3EB-8AAA-5544-998356026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670343"/>
            <a:ext cx="10076688" cy="3611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 Landscape: Hard power institutions are typically disproportionately larger and better funded than soft power ones.</a:t>
            </a:r>
          </a:p>
          <a:p>
            <a:r>
              <a:rPr lang="en-US" dirty="0"/>
              <a:t>The Funding Gap: Military budgets (e.g., US DOD) dwarf public diplomacy budgets by hundreds of billions.</a:t>
            </a:r>
          </a:p>
          <a:p>
            <a:r>
              <a:rPr lang="en-US" dirty="0"/>
              <a:t>Institutional Culture: Separate institutions exert their own "normative influences" over their members' attitudes.</a:t>
            </a:r>
          </a:p>
          <a:p>
            <a:r>
              <a:rPr lang="en-US" dirty="0"/>
              <a:t>Career Paths: Distinct institutional cultures create different incentives and career paths for military vs. diplomats.</a:t>
            </a:r>
          </a:p>
          <a:p>
            <a:r>
              <a:rPr lang="en-US" dirty="0"/>
              <a:t>The Smart Power Challenge: Building smart power requires bridging these vastly different and unequal institutional worlds.</a:t>
            </a:r>
          </a:p>
          <a:p>
            <a:r>
              <a:rPr lang="en-US" dirty="0"/>
              <a:t>Bipartisan Failure: In many contexts, achieving smart power has proven a persistent challenge across different administrations</a:t>
            </a:r>
          </a:p>
        </p:txBody>
      </p:sp>
    </p:spTree>
    <p:extLst>
      <p:ext uri="{BB962C8B-B14F-4D97-AF65-F5344CB8AC3E}">
        <p14:creationId xmlns:p14="http://schemas.microsoft.com/office/powerpoint/2010/main" val="435168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438F-B212-0EFC-0DD9-4957759E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8679C8-C9A3-45BB-2F4A-B77B74F3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58184"/>
            <a:ext cx="5029200" cy="1828800"/>
          </a:xfrm>
        </p:spPr>
        <p:txBody>
          <a:bodyPr>
            <a:normAutofit/>
          </a:bodyPr>
          <a:lstStyle/>
          <a:p>
            <a:pPr algn="ctr"/>
            <a:br>
              <a:rPr lang="en-US" sz="5000" b="1" dirty="0"/>
            </a:br>
            <a:r>
              <a:rPr lang="en-US" sz="5000" b="1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6A7FC-92B2-41DE-0D95-9DE6E5575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777732"/>
            <a:ext cx="4572000" cy="1828800"/>
          </a:xfrm>
        </p:spPr>
        <p:txBody>
          <a:bodyPr>
            <a:normAutofit/>
          </a:bodyPr>
          <a:lstStyle/>
          <a:p>
            <a:pPr marL="228600" indent="0" algn="ctr">
              <a:buNone/>
            </a:pPr>
            <a:endParaRPr lang="en-US" sz="2500" b="1" dirty="0"/>
          </a:p>
          <a:p>
            <a:pPr marL="228600" indent="0" algn="ctr">
              <a:buNone/>
            </a:pPr>
            <a:r>
              <a:rPr lang="en-US" sz="2500" b="1" dirty="0"/>
              <a:t>A New Epoch of Congruence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2C6887-35A8-BD4C-B694-5A0B612AD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926080"/>
            <a:ext cx="10076688" cy="33558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Harbinger of Congruence: CPEC is professed as the harbinger of a new epoch of integration for Pakistan.</a:t>
            </a:r>
          </a:p>
          <a:p>
            <a:r>
              <a:rPr lang="en-US" dirty="0"/>
              <a:t>Breaking Zero-Sum: Its primary strategic goal is to break the zero-sum trap and replace it with stability.</a:t>
            </a:r>
          </a:p>
          <a:p>
            <a:r>
              <a:rPr lang="en-US" dirty="0"/>
              <a:t>From Survival to Hub: Pakistan must leverage its geostrategy to redefine its role from a buffer to an economic hub.</a:t>
            </a:r>
          </a:p>
          <a:p>
            <a:r>
              <a:rPr lang="en-US" dirty="0"/>
              <a:t>The Smart Power Path: Success requires a sophisticated mix of hard security and soft cultural integration.</a:t>
            </a:r>
          </a:p>
          <a:p>
            <a:r>
              <a:rPr lang="en-US" dirty="0"/>
              <a:t>Policy Consistency: Achieving these long-term goals requires consistency across administrations and partnerships.</a:t>
            </a:r>
          </a:p>
          <a:p>
            <a:r>
              <a:rPr lang="en-US" dirty="0"/>
              <a:t>Final Outlook: When successful, CPEC can revitalize the Silk Road and bring prosperity to the Eurasian region.</a:t>
            </a:r>
          </a:p>
        </p:txBody>
      </p:sp>
    </p:spTree>
    <p:extLst>
      <p:ext uri="{BB962C8B-B14F-4D97-AF65-F5344CB8AC3E}">
        <p14:creationId xmlns:p14="http://schemas.microsoft.com/office/powerpoint/2010/main" val="221808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</TotalTime>
  <Words>3165</Words>
  <Application>Microsoft Office PowerPoint</Application>
  <PresentationFormat>Widescreen</PresentationFormat>
  <Paragraphs>236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Office Theme</vt:lpstr>
      <vt:lpstr>Foreign Relations of Pakistan</vt:lpstr>
      <vt:lpstr>Theoretical Frameworks of Power</vt:lpstr>
      <vt:lpstr>Theoretical Frameworks of Power</vt:lpstr>
      <vt:lpstr>Theoretical Frameworks of Power</vt:lpstr>
      <vt:lpstr>Theoretical Frameworks of Power</vt:lpstr>
      <vt:lpstr>Theoretical Frameworks of Power</vt:lpstr>
      <vt:lpstr>The Regional Environment &amp; Geopolitics</vt:lpstr>
      <vt:lpstr>The Regional Environment &amp; Geopolitics</vt:lpstr>
      <vt:lpstr>The Regional Environment &amp; Geopolitics</vt:lpstr>
      <vt:lpstr>Strategic Maneuvering &amp; Diplomacy</vt:lpstr>
      <vt:lpstr>Strategic Maneuvering &amp; Diplomacy</vt:lpstr>
      <vt:lpstr>Strategic Maneuvering &amp; Diplomacy</vt:lpstr>
      <vt:lpstr>Strategic Maneuvering &amp; Diplomacy</vt:lpstr>
      <vt:lpstr>Strategic Maneuvering &amp; Diplomacy</vt:lpstr>
      <vt:lpstr>CPEC Implementation &amp; Impacts</vt:lpstr>
      <vt:lpstr>CPEC Implementation &amp; Impacts</vt:lpstr>
      <vt:lpstr>CPEC Implementation &amp; Impacts</vt:lpstr>
      <vt:lpstr>CPEC Implementation &amp; Impacts</vt:lpstr>
      <vt:lpstr>CPEC Implementation &amp; Impacts</vt:lpstr>
      <vt:lpstr>Challenges &amp; The Evolution of Power</vt:lpstr>
      <vt:lpstr>Challenges &amp; The Evolution of Power</vt:lpstr>
      <vt:lpstr>Challenges &amp; The Evolution of Power</vt:lpstr>
      <vt:lpstr>Challenges &amp; The Evolution of Power</vt:lpstr>
      <vt:lpstr>Challenges &amp; The Evolution of Power</vt:lpstr>
      <vt:lpstr>Challenges &amp; The Evolution of Power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4</cp:revision>
  <dcterms:created xsi:type="dcterms:W3CDTF">2026-04-08T17:11:08Z</dcterms:created>
  <dcterms:modified xsi:type="dcterms:W3CDTF">2026-04-09T04:16:48Z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