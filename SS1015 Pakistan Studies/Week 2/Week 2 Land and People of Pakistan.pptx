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2">
  <p:sldMasterIdLst>
    <p:sldMasterId id="2147483762" r:id="rId1"/>
  </p:sldMasterIdLst>
  <p:notesMasterIdLst>
    <p:notesMasterId r:id="rId45"/>
  </p:notesMasterIdLst>
  <p:sldIdLst>
    <p:sldId id="266" r:id="rId2"/>
    <p:sldId id="267" r:id="rId3"/>
    <p:sldId id="275" r:id="rId4"/>
    <p:sldId id="276" r:id="rId5"/>
    <p:sldId id="310" r:id="rId6"/>
    <p:sldId id="311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7" r:id="rId37"/>
    <p:sldId id="308" r:id="rId38"/>
    <p:sldId id="269" r:id="rId39"/>
    <p:sldId id="270" r:id="rId40"/>
    <p:sldId id="271" r:id="rId41"/>
    <p:sldId id="272" r:id="rId42"/>
    <p:sldId id="273" r:id="rId43"/>
    <p:sldId id="309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E95E2-20A2-4A08-860B-DCE5792645AB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DAE3F-69C6-4F28-A033-6EF43D63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5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DAE3F-69C6-4F28-A033-6EF43D6355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00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Saturday, January 31,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4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Saturday, January 31,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9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Saturday, January 31,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0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Saturday, January 31,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8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Saturday, January 31,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1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Saturday, January 31,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0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Saturday, January 31,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24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Saturday, January 31,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68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Saturday, January 31,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0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Saturday, January 31,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6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Saturday, January 31,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09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Saturday, January 31,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838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55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474310-5E22-375A-5945-3B3375BA9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6089"/>
          </a:xfr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blurRad="1270000" stA="45000" endPos="65000" dist="50800" dir="5400000" sy="-100000" algn="bl" rotWithShape="0"/>
            <a:softEdge rad="635000"/>
          </a:effectLst>
          <a:scene3d>
            <a:camera prst="orthographicFront"/>
            <a:lightRig rig="threePt" dir="t"/>
          </a:scene3d>
          <a:sp3d extrusionH="254000" prstMaterial="powder"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DDDB01-9076-F283-3705-6B4073F0771A}"/>
              </a:ext>
            </a:extLst>
          </p:cNvPr>
          <p:cNvSpPr txBox="1"/>
          <p:nvPr/>
        </p:nvSpPr>
        <p:spPr>
          <a:xfrm>
            <a:off x="2906764" y="1750276"/>
            <a:ext cx="7312409" cy="4524315"/>
          </a:xfrm>
          <a:prstGeom prst="rect">
            <a:avLst/>
          </a:prstGeom>
          <a:blipFill dpi="0" rotWithShape="1">
            <a:blip r:embed="rId4">
              <a:alphaModFix amt="50000"/>
            </a:blip>
            <a:srcRect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algn="ctr"/>
            <a:endParaRPr lang="en-US" sz="7200" b="1" dirty="0">
              <a:solidFill>
                <a:schemeClr val="tx2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algn="ctr"/>
            <a:r>
              <a:rPr lang="en-US" sz="7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lgerian" panose="04020705040A02060702" pitchFamily="82" charset="0"/>
              </a:rPr>
              <a:t>Land &amp; People of Pakistan</a:t>
            </a:r>
          </a:p>
          <a:p>
            <a:pPr algn="ctr"/>
            <a:endParaRPr lang="en-US" sz="7200" b="1" dirty="0">
              <a:solidFill>
                <a:schemeClr val="tx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740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8B87-36B3-8781-B5C9-45677AAA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Introduction to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DB005-E62A-9049-ED23-0D69CAF17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81370"/>
            <a:ext cx="10728325" cy="322737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Pakistan is officially known as the Islamic Republic of Pakistan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emerged as an independent state on 14 August 1947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Pakistan occupies a region that has historically been a center of civilization and trade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Its geography has played a vital role in shaping its political importance and defense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country exhibits remarkable diversity in land, climate, and population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Islamabad serves as the capital city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official currency of Pakistan is the Pakistani Rupee (PKR), denoted by the symbol "₨“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Four Provinces are Punjab, Sindh, Khyber Pakhtunkhwa, </a:t>
            </a:r>
            <a:r>
              <a:rPr lang="en-US" dirty="0" err="1"/>
              <a:t>Balochistan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79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2427C-C01D-482A-89E2-D1E3F1EC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Historical Significance of the Land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6EABB-83CF-49AE-BB16-2238D18ED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7" y="2096528"/>
            <a:ext cx="10728325" cy="3227375"/>
          </a:xfrm>
        </p:spPr>
        <p:txBody>
          <a:bodyPr>
            <a:noAutofit/>
          </a:bodyPr>
          <a:lstStyle/>
          <a:p>
            <a:r>
              <a:rPr lang="en-US" sz="2500" dirty="0"/>
              <a:t>The region was home to the Indus Valley Civilization, one of the world’s earliest civilizations</a:t>
            </a:r>
          </a:p>
          <a:p>
            <a:r>
              <a:rPr lang="en-US" sz="2500" dirty="0"/>
              <a:t>Successive invasions and migrations passed through this land due to mountain passes</a:t>
            </a:r>
          </a:p>
          <a:p>
            <a:r>
              <a:rPr lang="en-US" sz="2500" dirty="0"/>
              <a:t>Muslim rule shaped cultural, social, and religious identity of the region</a:t>
            </a:r>
          </a:p>
          <a:p>
            <a:r>
              <a:rPr lang="en-US" sz="2500" dirty="0"/>
              <a:t>British colonial policies influenced irrigation, administration, and infrastructure</a:t>
            </a:r>
          </a:p>
          <a:p>
            <a:r>
              <a:rPr lang="en-US" sz="2500" dirty="0"/>
              <a:t>Partition in 1947 reshaped demographics and settlement patterns</a:t>
            </a:r>
          </a:p>
        </p:txBody>
      </p:sp>
    </p:spTree>
    <p:extLst>
      <p:ext uri="{BB962C8B-B14F-4D97-AF65-F5344CB8AC3E}">
        <p14:creationId xmlns:p14="http://schemas.microsoft.com/office/powerpoint/2010/main" val="3778259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CB8C-5038-44A5-8B59-1ABEDCCC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Geographical Location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29561-4F05-40BC-B387-F47F1DA7A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096528"/>
            <a:ext cx="10728325" cy="3227375"/>
          </a:xfrm>
        </p:spPr>
        <p:txBody>
          <a:bodyPr>
            <a:noAutofit/>
          </a:bodyPr>
          <a:lstStyle/>
          <a:p>
            <a:r>
              <a:rPr lang="en-US" sz="2500" dirty="0"/>
              <a:t>Pakistan lies between 24° to 37° North latitude and 61° to 75° East longitude</a:t>
            </a:r>
          </a:p>
          <a:p>
            <a:r>
              <a:rPr lang="en-US" sz="2500" dirty="0"/>
              <a:t>It is located at the crossroads of South Asia, Central Asia, and the Middle East</a:t>
            </a:r>
          </a:p>
          <a:p>
            <a:r>
              <a:rPr lang="en-US" sz="2500" dirty="0"/>
              <a:t>The country covers an area of approximately 796,096 square kilometers</a:t>
            </a:r>
          </a:p>
          <a:p>
            <a:r>
              <a:rPr lang="en-US" sz="2500" dirty="0"/>
              <a:t>Its location exposes it to diverse climatic influences and tectonic activity</a:t>
            </a:r>
          </a:p>
          <a:p>
            <a:r>
              <a:rPr lang="en-US" sz="2500" dirty="0"/>
              <a:t>This location enhances both opportunities and challenges for Pakistan</a:t>
            </a:r>
          </a:p>
        </p:txBody>
      </p:sp>
    </p:spTree>
    <p:extLst>
      <p:ext uri="{BB962C8B-B14F-4D97-AF65-F5344CB8AC3E}">
        <p14:creationId xmlns:p14="http://schemas.microsoft.com/office/powerpoint/2010/main" val="3958950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3B2B-7DF4-49C1-93F4-8418D039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Global Power Competition &amp; Pakistan’s Strategic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680F8-9DCC-4DB3-9331-0B1EA3364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342507"/>
            <a:ext cx="10728325" cy="411993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dirty="0"/>
              <a:t>World Island: The term used to describe the combined landmass.</a:t>
            </a:r>
          </a:p>
          <a:p>
            <a:pPr algn="just"/>
            <a:r>
              <a:rPr lang="en-US" sz="1800" dirty="0"/>
              <a:t>Heartland Theory: Refers to the central region of Eurasia which holds the key to global power due to its vast land resources, strategic depth, and inaccessibility to sea power.</a:t>
            </a:r>
          </a:p>
          <a:p>
            <a:pPr algn="just"/>
            <a:r>
              <a:rPr lang="en-US" sz="1800" dirty="0"/>
              <a:t>Rimland Theory: The coastal fringe surrounding the Heartland where control over maritime routes and population centers determines global dominance.</a:t>
            </a:r>
          </a:p>
          <a:p>
            <a:pPr algn="just"/>
            <a:r>
              <a:rPr lang="en-US" sz="1800" dirty="0"/>
              <a:t>Geo-strategy: Refers to the formulation of foreign and security policies based on geographic realities, focusing on military positioning, alliances, and control of strategic regions.</a:t>
            </a:r>
          </a:p>
          <a:p>
            <a:pPr algn="just"/>
            <a:r>
              <a:rPr lang="en-US" sz="1800" dirty="0"/>
              <a:t>Geopolitics: The study of how geography, including location, climate, resources, and population, influences a state’s political power, foreign policy, and international relations.</a:t>
            </a:r>
          </a:p>
          <a:p>
            <a:pPr algn="just"/>
            <a:r>
              <a:rPr lang="en-US" sz="1800" dirty="0"/>
              <a:t>Geo-economics: Involves the use of economic tools such as trade, investment, sanctions, and aid to achieve geopolitical objectives and enhance national influence.</a:t>
            </a:r>
          </a:p>
        </p:txBody>
      </p:sp>
    </p:spTree>
    <p:extLst>
      <p:ext uri="{BB962C8B-B14F-4D97-AF65-F5344CB8AC3E}">
        <p14:creationId xmlns:p14="http://schemas.microsoft.com/office/powerpoint/2010/main" val="1697694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26C4E6-8F13-4974-BC05-09B5BA4DA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72" y="458819"/>
            <a:ext cx="4067069" cy="3187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ED8662-E797-4824-BF3E-5BE6A6A12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955" y="3855269"/>
            <a:ext cx="4237447" cy="26652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CCF55D-44BF-4660-8D16-3D536201D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048" y="409897"/>
            <a:ext cx="5225505" cy="318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70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55E1-02B5-43CA-A8BC-619B8AF1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Borders and Neighboring Countries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E9824-8737-4F16-9994-4CA0F3394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Pakistan shares its eastern border with India, marked by political tension</a:t>
            </a:r>
          </a:p>
          <a:p>
            <a:r>
              <a:rPr lang="en-US" sz="2400" dirty="0"/>
              <a:t>Afghanistan lies to the northwest with a historically porous border</a:t>
            </a:r>
          </a:p>
          <a:p>
            <a:r>
              <a:rPr lang="en-US" sz="2400" dirty="0"/>
              <a:t>Iran borders Pakistan in the southwest</a:t>
            </a:r>
          </a:p>
          <a:p>
            <a:r>
              <a:rPr lang="en-US" sz="2400" dirty="0"/>
              <a:t>China is located in the northeast, connected via the Karakoram Highway</a:t>
            </a:r>
          </a:p>
          <a:p>
            <a:r>
              <a:rPr lang="en-US" sz="2400" dirty="0"/>
              <a:t>The Arabian Sea forms Pakistan’s southern boundary, providing access to global trade</a:t>
            </a:r>
          </a:p>
        </p:txBody>
      </p:sp>
    </p:spTree>
    <p:extLst>
      <p:ext uri="{BB962C8B-B14F-4D97-AF65-F5344CB8AC3E}">
        <p14:creationId xmlns:p14="http://schemas.microsoft.com/office/powerpoint/2010/main" val="1473627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42D3-EC85-496D-90E7-0FCE5917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Strategic Importance of Pakistan’s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9FAD9-ADF6-45FD-802A-8853A6289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Pakistan’s location gives it strategic military and economic importance</a:t>
            </a:r>
          </a:p>
          <a:p>
            <a:r>
              <a:rPr lang="en-US" sz="2500" dirty="0"/>
              <a:t>It serves as a gateway to landlocked Central Asian states</a:t>
            </a:r>
          </a:p>
          <a:p>
            <a:r>
              <a:rPr lang="en-US" sz="2500" dirty="0"/>
              <a:t>Proximity to Middle Eastern oil reserves increases geopolitical relevance</a:t>
            </a:r>
          </a:p>
          <a:p>
            <a:r>
              <a:rPr lang="en-US" sz="2500" dirty="0"/>
              <a:t>Ports like Gwadar enhance maritime trade potential</a:t>
            </a:r>
          </a:p>
          <a:p>
            <a:r>
              <a:rPr lang="en-US" sz="2500" dirty="0"/>
              <a:t>The region remains significant in global and regional politics</a:t>
            </a:r>
          </a:p>
        </p:txBody>
      </p:sp>
    </p:spTree>
    <p:extLst>
      <p:ext uri="{BB962C8B-B14F-4D97-AF65-F5344CB8AC3E}">
        <p14:creationId xmlns:p14="http://schemas.microsoft.com/office/powerpoint/2010/main" val="1949616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E4D2-5B03-4655-A22D-C4C3730C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Physical Divisions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E2E9-CD5D-4458-9187-AA4A15596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8845"/>
            <a:ext cx="10728325" cy="3227375"/>
          </a:xfrm>
        </p:spPr>
        <p:txBody>
          <a:bodyPr>
            <a:noAutofit/>
          </a:bodyPr>
          <a:lstStyle/>
          <a:p>
            <a:r>
              <a:rPr lang="en-US" sz="2500" dirty="0"/>
              <a:t>Pakistan’s land is divided into distinct physical regions</a:t>
            </a:r>
          </a:p>
          <a:p>
            <a:r>
              <a:rPr lang="en-US" sz="2500" dirty="0"/>
              <a:t>Each region has unique relief, climate, and economic activities</a:t>
            </a:r>
          </a:p>
          <a:p>
            <a:r>
              <a:rPr lang="en-US" sz="2500" dirty="0"/>
              <a:t>The major physical divisions are:</a:t>
            </a:r>
          </a:p>
          <a:p>
            <a:pPr lvl="1"/>
            <a:r>
              <a:rPr lang="en-US" sz="2500" dirty="0"/>
              <a:t>Northern and Northwestern Mountains</a:t>
            </a:r>
          </a:p>
          <a:p>
            <a:pPr lvl="1"/>
            <a:r>
              <a:rPr lang="en-US" sz="2500" dirty="0"/>
              <a:t>Western Highlands</a:t>
            </a:r>
          </a:p>
          <a:p>
            <a:pPr lvl="1"/>
            <a:r>
              <a:rPr lang="en-US" sz="2500" dirty="0"/>
              <a:t>Indus Plain</a:t>
            </a:r>
          </a:p>
          <a:p>
            <a:pPr lvl="1"/>
            <a:r>
              <a:rPr lang="en-US" sz="2500" dirty="0"/>
              <a:t>Desert Regions</a:t>
            </a:r>
          </a:p>
          <a:p>
            <a:pPr lvl="1"/>
            <a:r>
              <a:rPr lang="en-US" sz="2500" dirty="0"/>
              <a:t>Coastal Areas</a:t>
            </a:r>
          </a:p>
          <a:p>
            <a:r>
              <a:rPr lang="en-US" sz="2500" dirty="0"/>
              <a:t>These divisions strongly influence population distribution</a:t>
            </a:r>
          </a:p>
        </p:txBody>
      </p:sp>
    </p:spTree>
    <p:extLst>
      <p:ext uri="{BB962C8B-B14F-4D97-AF65-F5344CB8AC3E}">
        <p14:creationId xmlns:p14="http://schemas.microsoft.com/office/powerpoint/2010/main" val="632128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0A98-31DE-46D5-8171-A38521D0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Northern and Northwestern Mountains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C8727-647F-4BE4-990A-1FC836D68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This region includes the Himalayas, Karakoram, and Hindu Kush ranges</a:t>
            </a:r>
          </a:p>
          <a:p>
            <a:r>
              <a:rPr lang="en-US" sz="2500" dirty="0"/>
              <a:t>These are young fold mountains formed by tectonic collision</a:t>
            </a:r>
          </a:p>
          <a:p>
            <a:r>
              <a:rPr lang="en-US" sz="2500" dirty="0"/>
              <a:t>The area contains some of the highest peaks and longest glaciers</a:t>
            </a:r>
          </a:p>
          <a:p>
            <a:r>
              <a:rPr lang="en-US" sz="2500" dirty="0"/>
              <a:t>It acts as a climatic barrier against cold winds</a:t>
            </a:r>
          </a:p>
          <a:p>
            <a:r>
              <a:rPr lang="en-US" sz="2500" dirty="0"/>
              <a:t>The region is sparsely populated but rich in natural beauty and water resources</a:t>
            </a:r>
          </a:p>
        </p:txBody>
      </p:sp>
    </p:spTree>
    <p:extLst>
      <p:ext uri="{BB962C8B-B14F-4D97-AF65-F5344CB8AC3E}">
        <p14:creationId xmlns:p14="http://schemas.microsoft.com/office/powerpoint/2010/main" val="2390500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9B96C-B2DE-48A4-AC5F-531B0CAE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Major Mountain Peaks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6AB-48C7-4A24-89BB-554E0ED18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K2 is the second highest mountain in the world</a:t>
            </a:r>
          </a:p>
          <a:p>
            <a:r>
              <a:rPr lang="en-US" sz="2500" dirty="0"/>
              <a:t>Nanga Parbat is known for its steep slopes and high fatality rate</a:t>
            </a:r>
          </a:p>
          <a:p>
            <a:r>
              <a:rPr lang="en-US" sz="2500" dirty="0"/>
              <a:t>Tirich Mir dominates the Hindu Kush range</a:t>
            </a:r>
          </a:p>
          <a:p>
            <a:r>
              <a:rPr lang="en-US" sz="2500" dirty="0"/>
              <a:t>Mountain peaks contribute to tourism and national pride</a:t>
            </a:r>
          </a:p>
          <a:p>
            <a:r>
              <a:rPr lang="en-US" sz="2500" dirty="0"/>
              <a:t>These mountains are also a source of perennial rivers</a:t>
            </a:r>
          </a:p>
        </p:txBody>
      </p:sp>
    </p:spTree>
    <p:extLst>
      <p:ext uri="{BB962C8B-B14F-4D97-AF65-F5344CB8AC3E}">
        <p14:creationId xmlns:p14="http://schemas.microsoft.com/office/powerpoint/2010/main" val="38813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AB2DA-B67D-4D0E-9832-D7FDE9857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Important Mountain Passes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B78B-DBC4-4D1C-9E70-92C152173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Khyber Pass has historically connected South Asia with Central Asia</a:t>
            </a:r>
          </a:p>
          <a:p>
            <a:r>
              <a:rPr lang="en-US" sz="2500" dirty="0"/>
              <a:t>Bolan Pass links </a:t>
            </a:r>
            <a:r>
              <a:rPr lang="en-US" sz="2500" dirty="0" err="1"/>
              <a:t>Balochistan</a:t>
            </a:r>
            <a:r>
              <a:rPr lang="en-US" sz="2500" dirty="0"/>
              <a:t> with the Indus Plain</a:t>
            </a:r>
          </a:p>
          <a:p>
            <a:r>
              <a:rPr lang="en-US" sz="2500" dirty="0" err="1"/>
              <a:t>Khojak</a:t>
            </a:r>
            <a:r>
              <a:rPr lang="en-US" sz="2500" dirty="0"/>
              <a:t> Pass facilitates trade between Pakistan and Afghanistan</a:t>
            </a:r>
          </a:p>
          <a:p>
            <a:r>
              <a:rPr lang="en-US" sz="2500" dirty="0"/>
              <a:t>Passes played a crucial role in invasions, trade, and cultural exchange</a:t>
            </a:r>
          </a:p>
          <a:p>
            <a:r>
              <a:rPr lang="en-US" sz="2500" dirty="0"/>
              <a:t>Even today, these passes hold strategic importance</a:t>
            </a:r>
          </a:p>
        </p:txBody>
      </p:sp>
    </p:spTree>
    <p:extLst>
      <p:ext uri="{BB962C8B-B14F-4D97-AF65-F5344CB8AC3E}">
        <p14:creationId xmlns:p14="http://schemas.microsoft.com/office/powerpoint/2010/main" val="241498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5A83-0C01-4DA4-AA76-5432961B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Western Highlands</a:t>
            </a:r>
            <a:br>
              <a:rPr lang="en-US" sz="5000" b="1" dirty="0"/>
            </a:br>
            <a:endParaRPr lang="en-US" sz="5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6F2B3-FB70-48BC-B980-06FA93440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The Western Highlands cover most of </a:t>
            </a:r>
            <a:r>
              <a:rPr lang="en-US" sz="2500" dirty="0" err="1"/>
              <a:t>Balochistan</a:t>
            </a:r>
            <a:r>
              <a:rPr lang="en-US" sz="2500" dirty="0"/>
              <a:t> Plateau</a:t>
            </a:r>
          </a:p>
          <a:p>
            <a:r>
              <a:rPr lang="en-US" sz="2500" dirty="0"/>
              <a:t>The region is characterized by dry climate and rugged terrain</a:t>
            </a:r>
          </a:p>
          <a:p>
            <a:r>
              <a:rPr lang="en-US" sz="2500" dirty="0"/>
              <a:t>Mountain ranges include </a:t>
            </a:r>
            <a:r>
              <a:rPr lang="en-US" sz="2500" dirty="0" err="1"/>
              <a:t>Sulaiman</a:t>
            </a:r>
            <a:r>
              <a:rPr lang="en-US" sz="2500" dirty="0"/>
              <a:t> and </a:t>
            </a:r>
            <a:r>
              <a:rPr lang="en-US" sz="2500" dirty="0" err="1"/>
              <a:t>Kirthar</a:t>
            </a:r>
            <a:r>
              <a:rPr lang="en-US" sz="2500" dirty="0"/>
              <a:t> ranges</a:t>
            </a:r>
          </a:p>
          <a:p>
            <a:r>
              <a:rPr lang="en-US" sz="2500" dirty="0"/>
              <a:t>Scarcity of water limits agriculture and settlement</a:t>
            </a:r>
          </a:p>
          <a:p>
            <a:r>
              <a:rPr lang="en-US" sz="2500" dirty="0"/>
              <a:t>Despite hardships, the region is rich in mineral resources</a:t>
            </a:r>
          </a:p>
        </p:txBody>
      </p:sp>
    </p:spTree>
    <p:extLst>
      <p:ext uri="{BB962C8B-B14F-4D97-AF65-F5344CB8AC3E}">
        <p14:creationId xmlns:p14="http://schemas.microsoft.com/office/powerpoint/2010/main" val="165727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1915-13C7-4556-B744-C5D6964F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Indus Plain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3030-922F-4523-A3A6-05B435CE4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201918"/>
            <a:ext cx="10728325" cy="3227375"/>
          </a:xfrm>
        </p:spPr>
        <p:txBody>
          <a:bodyPr>
            <a:normAutofit/>
          </a:bodyPr>
          <a:lstStyle/>
          <a:p>
            <a:r>
              <a:rPr lang="en-US" sz="2500" dirty="0"/>
              <a:t>The Indus Plain is formed by alluvial deposits over thousands of years</a:t>
            </a:r>
          </a:p>
          <a:p>
            <a:r>
              <a:rPr lang="en-US" sz="2500" dirty="0"/>
              <a:t>It is one of the most fertile plains in the world</a:t>
            </a:r>
          </a:p>
          <a:p>
            <a:r>
              <a:rPr lang="en-US" sz="2500" dirty="0"/>
              <a:t>The plain supports intensive agriculture</a:t>
            </a:r>
          </a:p>
          <a:p>
            <a:r>
              <a:rPr lang="en-US" sz="2500" dirty="0"/>
              <a:t>Major cities and population centers are located here</a:t>
            </a:r>
          </a:p>
          <a:p>
            <a:r>
              <a:rPr lang="en-US" sz="2500" dirty="0"/>
              <a:t>It plays a central role in Pakistan’s food security</a:t>
            </a:r>
          </a:p>
        </p:txBody>
      </p:sp>
    </p:spTree>
    <p:extLst>
      <p:ext uri="{BB962C8B-B14F-4D97-AF65-F5344CB8AC3E}">
        <p14:creationId xmlns:p14="http://schemas.microsoft.com/office/powerpoint/2010/main" val="2074847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25A45-E8B1-40DF-9A9B-37B6B1BAE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163" y="798927"/>
            <a:ext cx="5015638" cy="565796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Upper Indus Plain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A611600-CE34-4D9B-8772-0C0FF15FC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000" y="1931542"/>
            <a:ext cx="5156818" cy="4113374"/>
          </a:xfrm>
        </p:spPr>
        <p:txBody>
          <a:bodyPr>
            <a:normAutofit/>
          </a:bodyPr>
          <a:lstStyle/>
          <a:p>
            <a:r>
              <a:rPr lang="en-US" dirty="0"/>
              <a:t>Located mainly in Punjab province</a:t>
            </a:r>
          </a:p>
          <a:p>
            <a:r>
              <a:rPr lang="en-US" dirty="0"/>
              <a:t>Extensive canal irrigation system developed during British period</a:t>
            </a:r>
          </a:p>
          <a:p>
            <a:r>
              <a:rPr lang="en-US" dirty="0"/>
              <a:t>Produces major cash and food crops</a:t>
            </a:r>
          </a:p>
          <a:p>
            <a:r>
              <a:rPr lang="en-US" dirty="0"/>
              <a:t>Dense population due to fertile land and employment opportunities</a:t>
            </a:r>
          </a:p>
          <a:p>
            <a:r>
              <a:rPr lang="en-US" dirty="0"/>
              <a:t>Industrial development is also concentrated in this region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C1E3689-1671-4A44-A7B0-4512B47FC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8201" y="798927"/>
            <a:ext cx="5015638" cy="565796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Lower Indus Plain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49110B3-3603-48C0-B14A-663D2EAA7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8200" y="1945699"/>
            <a:ext cx="5003800" cy="4113374"/>
          </a:xfrm>
        </p:spPr>
        <p:txBody>
          <a:bodyPr>
            <a:normAutofit/>
          </a:bodyPr>
          <a:lstStyle/>
          <a:p>
            <a:r>
              <a:rPr lang="en-US" dirty="0"/>
              <a:t>Situated in Sindh province</a:t>
            </a:r>
          </a:p>
          <a:p>
            <a:r>
              <a:rPr lang="en-US" dirty="0"/>
              <a:t>Climate is hotter and drier than Upper Indus Plain</a:t>
            </a:r>
          </a:p>
          <a:p>
            <a:r>
              <a:rPr lang="en-US" dirty="0"/>
              <a:t>Agriculture heavily depends on irrigation canals</a:t>
            </a:r>
          </a:p>
          <a:p>
            <a:r>
              <a:rPr lang="en-US" dirty="0"/>
              <a:t>Rice and cotton are major crops</a:t>
            </a:r>
          </a:p>
          <a:p>
            <a:r>
              <a:rPr lang="en-US" dirty="0"/>
              <a:t>Flooding is a recurring problem in this region</a:t>
            </a:r>
          </a:p>
        </p:txBody>
      </p:sp>
    </p:spTree>
    <p:extLst>
      <p:ext uri="{BB962C8B-B14F-4D97-AF65-F5344CB8AC3E}">
        <p14:creationId xmlns:p14="http://schemas.microsoft.com/office/powerpoint/2010/main" val="164383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EDEA12-BACC-48A3-85C7-F5BDA049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Desert Regions of Pakistan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E45765-61E4-47E1-B761-82B2F8B95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500" dirty="0"/>
              <a:t>Pakistan has several deserts with harsh climatic conditions</a:t>
            </a:r>
          </a:p>
          <a:p>
            <a:r>
              <a:rPr lang="en-US" sz="2500" dirty="0"/>
              <a:t>Thar Desert lies in Sindh and eastern Punjab</a:t>
            </a:r>
          </a:p>
          <a:p>
            <a:r>
              <a:rPr lang="en-US" sz="2500" dirty="0" err="1"/>
              <a:t>Cholistan</a:t>
            </a:r>
            <a:r>
              <a:rPr lang="en-US" sz="2500" dirty="0"/>
              <a:t> Desert is an extension of the Thar Desert</a:t>
            </a:r>
          </a:p>
          <a:p>
            <a:r>
              <a:rPr lang="en-US" sz="2500" dirty="0" err="1"/>
              <a:t>Thal</a:t>
            </a:r>
            <a:r>
              <a:rPr lang="en-US" sz="2500" dirty="0"/>
              <a:t> Desert lies between rivers Indus and Jhelum</a:t>
            </a:r>
          </a:p>
          <a:p>
            <a:r>
              <a:rPr lang="en-US" sz="2500" dirty="0"/>
              <a:t>Livestock rearing is the main livelihood in deserts</a:t>
            </a:r>
          </a:p>
          <a:p>
            <a:r>
              <a:rPr lang="en-US" sz="2500" dirty="0"/>
              <a:t>Western areas, like </a:t>
            </a:r>
            <a:r>
              <a:rPr lang="en-US" sz="2500" dirty="0" err="1"/>
              <a:t>Balochistan</a:t>
            </a:r>
            <a:r>
              <a:rPr lang="en-US" sz="2500" dirty="0"/>
              <a:t>, are arid with desert landscapes</a:t>
            </a:r>
          </a:p>
        </p:txBody>
      </p:sp>
    </p:spTree>
    <p:extLst>
      <p:ext uri="{BB962C8B-B14F-4D97-AF65-F5344CB8AC3E}">
        <p14:creationId xmlns:p14="http://schemas.microsoft.com/office/powerpoint/2010/main" val="463951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5F5CB-B4A5-4FA0-A95C-6271CB80C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River System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8E61F-BEF1-4D67-9E2C-B15C03EF8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The Indus River is the backbone of Pakistan’s river system</a:t>
            </a:r>
          </a:p>
          <a:p>
            <a:r>
              <a:rPr lang="en-US" sz="2500" dirty="0"/>
              <a:t>It originates near Lake </a:t>
            </a:r>
            <a:r>
              <a:rPr lang="en-US" sz="2500" dirty="0" err="1"/>
              <a:t>Manasarovar</a:t>
            </a:r>
            <a:r>
              <a:rPr lang="en-US" sz="2500" dirty="0"/>
              <a:t> in Tibet</a:t>
            </a:r>
          </a:p>
          <a:p>
            <a:r>
              <a:rPr lang="en-US" sz="2500" dirty="0"/>
              <a:t>The river flows through Gilgit-Baltistan, KP, Punjab, and Sindh</a:t>
            </a:r>
          </a:p>
          <a:p>
            <a:r>
              <a:rPr lang="en-US" sz="2500" dirty="0"/>
              <a:t>It drains into the Arabian Sea</a:t>
            </a:r>
          </a:p>
          <a:p>
            <a:r>
              <a:rPr lang="en-US" sz="2500" dirty="0"/>
              <a:t>The river system sustains agriculture and settlements</a:t>
            </a:r>
          </a:p>
        </p:txBody>
      </p:sp>
    </p:spTree>
    <p:extLst>
      <p:ext uri="{BB962C8B-B14F-4D97-AF65-F5344CB8AC3E}">
        <p14:creationId xmlns:p14="http://schemas.microsoft.com/office/powerpoint/2010/main" val="2604766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F428-3705-4C2D-B151-1E44E5D17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Tributaries of the Indus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E1D9C-36D0-4D15-9F6C-1BBDD58FE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Major tributaries include Jhelum, Chenab, Ravi, and Sutlej</a:t>
            </a:r>
          </a:p>
          <a:p>
            <a:r>
              <a:rPr lang="en-US" sz="2500" dirty="0"/>
              <a:t>These rivers mainly flow through Punjab</a:t>
            </a:r>
          </a:p>
          <a:p>
            <a:r>
              <a:rPr lang="en-US" sz="2500" dirty="0"/>
              <a:t>They form one of the world’s largest irrigation systems</a:t>
            </a:r>
          </a:p>
          <a:p>
            <a:r>
              <a:rPr lang="en-US" sz="2500" dirty="0"/>
              <a:t>River waters are regulated through dams and barrages</a:t>
            </a:r>
          </a:p>
          <a:p>
            <a:r>
              <a:rPr lang="en-US" sz="2500" dirty="0"/>
              <a:t>The Indus Waters Treaty governs river water distribution</a:t>
            </a:r>
          </a:p>
        </p:txBody>
      </p:sp>
    </p:spTree>
    <p:extLst>
      <p:ext uri="{BB962C8B-B14F-4D97-AF65-F5344CB8AC3E}">
        <p14:creationId xmlns:p14="http://schemas.microsoft.com/office/powerpoint/2010/main" val="3157512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37B0-B044-44EC-A449-2F36FFEA1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Importance of 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7260F-67B7-47C7-AAED-519FD308A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Rivers provide water for irrigation and drinking</a:t>
            </a:r>
          </a:p>
          <a:p>
            <a:r>
              <a:rPr lang="en-US" sz="2500" dirty="0"/>
              <a:t>Support hydroelectric power generation</a:t>
            </a:r>
          </a:p>
          <a:p>
            <a:r>
              <a:rPr lang="en-US" sz="2500" dirty="0"/>
              <a:t>Enable fertile agricultural plains</a:t>
            </a:r>
          </a:p>
          <a:p>
            <a:r>
              <a:rPr lang="en-US" sz="2500" dirty="0"/>
              <a:t>Help maintain ecological balance</a:t>
            </a:r>
          </a:p>
          <a:p>
            <a:r>
              <a:rPr lang="en-US" sz="2500" dirty="0"/>
              <a:t>Historically influenced settlement patterns</a:t>
            </a:r>
          </a:p>
        </p:txBody>
      </p:sp>
    </p:spTree>
    <p:extLst>
      <p:ext uri="{BB962C8B-B14F-4D97-AF65-F5344CB8AC3E}">
        <p14:creationId xmlns:p14="http://schemas.microsoft.com/office/powerpoint/2010/main" val="2583738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A76BA-0E19-403F-B4AE-51E1950F1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Climate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862EB-047B-497B-A11D-1039E6AC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Pakistan generally experiences a continental climate</a:t>
            </a:r>
          </a:p>
          <a:p>
            <a:r>
              <a:rPr lang="en-US" sz="2500" dirty="0"/>
              <a:t>Summers are extremely hot in plains</a:t>
            </a:r>
          </a:p>
          <a:p>
            <a:r>
              <a:rPr lang="en-US" sz="2500" dirty="0"/>
              <a:t>Winters are severe in northern mountainous regions</a:t>
            </a:r>
          </a:p>
          <a:p>
            <a:r>
              <a:rPr lang="en-US" sz="2500" dirty="0"/>
              <a:t>Climate varies with altitude and latitude</a:t>
            </a:r>
          </a:p>
          <a:p>
            <a:r>
              <a:rPr lang="en-US" sz="2500" dirty="0"/>
              <a:t>Seasonal extremes affect agriculture and daily life</a:t>
            </a:r>
          </a:p>
        </p:txBody>
      </p:sp>
    </p:spTree>
    <p:extLst>
      <p:ext uri="{BB962C8B-B14F-4D97-AF65-F5344CB8AC3E}">
        <p14:creationId xmlns:p14="http://schemas.microsoft.com/office/powerpoint/2010/main" val="1607729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B2FA-477C-4684-9112-CD3B6FD4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Seasons in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65868-27BC-490F-8E93-17FAE0BA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Summer season lasts from April to September</a:t>
            </a:r>
          </a:p>
          <a:p>
            <a:r>
              <a:rPr lang="en-US" sz="2500" dirty="0"/>
              <a:t>Winter season extends from October to March</a:t>
            </a:r>
          </a:p>
          <a:p>
            <a:r>
              <a:rPr lang="en-US" sz="2500" dirty="0"/>
              <a:t>Monsoon rains occur during July and August</a:t>
            </a:r>
          </a:p>
          <a:p>
            <a:r>
              <a:rPr lang="en-US" sz="2500" dirty="0"/>
              <a:t>Northern areas receive snowfall in winter</a:t>
            </a:r>
          </a:p>
          <a:p>
            <a:r>
              <a:rPr lang="en-US" sz="2500" dirty="0"/>
              <a:t>Seasonal variation impacts crop cycles</a:t>
            </a:r>
          </a:p>
        </p:txBody>
      </p:sp>
    </p:spTree>
    <p:extLst>
      <p:ext uri="{BB962C8B-B14F-4D97-AF65-F5344CB8AC3E}">
        <p14:creationId xmlns:p14="http://schemas.microsoft.com/office/powerpoint/2010/main" val="3620731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92875-2480-46E1-AAA9-6245CD850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Rainfall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E75C9-EC77-487B-8944-46A4F70A9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Rainfall in Pakistan is uneven and irregular</a:t>
            </a:r>
          </a:p>
          <a:p>
            <a:r>
              <a:rPr lang="en-US" sz="2500" dirty="0"/>
              <a:t>Northern mountains receive the highest rainfall</a:t>
            </a:r>
          </a:p>
          <a:p>
            <a:r>
              <a:rPr lang="en-US" sz="2500" dirty="0"/>
              <a:t>Punjab receives moderate rainfall</a:t>
            </a:r>
          </a:p>
          <a:p>
            <a:r>
              <a:rPr lang="en-US" sz="2500" dirty="0" err="1"/>
              <a:t>Balochistan</a:t>
            </a:r>
            <a:r>
              <a:rPr lang="en-US" sz="2500" dirty="0"/>
              <a:t> and deserts receive minimal rainfall</a:t>
            </a:r>
          </a:p>
          <a:p>
            <a:r>
              <a:rPr lang="en-US" sz="2500" dirty="0"/>
              <a:t>Dependence on monsoon increases vulnerability to floods</a:t>
            </a:r>
          </a:p>
        </p:txBody>
      </p:sp>
    </p:spTree>
    <p:extLst>
      <p:ext uri="{BB962C8B-B14F-4D97-AF65-F5344CB8AC3E}">
        <p14:creationId xmlns:p14="http://schemas.microsoft.com/office/powerpoint/2010/main" val="1041991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20A1-322E-425C-AED4-C36C36BA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Natural Resources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52276-E25F-4039-A21E-3C5D256C5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Pakistan possesses significant mineral resources</a:t>
            </a:r>
          </a:p>
          <a:p>
            <a:r>
              <a:rPr lang="en-US" sz="2500" dirty="0"/>
              <a:t>Coal is found in Sindh and </a:t>
            </a:r>
            <a:r>
              <a:rPr lang="en-US" sz="2500" dirty="0" err="1"/>
              <a:t>Balochistan</a:t>
            </a:r>
            <a:endParaRPr lang="en-US" sz="2500" dirty="0"/>
          </a:p>
          <a:p>
            <a:r>
              <a:rPr lang="en-US" sz="2500" dirty="0"/>
              <a:t>Natural gas fields include Sui and Mari</a:t>
            </a:r>
          </a:p>
          <a:p>
            <a:r>
              <a:rPr lang="en-US" sz="2500" dirty="0"/>
              <a:t>Rock salt is extracted from Salt Range</a:t>
            </a:r>
          </a:p>
          <a:p>
            <a:r>
              <a:rPr lang="en-US" sz="2500" dirty="0"/>
              <a:t>Proper utilization of resources remains a challenge</a:t>
            </a:r>
          </a:p>
        </p:txBody>
      </p:sp>
    </p:spTree>
    <p:extLst>
      <p:ext uri="{BB962C8B-B14F-4D97-AF65-F5344CB8AC3E}">
        <p14:creationId xmlns:p14="http://schemas.microsoft.com/office/powerpoint/2010/main" val="926498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31A0-FEF0-40DC-992B-361D88D0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Agricultural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3EC87-C18B-4FE5-8173-C7C7AAEB5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Agriculture is the backbone of Pakistan’s economy</a:t>
            </a:r>
          </a:p>
          <a:p>
            <a:r>
              <a:rPr lang="en-US" sz="2500" dirty="0"/>
              <a:t>Fertile soil and irrigation support crop production</a:t>
            </a:r>
          </a:p>
          <a:p>
            <a:r>
              <a:rPr lang="en-US" sz="2500" dirty="0"/>
              <a:t>Major crops include wheat, rice, cotton, and sugarcane</a:t>
            </a:r>
          </a:p>
          <a:p>
            <a:r>
              <a:rPr lang="en-US" sz="2500" dirty="0"/>
              <a:t>Agriculture provides employment to a large population</a:t>
            </a:r>
          </a:p>
          <a:p>
            <a:r>
              <a:rPr lang="en-US" sz="2500" dirty="0"/>
              <a:t>Agricultural productivity varies by region</a:t>
            </a:r>
          </a:p>
        </p:txBody>
      </p:sp>
    </p:spTree>
    <p:extLst>
      <p:ext uri="{BB962C8B-B14F-4D97-AF65-F5344CB8AC3E}">
        <p14:creationId xmlns:p14="http://schemas.microsoft.com/office/powerpoint/2010/main" val="942064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3FAB-3AFC-4CDD-80D1-35790725D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Environmental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AF571-7B34-4589-BE9D-3798C01CF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Deforestation due to population pressure</a:t>
            </a:r>
          </a:p>
          <a:p>
            <a:r>
              <a:rPr lang="en-US" sz="2500" dirty="0"/>
              <a:t>Water scarcity and mismanagement</a:t>
            </a:r>
          </a:p>
          <a:p>
            <a:r>
              <a:rPr lang="en-US" sz="2500" dirty="0"/>
              <a:t>Floods and droughts causing economic losses</a:t>
            </a:r>
          </a:p>
          <a:p>
            <a:r>
              <a:rPr lang="en-US" sz="2500" dirty="0"/>
              <a:t>Urban pollution affecting health</a:t>
            </a:r>
          </a:p>
          <a:p>
            <a:r>
              <a:rPr lang="en-US" sz="2500" dirty="0"/>
              <a:t>Climate change increasing environmental risks</a:t>
            </a:r>
          </a:p>
        </p:txBody>
      </p:sp>
    </p:spTree>
    <p:extLst>
      <p:ext uri="{BB962C8B-B14F-4D97-AF65-F5344CB8AC3E}">
        <p14:creationId xmlns:p14="http://schemas.microsoft.com/office/powerpoint/2010/main" val="2822173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3623-1C26-46D6-B8D5-D881CEF3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Population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ACE31-7EBF-4EFA-A753-5C414F420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82005"/>
            <a:ext cx="10728325" cy="3227375"/>
          </a:xfrm>
        </p:spPr>
        <p:txBody>
          <a:bodyPr>
            <a:noAutofit/>
          </a:bodyPr>
          <a:lstStyle/>
          <a:p>
            <a:r>
              <a:rPr lang="en-US" sz="2500" dirty="0"/>
              <a:t>Pakistan has one of the fastest-growing populations</a:t>
            </a:r>
          </a:p>
          <a:p>
            <a:r>
              <a:rPr lang="en-US" sz="2500" dirty="0"/>
              <a:t>Population distribution is uneven</a:t>
            </a:r>
          </a:p>
          <a:p>
            <a:r>
              <a:rPr lang="en-US" sz="2500" dirty="0"/>
              <a:t>Plains are densely populated</a:t>
            </a:r>
          </a:p>
          <a:p>
            <a:r>
              <a:rPr lang="en-US" sz="2500" dirty="0"/>
              <a:t>Mountainous and desert areas have low population density</a:t>
            </a:r>
          </a:p>
          <a:p>
            <a:r>
              <a:rPr lang="en-US" sz="2500" dirty="0"/>
              <a:t>Rapid urbanization is creating new challenges</a:t>
            </a:r>
          </a:p>
          <a:p>
            <a:r>
              <a:rPr lang="en-US" sz="2500" dirty="0"/>
              <a:t>Urbanization is on the rise, with major cities like Karachi, Lahore, and Islamabad experiencing rapid growth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404439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93217-3194-4ABE-833C-48931AF19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Ethnic Composition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7BB09-4D4E-442A-8C27-C0DE8A048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Pakistan is home to diverse ethnic groups</a:t>
            </a:r>
          </a:p>
          <a:p>
            <a:r>
              <a:rPr lang="en-US" sz="2500" dirty="0"/>
              <a:t>Major groups include Punjabis, </a:t>
            </a:r>
            <a:r>
              <a:rPr lang="en-US" sz="2500" dirty="0" err="1"/>
              <a:t>Sindhis</a:t>
            </a:r>
            <a:r>
              <a:rPr lang="en-US" sz="2500" dirty="0"/>
              <a:t>, Pashtuns, and Baloch</a:t>
            </a:r>
          </a:p>
          <a:p>
            <a:r>
              <a:rPr lang="en-US" sz="2500" dirty="0"/>
              <a:t>Each group has its own language and traditions</a:t>
            </a:r>
          </a:p>
          <a:p>
            <a:r>
              <a:rPr lang="en-US" sz="2500" dirty="0"/>
              <a:t>Ethnic diversity enriches national culture</a:t>
            </a:r>
          </a:p>
          <a:p>
            <a:r>
              <a:rPr lang="en-US" sz="2500" dirty="0"/>
              <a:t>Unity is maintained through shared religion and history</a:t>
            </a:r>
          </a:p>
        </p:txBody>
      </p:sp>
    </p:spTree>
    <p:extLst>
      <p:ext uri="{BB962C8B-B14F-4D97-AF65-F5344CB8AC3E}">
        <p14:creationId xmlns:p14="http://schemas.microsoft.com/office/powerpoint/2010/main" val="69017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5018-016D-414F-A6D8-A6C254EC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Punjabi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F844A-3835-454B-BDCD-4932350F3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Punjabis form the largest ethnic group</a:t>
            </a:r>
          </a:p>
          <a:p>
            <a:r>
              <a:rPr lang="en-US" sz="2500" dirty="0"/>
              <a:t>Mostly reside in Punjab province</a:t>
            </a:r>
          </a:p>
          <a:p>
            <a:r>
              <a:rPr lang="en-US" sz="2500" dirty="0"/>
              <a:t>Agriculture is the main occupation</a:t>
            </a:r>
          </a:p>
          <a:p>
            <a:r>
              <a:rPr lang="en-US" sz="2500" dirty="0"/>
              <a:t>Punjabi language has several dialects</a:t>
            </a:r>
          </a:p>
        </p:txBody>
      </p:sp>
    </p:spTree>
    <p:extLst>
      <p:ext uri="{BB962C8B-B14F-4D97-AF65-F5344CB8AC3E}">
        <p14:creationId xmlns:p14="http://schemas.microsoft.com/office/powerpoint/2010/main" val="3948246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D643-AEF9-461D-B30C-A2CD3260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Sindhi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C32D-B84A-49A2-890A-1A6EB5765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 err="1"/>
              <a:t>Sindhis</a:t>
            </a:r>
            <a:r>
              <a:rPr lang="en-US" sz="2500" dirty="0"/>
              <a:t> are the original inhabitants of Sindh</a:t>
            </a:r>
          </a:p>
          <a:p>
            <a:r>
              <a:rPr lang="en-US" sz="2500" dirty="0"/>
              <a:t>They have a rich cultural and literary heritage</a:t>
            </a:r>
          </a:p>
          <a:p>
            <a:r>
              <a:rPr lang="en-US" sz="2500" dirty="0"/>
              <a:t>Majority live in rural areas</a:t>
            </a:r>
          </a:p>
          <a:p>
            <a:r>
              <a:rPr lang="en-US" sz="2500" dirty="0"/>
              <a:t>Sindhi language has ancient roots</a:t>
            </a:r>
          </a:p>
          <a:p>
            <a:r>
              <a:rPr lang="en-US" sz="2500" dirty="0"/>
              <a:t>Agriculture dominates economic life</a:t>
            </a:r>
          </a:p>
        </p:txBody>
      </p:sp>
    </p:spTree>
    <p:extLst>
      <p:ext uri="{BB962C8B-B14F-4D97-AF65-F5344CB8AC3E}">
        <p14:creationId xmlns:p14="http://schemas.microsoft.com/office/powerpoint/2010/main" val="1060952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978A-D076-4940-BE0E-521E826C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Pashtun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7E5D-4BD0-44B1-BA00-C3823EBD1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Pashtuns inhabit KP and northern </a:t>
            </a:r>
            <a:r>
              <a:rPr lang="en-US" sz="2500" dirty="0" err="1"/>
              <a:t>Balochistan</a:t>
            </a:r>
            <a:endParaRPr lang="en-US" sz="2500" dirty="0"/>
          </a:p>
          <a:p>
            <a:r>
              <a:rPr lang="en-US" sz="2500" dirty="0"/>
              <a:t>Tribal structure dominates social life</a:t>
            </a:r>
          </a:p>
          <a:p>
            <a:r>
              <a:rPr lang="en-US" sz="2500" dirty="0"/>
              <a:t>Pashto is the main language</a:t>
            </a:r>
          </a:p>
          <a:p>
            <a:r>
              <a:rPr lang="en-US" sz="2500" dirty="0"/>
              <a:t>Pashtunwali guides social behavior</a:t>
            </a:r>
          </a:p>
          <a:p>
            <a:r>
              <a:rPr lang="en-US" sz="2500" dirty="0"/>
              <a:t>Known for hospitality and bravery</a:t>
            </a:r>
          </a:p>
        </p:txBody>
      </p:sp>
    </p:spTree>
    <p:extLst>
      <p:ext uri="{BB962C8B-B14F-4D97-AF65-F5344CB8AC3E}">
        <p14:creationId xmlns:p14="http://schemas.microsoft.com/office/powerpoint/2010/main" val="881469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D1CB-FFD6-4CE8-9322-DE041F99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Baloch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05D01-CEE5-403F-B0B6-88C6F8C23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Baloch people live mainly in </a:t>
            </a:r>
            <a:r>
              <a:rPr lang="en-US" sz="2500" dirty="0" err="1"/>
              <a:t>Balochistan</a:t>
            </a:r>
            <a:endParaRPr lang="en-US" sz="2500" dirty="0"/>
          </a:p>
          <a:p>
            <a:r>
              <a:rPr lang="en-US" sz="2500" dirty="0"/>
              <a:t>Tribal affiliations are strong</a:t>
            </a:r>
          </a:p>
          <a:p>
            <a:r>
              <a:rPr lang="en-US" sz="2500" dirty="0"/>
              <a:t>Population density is very low</a:t>
            </a:r>
          </a:p>
          <a:p>
            <a:r>
              <a:rPr lang="en-US" sz="2500" dirty="0"/>
              <a:t>Economic development is limited</a:t>
            </a:r>
          </a:p>
          <a:p>
            <a:r>
              <a:rPr lang="en-US" sz="2500" dirty="0"/>
              <a:t>Natural resources have potential for growth</a:t>
            </a:r>
          </a:p>
        </p:txBody>
      </p:sp>
    </p:spTree>
    <p:extLst>
      <p:ext uri="{BB962C8B-B14F-4D97-AF65-F5344CB8AC3E}">
        <p14:creationId xmlns:p14="http://schemas.microsoft.com/office/powerpoint/2010/main" val="4182767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E723-748A-48F3-99D8-5BCF756F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Languages of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EBC85-01F5-4E70-B017-44F58D25D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Urdu is the national language</a:t>
            </a:r>
          </a:p>
          <a:p>
            <a:r>
              <a:rPr lang="en-US" sz="2500" dirty="0"/>
              <a:t>English is the official language</a:t>
            </a:r>
          </a:p>
          <a:p>
            <a:r>
              <a:rPr lang="en-US" sz="2500" dirty="0"/>
              <a:t>Regional languages reflect ethnic diversity</a:t>
            </a:r>
          </a:p>
          <a:p>
            <a:r>
              <a:rPr lang="en-US" sz="2500" dirty="0"/>
              <a:t>Language promotes cultural identity</a:t>
            </a:r>
          </a:p>
          <a:p>
            <a:r>
              <a:rPr lang="en-US" sz="2500" dirty="0"/>
              <a:t>Multilingualism is a national feature</a:t>
            </a:r>
          </a:p>
        </p:txBody>
      </p:sp>
    </p:spTree>
    <p:extLst>
      <p:ext uri="{BB962C8B-B14F-4D97-AF65-F5344CB8AC3E}">
        <p14:creationId xmlns:p14="http://schemas.microsoft.com/office/powerpoint/2010/main" val="39822169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03E1-C357-474A-90BD-F82513DC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Culture of Pakistan</a:t>
            </a:r>
            <a:br>
              <a:rPr lang="en-US" sz="5000" b="1" dirty="0"/>
            </a:br>
            <a:endParaRPr lang="en-US" sz="5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85BD6-A220-4205-BCE4-A410B4BA6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Culture is deeply influenced by Islam</a:t>
            </a:r>
          </a:p>
          <a:p>
            <a:r>
              <a:rPr lang="en-US" sz="2500" dirty="0"/>
              <a:t>Family system is strong</a:t>
            </a:r>
          </a:p>
          <a:p>
            <a:r>
              <a:rPr lang="en-US" sz="2500" dirty="0"/>
              <a:t>Respect for elders is emphasized</a:t>
            </a:r>
          </a:p>
          <a:p>
            <a:r>
              <a:rPr lang="en-US" sz="2500" dirty="0"/>
              <a:t>Traditional dress and food vary by region</a:t>
            </a:r>
          </a:p>
          <a:p>
            <a:r>
              <a:rPr lang="en-US" sz="2500" dirty="0"/>
              <a:t>Cultural festivals reflect regional diversity</a:t>
            </a:r>
          </a:p>
        </p:txBody>
      </p:sp>
    </p:spTree>
    <p:extLst>
      <p:ext uri="{BB962C8B-B14F-4D97-AF65-F5344CB8AC3E}">
        <p14:creationId xmlns:p14="http://schemas.microsoft.com/office/powerpoint/2010/main" val="19940923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FF0A6-CBB6-4117-92C6-12C79522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Religion in Pakistan</a:t>
            </a:r>
            <a:br>
              <a:rPr lang="en-US" sz="5000" b="1" dirty="0"/>
            </a:br>
            <a:endParaRPr lang="en-US" sz="5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933CA-9A7C-4D7B-B5C0-11AB59A61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Islam is the state religion</a:t>
            </a:r>
          </a:p>
          <a:p>
            <a:r>
              <a:rPr lang="en-US" sz="2500" dirty="0"/>
              <a:t>Majority population is Muslim</a:t>
            </a:r>
          </a:p>
          <a:p>
            <a:r>
              <a:rPr lang="en-US" sz="2500" dirty="0"/>
              <a:t>Religious minorities enjoy constitutional rights</a:t>
            </a:r>
          </a:p>
          <a:p>
            <a:r>
              <a:rPr lang="en-US" sz="2500" dirty="0"/>
              <a:t>Religion influences laws and social values</a:t>
            </a:r>
          </a:p>
          <a:p>
            <a:r>
              <a:rPr lang="en-US" sz="2500" dirty="0"/>
              <a:t>Mosques play a central social role</a:t>
            </a:r>
          </a:p>
        </p:txBody>
      </p:sp>
    </p:spTree>
    <p:extLst>
      <p:ext uri="{BB962C8B-B14F-4D97-AF65-F5344CB8AC3E}">
        <p14:creationId xmlns:p14="http://schemas.microsoft.com/office/powerpoint/2010/main" val="41232541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DF5AD-0239-4D1A-9D22-CF96F94BF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163" y="659170"/>
            <a:ext cx="5015638" cy="565796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/>
              <a:t>Rural Life in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5B23C-73FF-4E06-A7DC-3DB62ECCF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000" y="1684962"/>
            <a:ext cx="5003801" cy="4091213"/>
          </a:xfrm>
        </p:spPr>
        <p:txBody>
          <a:bodyPr>
            <a:normAutofit lnSpcReduction="10000"/>
          </a:bodyPr>
          <a:lstStyle/>
          <a:p>
            <a:r>
              <a:rPr lang="en-US" sz="2500" dirty="0"/>
              <a:t>Majority of rural population depends on agriculture</a:t>
            </a:r>
          </a:p>
          <a:p>
            <a:r>
              <a:rPr lang="en-US" sz="2500" dirty="0"/>
              <a:t>Joint family system is common</a:t>
            </a:r>
          </a:p>
          <a:p>
            <a:r>
              <a:rPr lang="en-US" sz="2500" dirty="0"/>
              <a:t>Limited access to education and healthcare</a:t>
            </a:r>
          </a:p>
          <a:p>
            <a:r>
              <a:rPr lang="en-US" sz="2500" dirty="0"/>
              <a:t>Strong community ties exist</a:t>
            </a:r>
          </a:p>
          <a:p>
            <a:r>
              <a:rPr lang="en-US" sz="2500" dirty="0"/>
              <a:t>Rural areas preserve traditional culture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C64C7A-91EC-4AC7-B576-1ECB97AEB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933" y="659170"/>
            <a:ext cx="5015638" cy="565796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/>
              <a:t>Urban Life in Pakistan</a:t>
            </a:r>
            <a:endParaRPr lang="en-US" sz="25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D6356-D9B4-4FC0-AA47-DA3494DA5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7878" y="1726059"/>
            <a:ext cx="5996682" cy="4191856"/>
          </a:xfrm>
        </p:spPr>
        <p:txBody>
          <a:bodyPr>
            <a:noAutofit/>
          </a:bodyPr>
          <a:lstStyle/>
          <a:p>
            <a:r>
              <a:rPr lang="en-US" sz="2500" dirty="0"/>
              <a:t>Urban population is increasing rapidly</a:t>
            </a:r>
          </a:p>
          <a:p>
            <a:r>
              <a:rPr lang="en-US" sz="2500" dirty="0"/>
              <a:t>Cities offer better services and employment</a:t>
            </a:r>
          </a:p>
          <a:p>
            <a:r>
              <a:rPr lang="en-US" sz="2500" dirty="0"/>
              <a:t>Industrial and service sectors dominate</a:t>
            </a:r>
          </a:p>
          <a:p>
            <a:r>
              <a:rPr lang="en-US" sz="2500" dirty="0"/>
              <a:t>Urbanization creates housing and pollution problems</a:t>
            </a:r>
          </a:p>
          <a:p>
            <a:r>
              <a:rPr lang="en-US" sz="2500" dirty="0"/>
              <a:t>Lifestyle differs significantly from rural areas</a:t>
            </a:r>
          </a:p>
        </p:txBody>
      </p:sp>
    </p:spTree>
    <p:extLst>
      <p:ext uri="{BB962C8B-B14F-4D97-AF65-F5344CB8AC3E}">
        <p14:creationId xmlns:p14="http://schemas.microsoft.com/office/powerpoint/2010/main" val="6958977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F16C-DF6C-4917-BB5E-3A4B67078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Relationship Between Land and People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11A5-874A-43E9-A687-B429C3E6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Landforms influence settlement and occupation</a:t>
            </a:r>
          </a:p>
          <a:p>
            <a:r>
              <a:rPr lang="en-US" sz="2500" dirty="0"/>
              <a:t>Climate affects housing, clothing, and food habits</a:t>
            </a:r>
          </a:p>
          <a:p>
            <a:r>
              <a:rPr lang="en-US" sz="2500" dirty="0"/>
              <a:t>Rivers support dense populations and farming</a:t>
            </a:r>
          </a:p>
          <a:p>
            <a:r>
              <a:rPr lang="en-US" sz="2500" dirty="0"/>
              <a:t>Mountains provide defense and resources</a:t>
            </a:r>
          </a:p>
          <a:p>
            <a:r>
              <a:rPr lang="en-US" sz="2500" dirty="0"/>
              <a:t>Human activities also impact the land</a:t>
            </a:r>
          </a:p>
        </p:txBody>
      </p:sp>
    </p:spTree>
    <p:extLst>
      <p:ext uri="{BB962C8B-B14F-4D97-AF65-F5344CB8AC3E}">
        <p14:creationId xmlns:p14="http://schemas.microsoft.com/office/powerpoint/2010/main" val="31974672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B48F-F136-445B-B265-05BD975C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Unity in 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0D79-B3CF-42DC-82DE-69AA6A0B7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Pakistan’s diversity is a national strength</a:t>
            </a:r>
          </a:p>
          <a:p>
            <a:r>
              <a:rPr lang="en-US" sz="2500" dirty="0"/>
              <a:t>Different cultures coexist within one state</a:t>
            </a:r>
          </a:p>
          <a:p>
            <a:r>
              <a:rPr lang="en-US" sz="2500" dirty="0"/>
              <a:t>Shared religion unites people</a:t>
            </a:r>
          </a:p>
          <a:p>
            <a:r>
              <a:rPr lang="en-US" sz="2500" dirty="0"/>
              <a:t>National symbols promote unity</a:t>
            </a:r>
          </a:p>
          <a:p>
            <a:r>
              <a:rPr lang="en-US" sz="2500" dirty="0"/>
              <a:t>Diversity contributes to cultural richness</a:t>
            </a:r>
          </a:p>
        </p:txBody>
      </p:sp>
    </p:spTree>
    <p:extLst>
      <p:ext uri="{BB962C8B-B14F-4D97-AF65-F5344CB8AC3E}">
        <p14:creationId xmlns:p14="http://schemas.microsoft.com/office/powerpoint/2010/main" val="3972418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7605-992B-6684-61E9-9D7FCC9F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Culture of Pakistan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01CC2-4FF9-014B-3640-BA39F4FD0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06562"/>
            <a:ext cx="10728325" cy="417810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Festivals</a:t>
            </a:r>
            <a:r>
              <a:rPr lang="en-US" sz="2200" dirty="0"/>
              <a:t>: Eid-ul-Fitr, Eid-ul-</a:t>
            </a:r>
            <a:r>
              <a:rPr lang="en-US" sz="2200" dirty="0" err="1"/>
              <a:t>Adha</a:t>
            </a:r>
            <a:r>
              <a:rPr lang="en-US" sz="2200" dirty="0"/>
              <a:t>, Basant, Shandur Polo Festival, and </a:t>
            </a:r>
            <a:r>
              <a:rPr lang="en-US" sz="2200" dirty="0" err="1"/>
              <a:t>Urs</a:t>
            </a:r>
            <a:r>
              <a:rPr lang="en-US" sz="2200" dirty="0"/>
              <a:t> of Sufi saints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Art &amp; Craft</a:t>
            </a:r>
            <a:r>
              <a:rPr lang="en-US" sz="2200" dirty="0"/>
              <a:t>: Pottery (Multani blue pottery), Truck Art, Handicrafts (</a:t>
            </a:r>
            <a:r>
              <a:rPr lang="en-US" sz="2200" dirty="0" err="1"/>
              <a:t>Ajrak</a:t>
            </a:r>
            <a:r>
              <a:rPr lang="en-US" sz="2200" dirty="0"/>
              <a:t>, carpets, shawls)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Pakistan is a melting pot of diverse cultures, languages, and traditions, shaped by its rich history, geographical diversity, and interactions with neighboring regions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The country's cultural mosaic reflects influences from various ethnic groups, religions, and historical civilizations.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Cultural exchange, mutual respect, and solidarity are essential values that bind the nation together</a:t>
            </a:r>
          </a:p>
        </p:txBody>
      </p:sp>
    </p:spTree>
    <p:extLst>
      <p:ext uri="{BB962C8B-B14F-4D97-AF65-F5344CB8AC3E}">
        <p14:creationId xmlns:p14="http://schemas.microsoft.com/office/powerpoint/2010/main" val="29134869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A57C-3031-FD30-DB79-4FD08033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People of Pakistan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8A27-6E18-7374-92F8-584B91CEB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2096528"/>
            <a:ext cx="10728325" cy="4060140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Population</a:t>
            </a:r>
            <a:r>
              <a:rPr lang="en-US" sz="2500" dirty="0"/>
              <a:t>: Over 240 million (5th most populous country in the world)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Urban &amp; Rural Distribution</a:t>
            </a:r>
            <a:r>
              <a:rPr lang="en-US" sz="2500" dirty="0"/>
              <a:t>: About 37% urban and 63% rural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Major Cities</a:t>
            </a:r>
            <a:r>
              <a:rPr lang="en-US" sz="2500" dirty="0"/>
              <a:t>: Karachi, Lahore, Islamabad, Peshawar, Quetta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Cultural Heritage</a:t>
            </a:r>
            <a:r>
              <a:rPr lang="en-US" sz="2500" dirty="0"/>
              <a:t>: Rich blend of ancient civilizations, Islamic heritage, and modern influences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Hospitality</a:t>
            </a:r>
            <a:r>
              <a:rPr lang="en-US" sz="2500" dirty="0"/>
              <a:t>: Known for their hospitality and diverse cuisine, which includes biryani, kebabs, nihari,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Pakistan's population comprises a multitude of ethnic groups, including Punjabis, Pashtuns, </a:t>
            </a:r>
            <a:r>
              <a:rPr lang="en-US" sz="2800" dirty="0" err="1"/>
              <a:t>Sindhis</a:t>
            </a:r>
            <a:r>
              <a:rPr lang="en-US" sz="2800" dirty="0"/>
              <a:t>, Baloch, Muhajirs, and others where each group contributes to the country's cultural tapestry through its language, cuisine, music, dance, and folklore</a:t>
            </a:r>
            <a:endParaRPr lang="en-US" sz="2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815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D44EA-D481-1EDA-1241-5CB898A1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Heritage &amp; Landmarks</a:t>
            </a:r>
            <a:br>
              <a:rPr lang="en-US" sz="5000" b="1" dirty="0"/>
            </a:b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CC622-2F71-D640-1C50-52BE822AA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Historic Sites</a:t>
            </a:r>
            <a:r>
              <a:rPr lang="en-US" sz="2500" dirty="0"/>
              <a:t>: Mohenjo-Daro, Harappa, </a:t>
            </a:r>
            <a:r>
              <a:rPr lang="en-US" sz="2500" dirty="0" err="1"/>
              <a:t>Rohtas</a:t>
            </a:r>
            <a:r>
              <a:rPr lang="en-US" sz="2500" dirty="0"/>
              <a:t> Fort, Lahore Fort, Badshahi Mosque, and Faisal Mosque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World Heritage Sites</a:t>
            </a:r>
            <a:r>
              <a:rPr lang="en-US" sz="2500" dirty="0"/>
              <a:t>: Pakistan has six UNESCO World Heritage sites, including Taxila and the archaeological remains at Mohenjo-Daro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3181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AF56-C0C9-44FC-3F70-CAD39BA4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Natural Resources &amp; Agriculture</a:t>
            </a:r>
            <a:br>
              <a:rPr lang="en-US" sz="5000" b="1" dirty="0"/>
            </a:b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C2A9E-66DF-1917-228D-B0094DF2D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024009"/>
            <a:ext cx="10728325" cy="4027470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Resources</a:t>
            </a:r>
            <a:r>
              <a:rPr lang="en-US" sz="2500" dirty="0"/>
              <a:t>: Natural gas, coal, salt (</a:t>
            </a:r>
            <a:r>
              <a:rPr lang="en-US" sz="2500" dirty="0" err="1"/>
              <a:t>Khewra</a:t>
            </a:r>
            <a:r>
              <a:rPr lang="en-US" sz="2500" dirty="0"/>
              <a:t> Salt Mine), copper, and fertile 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Agriculture</a:t>
            </a:r>
            <a:r>
              <a:rPr lang="en-US" sz="2500" dirty="0"/>
              <a:t>: Main crops are wheat, rice, cotton, and sugarcane. The Indus River plays a key role in irrigation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Livestock</a:t>
            </a:r>
            <a:r>
              <a:rPr lang="en-US" sz="2500" dirty="0"/>
              <a:t>: Buffaloes, cattle, and sheep farming are integral to rural life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Abundant natural resources, including minerals, fertile soils, water resources, and biodiversity (agriculture, mining, and tourism) contributes to the country's development and prosperity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Pakistan's significant population is engaged in agriculture and rural livelihoods</a:t>
            </a:r>
          </a:p>
        </p:txBody>
      </p:sp>
    </p:spTree>
    <p:extLst>
      <p:ext uri="{BB962C8B-B14F-4D97-AF65-F5344CB8AC3E}">
        <p14:creationId xmlns:p14="http://schemas.microsoft.com/office/powerpoint/2010/main" val="8243795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D241-EA90-EE65-5B77-B564C633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Challenges &amp; Opportunities</a:t>
            </a:r>
            <a:br>
              <a:rPr lang="en-US" sz="5000" b="1" dirty="0"/>
            </a:b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78DD8-69ED-1606-4234-A4283DF6B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2096528"/>
            <a:ext cx="10728325" cy="3672448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Poverty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Inequality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Social Tensions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Population Growth</a:t>
            </a:r>
            <a:r>
              <a:rPr lang="en-US" sz="2500" dirty="0"/>
              <a:t>: Rapidly increasing population leading to urbanization challenges.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Economic Growth</a:t>
            </a:r>
            <a:r>
              <a:rPr lang="en-US" sz="2500" dirty="0"/>
              <a:t>: Pakistan is an emerging market with opportunities in IT, textiles, and agriculture.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Environmental Concerns</a:t>
            </a:r>
            <a:r>
              <a:rPr lang="en-US" sz="2500" dirty="0"/>
              <a:t>: Deforestation, water scarcity, and pollution are major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Despite challenges, Pakistan's communities demonstrate resilience, hospitality, and a spirit of unity in the face of adversity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712132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9CF04-21C9-4371-A317-287E166A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AE95A-9334-4F2A-8157-B061B730E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Pakistan has diverse physical and human geography</a:t>
            </a:r>
          </a:p>
          <a:p>
            <a:r>
              <a:rPr lang="en-US" sz="2500" dirty="0"/>
              <a:t>Land and people are closely interconnected</a:t>
            </a:r>
          </a:p>
          <a:p>
            <a:r>
              <a:rPr lang="en-US" sz="2500" dirty="0"/>
              <a:t>Geography shapes economy and culture</a:t>
            </a:r>
          </a:p>
          <a:p>
            <a:r>
              <a:rPr lang="en-US" sz="2500" dirty="0"/>
              <a:t>Sustainable development requires balance</a:t>
            </a:r>
          </a:p>
          <a:p>
            <a:r>
              <a:rPr lang="en-US" sz="2500" dirty="0"/>
              <a:t>Understanding this topic is essential for national progress</a:t>
            </a:r>
          </a:p>
        </p:txBody>
      </p:sp>
    </p:spTree>
    <p:extLst>
      <p:ext uri="{BB962C8B-B14F-4D97-AF65-F5344CB8AC3E}">
        <p14:creationId xmlns:p14="http://schemas.microsoft.com/office/powerpoint/2010/main" val="3456549181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Blob V2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B495C2"/>
      </a:accent1>
      <a:accent2>
        <a:srgbClr val="767E37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445</TotalTime>
  <Words>2132</Words>
  <Application>Microsoft Office PowerPoint</Application>
  <PresentationFormat>Widescreen</PresentationFormat>
  <Paragraphs>270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Algerian</vt:lpstr>
      <vt:lpstr>Arial</vt:lpstr>
      <vt:lpstr>Avenir Next LT Pro</vt:lpstr>
      <vt:lpstr>Calibri</vt:lpstr>
      <vt:lpstr>Rockwell Nova Light</vt:lpstr>
      <vt:lpstr>The Hand Extrablack</vt:lpstr>
      <vt:lpstr>BlobVTI</vt:lpstr>
      <vt:lpstr>PowerPoint Presentation</vt:lpstr>
      <vt:lpstr>Introduction to Pakistan</vt:lpstr>
      <vt:lpstr>Historical Significance of the Land</vt:lpstr>
      <vt:lpstr>Geographical Location of Pakistan</vt:lpstr>
      <vt:lpstr>Global Power Competition &amp; Pakistan’s Strategic Location</vt:lpstr>
      <vt:lpstr>PowerPoint Presentation</vt:lpstr>
      <vt:lpstr>Borders and Neighboring Countries</vt:lpstr>
      <vt:lpstr>Strategic Importance of Pakistan’s Location</vt:lpstr>
      <vt:lpstr>Physical Divisions of Pakistan</vt:lpstr>
      <vt:lpstr>Northern and Northwestern Mountains</vt:lpstr>
      <vt:lpstr>Major Mountain Peaks</vt:lpstr>
      <vt:lpstr>Important Mountain Passes</vt:lpstr>
      <vt:lpstr>Western Highlands </vt:lpstr>
      <vt:lpstr>Indus Plain</vt:lpstr>
      <vt:lpstr>PowerPoint Presentation</vt:lpstr>
      <vt:lpstr>Desert Regions of Pakistan</vt:lpstr>
      <vt:lpstr>River System of Pakistan</vt:lpstr>
      <vt:lpstr>Tributaries of the Indus</vt:lpstr>
      <vt:lpstr>Importance of Rivers</vt:lpstr>
      <vt:lpstr>Climate of Pakistan</vt:lpstr>
      <vt:lpstr>Seasons in Pakistan</vt:lpstr>
      <vt:lpstr>Rainfall Distribution</vt:lpstr>
      <vt:lpstr>Natural Resources of Pakistan</vt:lpstr>
      <vt:lpstr>Agricultural Resources</vt:lpstr>
      <vt:lpstr>Environmental Problems</vt:lpstr>
      <vt:lpstr>Population of Pakistan</vt:lpstr>
      <vt:lpstr>Ethnic Composition of Pakistan</vt:lpstr>
      <vt:lpstr>Punjabi Population</vt:lpstr>
      <vt:lpstr>Sindhi Population</vt:lpstr>
      <vt:lpstr>Pashtun Population</vt:lpstr>
      <vt:lpstr>Baloch Population</vt:lpstr>
      <vt:lpstr>Languages of Pakistan</vt:lpstr>
      <vt:lpstr>Culture of Pakistan </vt:lpstr>
      <vt:lpstr>Religion in Pakistan </vt:lpstr>
      <vt:lpstr>PowerPoint Presentation</vt:lpstr>
      <vt:lpstr>Relationship Between Land and People</vt:lpstr>
      <vt:lpstr>Unity in Diversity</vt:lpstr>
      <vt:lpstr>Culture of Pakistan</vt:lpstr>
      <vt:lpstr>People of Pakistan</vt:lpstr>
      <vt:lpstr>Heritage &amp; Landmarks </vt:lpstr>
      <vt:lpstr>Natural Resources &amp; Agriculture </vt:lpstr>
      <vt:lpstr>Challenges &amp; Opportunities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Asefa Khilji</dc:creator>
  <cp:lastModifiedBy>Asefa Khilji</cp:lastModifiedBy>
  <cp:revision>38</cp:revision>
  <dcterms:created xsi:type="dcterms:W3CDTF">2024-06-09T14:36:22Z</dcterms:created>
  <dcterms:modified xsi:type="dcterms:W3CDTF">2026-01-31T07:11:49Z</dcterms:modified>
</cp:coreProperties>
</file>