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  <p:sldId id="263" r:id="rId9"/>
    <p:sldId id="268" r:id="rId10"/>
    <p:sldId id="269" r:id="rId11"/>
    <p:sldId id="277" r:id="rId12"/>
    <p:sldId id="278" r:id="rId13"/>
    <p:sldId id="270" r:id="rId14"/>
    <p:sldId id="271" r:id="rId15"/>
    <p:sldId id="273" r:id="rId16"/>
    <p:sldId id="274" r:id="rId17"/>
    <p:sldId id="264" r:id="rId18"/>
    <p:sldId id="265" r:id="rId19"/>
    <p:sldId id="26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84681-222C-4CDE-9071-30237691A7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31F7FB-F018-4B6C-AD9B-8447A0394E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DD7443-ED75-48B4-876B-1BEFDFB85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D0544-6E38-4122-8490-7C1E888A89E8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5B571-E7B1-4053-8ADD-67B11D7F1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13B8F-3F99-4B42-BD27-055A4F960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A852A-D189-4E30-B338-F04258972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015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082E4-6B2D-41CA-BAA3-3B4F40622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70BC2-07A4-4F4B-A52E-E9E4B91AF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D4414-1620-442B-910F-9588D5A76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D0544-6E38-4122-8490-7C1E888A89E8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9ADEC-0D45-4141-A8F3-A93E3BC1A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973F1-7DBD-4F8E-BA3E-23401F5BF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A852A-D189-4E30-B338-F04258972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398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8D6EB-95B6-4AFA-8510-2111C9198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1D54DE-190E-4FC5-8D35-61E668218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2B6AE-126A-4D36-82CC-565CB94B4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D0544-6E38-4122-8490-7C1E888A89E8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A665BB-24E4-4B16-8B1F-325343FB7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D959F7-292C-4FBF-897F-CFB3258C1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A852A-D189-4E30-B338-F04258972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537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4E4D-AD0F-4167-BB6D-DBDD0ED13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30622-F4D0-413D-93C6-0529736B70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14195E-2C7F-48B5-9F34-3B402B5692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A8FDBB-C78D-4E66-B38C-8CA8ED487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D0544-6E38-4122-8490-7C1E888A89E8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6E20A4-F59A-4B38-8EBC-A08B294DC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C4FDB4-F68D-4391-BF35-DC5DF9B61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A852A-D189-4E30-B338-F04258972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189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1962A-30F0-4EAD-A0C5-62A8F55C1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31CE2-E489-47F2-9E15-FC86F82057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6C939E-005B-47C1-BE67-A865020670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120C9E-2811-4AB3-A22D-52B060A33B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D8E52F-72CE-47BE-8FD7-960496CCC0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8C947F-381D-4B4D-A0F7-71A321FB3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D0544-6E38-4122-8490-7C1E888A89E8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5C97B1-46DC-4A25-B575-003F1F61F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9E0820-1783-4389-B498-77EFAB43E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A852A-D189-4E30-B338-F04258972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987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D9549-1899-44F6-8824-20428F87C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BB4FDF-B1DA-4EC4-809C-4716C09EB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D0544-6E38-4122-8490-7C1E888A89E8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0F8EEC-D551-4B7B-9D85-8201F737F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7B2A1C-F158-4CC0-B667-383C746A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A852A-D189-4E30-B338-F04258972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341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D784A2-4BC4-4BBC-8184-B032C1081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D0544-6E38-4122-8490-7C1E888A89E8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414668-7179-447C-B6DF-3AD7AFEAF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B688E4-2112-489C-AB97-BAF9B1DF1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A852A-D189-4E30-B338-F04258972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752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F5923-5B8F-4F95-AD5A-800B80693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19B06-4E4F-4B7E-B3E4-3CC3FCF82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EE938C-3EC3-47F7-B1B2-F3E4550C3C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BDD4DD-75DF-41AD-912C-B3EE6AFD1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D0544-6E38-4122-8490-7C1E888A89E8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66E2A2-E14D-4B2C-8ACF-1344E62EF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B9E321-CFA7-4C5C-B1B3-FB50669BF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A852A-D189-4E30-B338-F04258972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508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3EB08-98C7-41C5-B578-B80EBC247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F37569-38CE-4C99-AE9C-4259B5D019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4C00FA-4981-44EE-8D66-B37AC46698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667211-FBF0-4C25-A188-EC462C66A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D0544-6E38-4122-8490-7C1E888A89E8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719FF9-2142-44C6-90DB-FFAD61F62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C7956D-DE39-4AC6-87C8-B38974811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A852A-D189-4E30-B338-F04258972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287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9D19F-5F25-4349-8CB3-BBFD563F7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B80393-A42C-45AA-A593-966007F512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63636-0323-42B4-9732-38627BC6C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D0544-6E38-4122-8490-7C1E888A89E8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1D422-4E33-4BAC-AE88-C91C81276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B49AA9-4848-4881-92A4-CD022D170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A852A-D189-4E30-B338-F04258972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058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41F55D-4FA7-49D2-BF02-8986BAC197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3B84AF-69E5-4F85-A76F-EC0CC96132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CF502-8E8B-4B31-B976-D1F011354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D0544-6E38-4122-8490-7C1E888A89E8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7F2AA4-63BF-4D24-89C0-E0C979C18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CF16C-A8FD-446C-B3EC-1E6150B20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2A852A-D189-4E30-B338-F04258972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64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3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B2F4F6-4310-4555-B4EE-24E5B8E11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D713A2-D176-4AC2-81F3-58FAAEC5B6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A1B13-2092-4FC1-8518-AC95E96740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4D0544-6E38-4122-8490-7C1E888A89E8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660DC-6AE5-4351-89C6-44E620D337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BD17B4-9EBB-4C1F-B695-AD60322C45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2A852A-D189-4E30-B338-F04258972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521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Autofit/>
          </a:bodyPr>
          <a:lstStyle/>
          <a:p>
            <a:r>
              <a:rPr sz="10000" b="1" dirty="0"/>
              <a:t>Economy of Pakistan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6E8C2-A5E9-4143-A53C-5FB5FBF49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5000" b="1" dirty="0"/>
              <a:t>The Fifth Phase: 1988–1999 </a:t>
            </a:r>
            <a:br>
              <a:rPr lang="en-US" sz="5000" b="1" dirty="0"/>
            </a:br>
            <a:r>
              <a:rPr lang="en-US" sz="5000" b="1" dirty="0"/>
              <a:t>(Reforms and Political Instability)</a:t>
            </a:r>
            <a:endParaRPr lang="en-US" sz="5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88D20-4035-4EBB-A5A6-418BBA5BBD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sz="2500" dirty="0"/>
              <a:t>The post-Zia democratic era saw alternating governments of </a:t>
            </a:r>
            <a:r>
              <a:rPr lang="en-US" sz="2500" b="1" dirty="0"/>
              <a:t>Benazir Bhutto and Nawaz Sharif</a:t>
            </a:r>
            <a:r>
              <a:rPr lang="en-US" sz="2500" dirty="0"/>
              <a:t>, both emphasizing </a:t>
            </a:r>
            <a:r>
              <a:rPr lang="en-US" sz="2500" b="1" dirty="0"/>
              <a:t>economic liberalization / privatization</a:t>
            </a:r>
            <a:r>
              <a:rPr lang="en-US" sz="2500" dirty="0"/>
              <a:t>.</a:t>
            </a:r>
          </a:p>
          <a:p>
            <a:pPr lvl="0"/>
            <a:r>
              <a:rPr lang="en-US" sz="2500" dirty="0"/>
              <a:t>The </a:t>
            </a:r>
            <a:r>
              <a:rPr lang="en-US" sz="2500" b="1" dirty="0"/>
              <a:t>Structural Adjustment Programs (SAPs)</a:t>
            </a:r>
            <a:r>
              <a:rPr lang="en-US" sz="2500" dirty="0"/>
              <a:t> under IMF and World Bank supervision aimed to reduce fiscal deficits and reform the public sector.</a:t>
            </a:r>
          </a:p>
          <a:p>
            <a:pPr lvl="0"/>
            <a:r>
              <a:rPr lang="en-US" sz="2500" dirty="0"/>
              <a:t>These reforms faced resistance due to inflation, unemployment, and social unrest.</a:t>
            </a:r>
          </a:p>
          <a:p>
            <a:pPr lvl="0"/>
            <a:r>
              <a:rPr lang="en-US" sz="2500" dirty="0"/>
              <a:t>Political instability and corruption scandals weakened investor confidence.</a:t>
            </a:r>
          </a:p>
          <a:p>
            <a:pPr lvl="0"/>
            <a:r>
              <a:rPr lang="en-US" sz="2500" dirty="0"/>
              <a:t>Despite some privatization, Pakistan’s external debt and trade imbalance increased sharply.</a:t>
            </a:r>
          </a:p>
          <a:p>
            <a:pPr lvl="0"/>
            <a:r>
              <a:rPr lang="en-US" sz="2500" dirty="0"/>
              <a:t>The 1990s ended with </a:t>
            </a:r>
            <a:r>
              <a:rPr lang="en-US" sz="2500" b="1" dirty="0"/>
              <a:t>macroeconomic fragility.</a:t>
            </a:r>
          </a:p>
          <a:p>
            <a:pPr lvl="0"/>
            <a:r>
              <a:rPr lang="en-US" sz="2500" b="1" dirty="0"/>
              <a:t>However, </a:t>
            </a:r>
            <a:r>
              <a:rPr lang="en-US" sz="2500" dirty="0"/>
              <a:t>privatization and deregulation laid groundwork for future growth.</a:t>
            </a:r>
          </a:p>
        </p:txBody>
      </p:sp>
    </p:spTree>
    <p:extLst>
      <p:ext uri="{BB962C8B-B14F-4D97-AF65-F5344CB8AC3E}">
        <p14:creationId xmlns:p14="http://schemas.microsoft.com/office/powerpoint/2010/main" val="3280177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5000" b="1" dirty="0"/>
              <a:t>1990s Economy of Pakistan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556647"/>
          </a:xfrm>
        </p:spPr>
        <p:txBody>
          <a:bodyPr>
            <a:no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500" dirty="0"/>
              <a:t>Pakistan was among the top ten fastest-growing developing countries between 1960 and 1990, with an average annual growth rate of around 6%.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500" dirty="0"/>
              <a:t>The structure of the economy transformed significantly, as agriculture’s share declined and the services sector became dominant.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500" dirty="0"/>
              <a:t>Despite this early success, economic growth slowed after the early 1990s.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500" dirty="0"/>
              <a:t>Political instability, weak governance, and lack of policy continuity were major factors.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500" dirty="0"/>
              <a:t>Pakistan failed to utilize its strategic geographic position for regional trade and economic integration.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500" dirty="0"/>
              <a:t>Pakistan became one of the slowest-growing economies in South Asia during the 1990s.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5000" b="1" dirty="0"/>
              <a:t>Key Structural Issues in the 1990s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sz="2500" dirty="0"/>
              <a:t>The financial sector remained inefficient and dominated by state-owned institutions.</a:t>
            </a:r>
          </a:p>
          <a:p>
            <a:r>
              <a:rPr sz="2500" dirty="0"/>
              <a:t>Access to capital was limited for private investors and entrepreneurs.</a:t>
            </a:r>
          </a:p>
          <a:p>
            <a:r>
              <a:rPr sz="2500" dirty="0"/>
              <a:t>Tax policies and regulations were inconsistent and frequently changed.</a:t>
            </a:r>
          </a:p>
          <a:p>
            <a:r>
              <a:rPr sz="2500" dirty="0"/>
              <a:t>Infrastructure and energy shortages discouraged industrial growth.</a:t>
            </a:r>
            <a:endParaRPr lang="en-US" sz="25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500" dirty="0"/>
              <a:t>Economic uncertainty discouraged long-term investment and investor confidence.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500" dirty="0"/>
              <a:t>The country accumulated large domestic and external debt burdens over time.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500" dirty="0"/>
              <a:t>The investment-to-GDP ratio declined significantly due to policy inconsistency. </a:t>
            </a:r>
          </a:p>
          <a:p>
            <a:r>
              <a:rPr sz="2500" dirty="0"/>
              <a:t>Governance issues and corruption further weakened economic performance.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5000" b="1" dirty="0"/>
              <a:t>Sanctions after 1998 Nuclear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500" dirty="0"/>
              <a:t>Pakistan faced international sanctions after conducting nuclear tests in 1998.</a:t>
            </a:r>
          </a:p>
          <a:p>
            <a:r>
              <a:rPr sz="2500" dirty="0"/>
              <a:t>Foreign aid and financial inflows were significantly reduced due to these sanctions.</a:t>
            </a:r>
          </a:p>
          <a:p>
            <a:r>
              <a:rPr sz="2500" dirty="0"/>
              <a:t>The government froze foreign currency accounts, which damaged investor confidence.</a:t>
            </a:r>
          </a:p>
          <a:p>
            <a:r>
              <a:rPr sz="2500" dirty="0"/>
              <a:t>International capital markets became hesitant to engage with Pakistan.</a:t>
            </a:r>
          </a:p>
          <a:p>
            <a:r>
              <a:rPr sz="2500" dirty="0"/>
              <a:t>The risk profile of the economy increased sharply during this period.</a:t>
            </a:r>
          </a:p>
          <a:p>
            <a:r>
              <a:rPr sz="2500" dirty="0"/>
              <a:t>Sanctions intensified the already fragile economic situation of the 1990s.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5000" b="1" dirty="0"/>
              <a:t>Economic Consequences of Sanctions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500" dirty="0"/>
              <a:t>Debt servicing reached nearly 40</a:t>
            </a:r>
            <a:r>
              <a:rPr lang="en-US" sz="2500" dirty="0"/>
              <a:t>%</a:t>
            </a:r>
            <a:r>
              <a:rPr sz="2500" dirty="0"/>
              <a:t> of foreign exchange earnings.</a:t>
            </a:r>
          </a:p>
          <a:p>
            <a:r>
              <a:rPr sz="2500" dirty="0"/>
              <a:t>Foreign direct investment declined due to increased uncertainty.</a:t>
            </a:r>
          </a:p>
          <a:p>
            <a:r>
              <a:rPr sz="2500" dirty="0"/>
              <a:t>Economic isolation limited trade and financial opportunities.</a:t>
            </a:r>
          </a:p>
          <a:p>
            <a:r>
              <a:rPr sz="2500" dirty="0"/>
              <a:t>Business confidence declined both domestically and internationally.</a:t>
            </a:r>
          </a:p>
          <a:p>
            <a:r>
              <a:rPr sz="2500" dirty="0"/>
              <a:t>Poverty levels increased significantly during the decade.</a:t>
            </a:r>
          </a:p>
          <a:p>
            <a:r>
              <a:rPr sz="2500" dirty="0"/>
              <a:t>Overall economic growth slowed further due to reduced external support.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5000" b="1" dirty="0"/>
              <a:t>Role of IMF in Pakistan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500" dirty="0"/>
              <a:t>Pakistan entered into IMF programs to stabilize its economy.</a:t>
            </a:r>
          </a:p>
          <a:p>
            <a:r>
              <a:rPr sz="2500" dirty="0"/>
              <a:t>These programs focused on fiscal discipline and structural reforms.</a:t>
            </a:r>
          </a:p>
          <a:p>
            <a:r>
              <a:rPr sz="2500" dirty="0"/>
              <a:t>The IMF encouraged reduction of deficits and better tax collection.</a:t>
            </a:r>
          </a:p>
          <a:p>
            <a:r>
              <a:rPr sz="2500" dirty="0"/>
              <a:t>Reforms were introduced in banking, trade, and public sector enterprises.</a:t>
            </a:r>
          </a:p>
          <a:p>
            <a:r>
              <a:rPr sz="2500" dirty="0"/>
              <a:t>The IMF also emphasized privatization and market-based policies.</a:t>
            </a:r>
          </a:p>
          <a:p>
            <a:r>
              <a:rPr sz="2500" dirty="0"/>
              <a:t>These programs </a:t>
            </a:r>
            <a:r>
              <a:rPr lang="en-US" sz="2500" dirty="0"/>
              <a:t>gave plans to</a:t>
            </a:r>
            <a:r>
              <a:rPr sz="2500" dirty="0"/>
              <a:t> restore some macroeconomic stability over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792D0-9164-46C7-8B70-F49ED8B09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5000" b="1" dirty="0"/>
              <a:t>The Sixth Phase: 2000–2010 (Globalization and Resilience)</a:t>
            </a:r>
            <a:endParaRPr lang="en-US" sz="5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D0B54-C4AE-42ED-9834-263C7FCD28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sz="2500" dirty="0"/>
              <a:t>Under </a:t>
            </a:r>
            <a:r>
              <a:rPr lang="en-US" sz="2500" b="1" dirty="0"/>
              <a:t>General Pervez Musharraf</a:t>
            </a:r>
            <a:r>
              <a:rPr lang="en-US" sz="2500" dirty="0"/>
              <a:t>, Pakistan’s economy experienced </a:t>
            </a:r>
            <a:r>
              <a:rPr lang="en-US" sz="2500" b="1" dirty="0"/>
              <a:t>macroeconomic recovery and modernization</a:t>
            </a:r>
            <a:r>
              <a:rPr lang="en-US" sz="2500" dirty="0"/>
              <a:t>, supported by post-9/11 inflows of aid and remittances.</a:t>
            </a:r>
          </a:p>
          <a:p>
            <a:pPr lvl="0"/>
            <a:r>
              <a:rPr lang="en-US" sz="2500" dirty="0"/>
              <a:t>Banking, telecommunications, and construction sectors expanded, while GDP growth averaged around </a:t>
            </a:r>
            <a:r>
              <a:rPr lang="en-US" sz="2500" b="1" dirty="0"/>
              <a:t>6–7%</a:t>
            </a:r>
            <a:r>
              <a:rPr lang="en-US" sz="2500" dirty="0"/>
              <a:t> from 2002 to 2007.</a:t>
            </a:r>
          </a:p>
          <a:p>
            <a:pPr lvl="0"/>
            <a:r>
              <a:rPr lang="en-US" sz="2500" dirty="0"/>
              <a:t>However, this growth was </a:t>
            </a:r>
            <a:r>
              <a:rPr lang="en-US" sz="2500" b="1" dirty="0"/>
              <a:t>consumption-driven and externally financed</a:t>
            </a:r>
            <a:r>
              <a:rPr lang="en-US" sz="2500" dirty="0"/>
              <a:t>, lacking sustainability.</a:t>
            </a:r>
          </a:p>
          <a:p>
            <a:pPr lvl="0"/>
            <a:r>
              <a:rPr lang="en-US" sz="2500" dirty="0"/>
              <a:t>Political transitions (2007–2008) and global crisis strained fiscal stability.</a:t>
            </a:r>
          </a:p>
          <a:p>
            <a:pPr lvl="0"/>
            <a:r>
              <a:rPr lang="en-US" sz="2500" dirty="0"/>
              <a:t>The late 2000s witnessed inflation, energy shortages, and declining foreign investment.</a:t>
            </a:r>
          </a:p>
          <a:p>
            <a:pPr lvl="0"/>
            <a:r>
              <a:rPr lang="en-US" sz="2500" dirty="0"/>
              <a:t>Pakistan maintained resilience through exports, remittances, and a growing services sector.</a:t>
            </a:r>
          </a:p>
        </p:txBody>
      </p:sp>
    </p:spTree>
    <p:extLst>
      <p:ext uri="{BB962C8B-B14F-4D97-AF65-F5344CB8AC3E}">
        <p14:creationId xmlns:p14="http://schemas.microsoft.com/office/powerpoint/2010/main" val="3442468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5000" b="1" dirty="0"/>
              <a:t>IMF Programs (2000–2004)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500" dirty="0"/>
              <a:t>Pakistan successfully implemented IMF stand-by arrangements and reform programs.</a:t>
            </a:r>
          </a:p>
          <a:p>
            <a:r>
              <a:rPr sz="2500" dirty="0"/>
              <a:t>The country adopted policies to reduce fiscal and external imbalances.</a:t>
            </a:r>
          </a:p>
          <a:p>
            <a:r>
              <a:rPr sz="2500" dirty="0"/>
              <a:t>Debt restructuring was facilitated through international cooperation.</a:t>
            </a:r>
          </a:p>
          <a:p>
            <a:r>
              <a:rPr sz="2500" dirty="0"/>
              <a:t>The Paris Club provided relief by rescheduling Pakistan’s debt.</a:t>
            </a:r>
          </a:p>
          <a:p>
            <a:r>
              <a:rPr sz="2500" dirty="0"/>
              <a:t>The United States also cancelled a portion of Pakistan’s bilateral debt.</a:t>
            </a:r>
          </a:p>
          <a:p>
            <a:r>
              <a:rPr sz="2500" dirty="0"/>
              <a:t>These measures contributed to economic stabilization and recovery</a:t>
            </a:r>
            <a:r>
              <a:rPr lang="en-US" sz="2500" dirty="0"/>
              <a:t> in short term</a:t>
            </a:r>
            <a:r>
              <a:rPr sz="2500"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5000" b="1" dirty="0"/>
              <a:t>2001: GWOT and Geo-Economic Shift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0403" y="1690688"/>
            <a:ext cx="11131193" cy="4351338"/>
          </a:xfrm>
        </p:spPr>
        <p:txBody>
          <a:bodyPr>
            <a:noAutofit/>
          </a:bodyPr>
          <a:lstStyle/>
          <a:p>
            <a:r>
              <a:rPr lang="en-US" sz="2500" dirty="0"/>
              <a:t>The events of September 11, 2001, significantly increased Pakistan’s global strategic position – location became economically valuable. </a:t>
            </a:r>
          </a:p>
          <a:p>
            <a:r>
              <a:rPr lang="en-US" sz="2500" dirty="0"/>
              <a:t>Pakistan became a frontline ally of the United States in the Global War on Terror. </a:t>
            </a:r>
          </a:p>
          <a:p>
            <a:r>
              <a:rPr lang="en-US" sz="2500" dirty="0"/>
              <a:t>This alliance restored Pakistan’s importance in international politics and economics. </a:t>
            </a:r>
          </a:p>
          <a:p>
            <a:r>
              <a:rPr lang="en-US" sz="2500" dirty="0"/>
              <a:t>Economic sanctions imposed after the 1998 nuclear tests were lifted and financial support resumed. </a:t>
            </a:r>
          </a:p>
          <a:p>
            <a:r>
              <a:rPr lang="en-US" sz="2500" dirty="0"/>
              <a:t>Pakistan re-entered global financial systems and international partnerships. </a:t>
            </a:r>
          </a:p>
          <a:p>
            <a:r>
              <a:rPr lang="en-US" sz="2500" dirty="0"/>
              <a:t>The country experienced renewed engagement with global institutions and donors.</a:t>
            </a:r>
          </a:p>
          <a:p>
            <a:r>
              <a:rPr sz="2500" dirty="0"/>
              <a:t>Foreign aid and military assistance increased significantly.</a:t>
            </a:r>
          </a:p>
          <a:p>
            <a:r>
              <a:rPr sz="2500" dirty="0"/>
              <a:t>This marked a shift from geopolitical isolation to global engagement.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DFB42-288C-4C26-A36F-310119571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5000" b="1" dirty="0"/>
              <a:t>GWOT &amp; Pakistan’s Geo-Economic Impact</a:t>
            </a:r>
            <a:endParaRPr lang="en-US" sz="5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142A2-4D26-4AC2-83CB-747C1F76B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500" dirty="0"/>
              <a:t>Pakistan received increased foreign aid, debt relief, and financial inflows after 2001. </a:t>
            </a:r>
          </a:p>
          <a:p>
            <a:r>
              <a:rPr lang="en-US" sz="2500" dirty="0"/>
              <a:t>Workers’ remittances increased significantly, strengthening foreign exchange reserves. </a:t>
            </a:r>
          </a:p>
          <a:p>
            <a:r>
              <a:rPr lang="en-US" sz="2500" dirty="0"/>
              <a:t>The IMF and other institutions resumed support for economic stabilization programs. </a:t>
            </a:r>
          </a:p>
          <a:p>
            <a:r>
              <a:rPr lang="en-US" sz="2500" dirty="0"/>
              <a:t>Investment levels improved, and foreign direct investment reached higher levels by 2007. </a:t>
            </a:r>
          </a:p>
          <a:p>
            <a:r>
              <a:rPr lang="en-US" sz="2500" dirty="0"/>
              <a:t>Pakistan’s foreign exchange earnings increased substantially during this period. </a:t>
            </a:r>
          </a:p>
          <a:p>
            <a:r>
              <a:rPr lang="en-US" sz="2500" dirty="0"/>
              <a:t>Economic growth accelerated due to reforms, external support, and improved confidence.</a:t>
            </a:r>
          </a:p>
        </p:txBody>
      </p:sp>
    </p:spTree>
    <p:extLst>
      <p:ext uri="{BB962C8B-B14F-4D97-AF65-F5344CB8AC3E}">
        <p14:creationId xmlns:p14="http://schemas.microsoft.com/office/powerpoint/2010/main" val="3142146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0188C-BA32-4184-B87B-A6366E5D5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5000" b="1" dirty="0"/>
              <a:t>Costs of GWOT for Pakistan</a:t>
            </a:r>
            <a:endParaRPr lang="en-US" sz="5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A6C28-DC1A-4A22-8088-A66AB9D16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sz="2500" dirty="0"/>
              <a:t>Pakistan suffered major security challenges due to terrorism and internal conflict. </a:t>
            </a:r>
          </a:p>
          <a:p>
            <a:r>
              <a:rPr lang="en-US" sz="2500" dirty="0"/>
              <a:t>Thousands of civilians and security personnel lost their lives. </a:t>
            </a:r>
          </a:p>
          <a:p>
            <a:r>
              <a:rPr lang="en-US" sz="2500" dirty="0"/>
              <a:t>Investor confidence was affected due to instability and law and order issues. </a:t>
            </a:r>
          </a:p>
          <a:p>
            <a:r>
              <a:rPr lang="en-US" sz="2500" dirty="0"/>
              <a:t>Export orders declined as international buyers avoided visiting Pakistan. </a:t>
            </a:r>
          </a:p>
          <a:p>
            <a:r>
              <a:rPr lang="en-US" sz="2500" dirty="0"/>
              <a:t>Tourism and international business activities were severely disrupted. </a:t>
            </a:r>
          </a:p>
          <a:p>
            <a:r>
              <a:rPr lang="en-US" sz="2500" dirty="0"/>
              <a:t>The overall economic and social costs often outweighed the financial benefits.</a:t>
            </a:r>
          </a:p>
        </p:txBody>
      </p:sp>
    </p:spTree>
    <p:extLst>
      <p:ext uri="{BB962C8B-B14F-4D97-AF65-F5344CB8AC3E}">
        <p14:creationId xmlns:p14="http://schemas.microsoft.com/office/powerpoint/2010/main" val="10575904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5000" b="1" dirty="0"/>
              <a:t>Economic Gains (2000–2007)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500" dirty="0"/>
              <a:t>Pakistan’s GDP growth averaged around 6.3 percent annually.</a:t>
            </a:r>
          </a:p>
          <a:p>
            <a:r>
              <a:rPr sz="2500" dirty="0"/>
              <a:t>Foreign direct investment increased significantly during this period.</a:t>
            </a:r>
          </a:p>
          <a:p>
            <a:r>
              <a:rPr sz="2500" dirty="0"/>
              <a:t>Investment rose to approximately 24 percent of GDP.</a:t>
            </a:r>
          </a:p>
          <a:p>
            <a:r>
              <a:rPr sz="2500" dirty="0"/>
              <a:t>Foreign exchange reserves improved due to higher inflows.</a:t>
            </a:r>
          </a:p>
          <a:p>
            <a:r>
              <a:rPr sz="2500" dirty="0"/>
              <a:t>The banking sector was reformed and became more efficient.</a:t>
            </a:r>
          </a:p>
          <a:p>
            <a:r>
              <a:rPr sz="2500" dirty="0"/>
              <a:t>Economic confidence improved among investors and businesses.</a:t>
            </a:r>
            <a:endParaRPr lang="en-US" sz="2500" dirty="0"/>
          </a:p>
          <a:p>
            <a:r>
              <a:rPr lang="en-US" sz="2500" dirty="0"/>
              <a:t>Private businesses saw a bloom.</a:t>
            </a:r>
            <a:endParaRPr sz="2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5000" b="1" dirty="0"/>
              <a:t>Poverty </a:t>
            </a:r>
            <a:r>
              <a:rPr lang="en-US" sz="5000" b="1" dirty="0"/>
              <a:t>&amp;</a:t>
            </a:r>
            <a:r>
              <a:rPr sz="5000" b="1" dirty="0"/>
              <a:t> Employment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dirty="0"/>
              <a:t>Poverty declined by around 10 percentage points during this period.</a:t>
            </a:r>
          </a:p>
          <a:p>
            <a:r>
              <a:rPr lang="en-US" sz="2500" dirty="0"/>
              <a:t>Unemployment rates decreased as new jobs were created.</a:t>
            </a:r>
          </a:p>
          <a:p>
            <a:r>
              <a:rPr lang="en-US" sz="2500" dirty="0"/>
              <a:t>Approximately 11.8 million jobs were generated between 1999 and 2008.</a:t>
            </a:r>
          </a:p>
          <a:p>
            <a:r>
              <a:rPr lang="en-US" sz="2500" dirty="0"/>
              <a:t>Access to education and healthcare showed some improvement.</a:t>
            </a:r>
          </a:p>
          <a:p>
            <a:r>
              <a:rPr lang="en-US" sz="2500" dirty="0"/>
              <a:t>Social indicators improved but remained below regional standards.</a:t>
            </a:r>
          </a:p>
          <a:p>
            <a:r>
              <a:rPr lang="en-US" sz="2500" dirty="0"/>
              <a:t>Economic growth contributed to better living conditions for many citizens.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5000" b="1" dirty="0"/>
              <a:t>Aid vs Cost Debate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500" dirty="0"/>
              <a:t>Foreign aid increased after Pakistan joined the War on Terror.</a:t>
            </a:r>
          </a:p>
          <a:p>
            <a:r>
              <a:rPr sz="2500" dirty="0"/>
              <a:t>Debt relief and grants contributed to foreign exchange reserves.</a:t>
            </a:r>
          </a:p>
          <a:p>
            <a:r>
              <a:rPr sz="2500" dirty="0"/>
              <a:t>However, economic and social costs were very high.</a:t>
            </a:r>
          </a:p>
          <a:p>
            <a:r>
              <a:rPr sz="2500" dirty="0"/>
              <a:t>Losses in trade and investment reduced overall gains.</a:t>
            </a:r>
          </a:p>
          <a:p>
            <a:r>
              <a:rPr sz="2500" dirty="0"/>
              <a:t>Security issues created long-term economic challenges.</a:t>
            </a:r>
          </a:p>
          <a:p>
            <a:r>
              <a:rPr sz="2500" dirty="0"/>
              <a:t>Many analysts argue that costs outweighed the benefits.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5000" b="1" dirty="0"/>
              <a:t>Post-2008 Economic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500" dirty="0"/>
              <a:t>Global economic recession affected the international market.</a:t>
            </a:r>
          </a:p>
          <a:p>
            <a:r>
              <a:rPr sz="2500" dirty="0"/>
              <a:t>Economic growth slowed down significantly after 2008.</a:t>
            </a:r>
          </a:p>
          <a:p>
            <a:r>
              <a:rPr sz="2500" dirty="0"/>
              <a:t>Political instability once again affected economic performance.</a:t>
            </a:r>
          </a:p>
          <a:p>
            <a:r>
              <a:rPr sz="2500" dirty="0"/>
              <a:t>Energy shortages disrupted industrial production.</a:t>
            </a:r>
          </a:p>
          <a:p>
            <a:r>
              <a:rPr sz="2500" dirty="0"/>
              <a:t>Fiscal deficits increased due to poor economic management.</a:t>
            </a:r>
          </a:p>
          <a:p>
            <a:r>
              <a:rPr sz="2500" dirty="0"/>
              <a:t>Foreign investment declined due to uncertainty.</a:t>
            </a:r>
          </a:p>
          <a:p>
            <a:r>
              <a:rPr sz="2500" dirty="0"/>
              <a:t>Macroeconomic instability returned to the economy.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21FAB-C18D-49A5-8B41-5B4086FCB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5000" b="1" dirty="0"/>
              <a:t>The Contemporary Phase: 2010–Present (CPEC and Global Challenges)</a:t>
            </a:r>
            <a:endParaRPr lang="en-US" sz="5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15225-DC56-447C-9969-9845F7B7C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sz="2500" dirty="0"/>
              <a:t>The </a:t>
            </a:r>
            <a:r>
              <a:rPr lang="en-US" sz="2500" b="1" dirty="0"/>
              <a:t>China–Pakistan Economic Corridor (CPEC)</a:t>
            </a:r>
            <a:r>
              <a:rPr lang="en-US" sz="2500" dirty="0"/>
              <a:t>, launched in 2015, became a major driver for infrastructure, energy, and trade corridor development.</a:t>
            </a:r>
          </a:p>
          <a:p>
            <a:pPr lvl="0"/>
            <a:r>
              <a:rPr lang="en-US" sz="2500" dirty="0"/>
              <a:t>Pakistan continues to pursue </a:t>
            </a:r>
            <a:r>
              <a:rPr lang="en-US" sz="2500" b="1" dirty="0"/>
              <a:t>Vision 2025</a:t>
            </a:r>
            <a:r>
              <a:rPr lang="en-US" sz="2500" dirty="0"/>
              <a:t> and </a:t>
            </a:r>
            <a:r>
              <a:rPr lang="en-US" sz="2500" b="1" dirty="0"/>
              <a:t>sustainable growth goals</a:t>
            </a:r>
            <a:r>
              <a:rPr lang="en-US" sz="2500" dirty="0"/>
              <a:t>, focusing on industrial zones, energy self-sufficiency, and regional integration.</a:t>
            </a:r>
          </a:p>
          <a:p>
            <a:pPr lvl="0"/>
            <a:r>
              <a:rPr lang="en-US" sz="2500" dirty="0"/>
              <a:t>Persistent challenges include </a:t>
            </a:r>
            <a:r>
              <a:rPr lang="en-US" sz="2500" b="1" dirty="0"/>
              <a:t>fiscal deficits, circular debt, currency depreciation</a:t>
            </a:r>
            <a:r>
              <a:rPr lang="en-US" sz="2500" dirty="0"/>
              <a:t>, and </a:t>
            </a:r>
            <a:r>
              <a:rPr lang="en-US" sz="2500" b="1" dirty="0"/>
              <a:t>low tax-to-GDP ratio</a:t>
            </a:r>
            <a:r>
              <a:rPr lang="en-US" sz="2500" dirty="0"/>
              <a:t>.</a:t>
            </a:r>
          </a:p>
          <a:p>
            <a:pPr lvl="0"/>
            <a:r>
              <a:rPr lang="en-US" sz="2500" b="1" dirty="0"/>
              <a:t>Climate change and water scarcity</a:t>
            </a:r>
            <a:r>
              <a:rPr lang="en-US" sz="2500" dirty="0"/>
              <a:t> threaten food security.</a:t>
            </a:r>
          </a:p>
          <a:p>
            <a:pPr lvl="0"/>
            <a:r>
              <a:rPr lang="en-US" sz="2500" b="1" dirty="0"/>
              <a:t>Human capital development</a:t>
            </a:r>
            <a:r>
              <a:rPr lang="en-US" sz="2500" dirty="0"/>
              <a:t> remains critical — education, vocational training, and women’s participation are key to long-term growth.</a:t>
            </a:r>
          </a:p>
          <a:p>
            <a:pPr lvl="0"/>
            <a:r>
              <a:rPr lang="en-US" sz="2500" dirty="0"/>
              <a:t>Despite difficulties, Pakistan’s </a:t>
            </a:r>
            <a:r>
              <a:rPr lang="en-US" sz="2500" b="1" dirty="0"/>
              <a:t>strategic location, demographic strength, and entrepreneurial culture</a:t>
            </a:r>
            <a:r>
              <a:rPr lang="en-US" sz="2500" dirty="0"/>
              <a:t> provide opportunities for sustainable growth.</a:t>
            </a:r>
          </a:p>
        </p:txBody>
      </p:sp>
    </p:spTree>
    <p:extLst>
      <p:ext uri="{BB962C8B-B14F-4D97-AF65-F5344CB8AC3E}">
        <p14:creationId xmlns:p14="http://schemas.microsoft.com/office/powerpoint/2010/main" val="2949942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DEE93-C3BD-453C-ACF9-B31B04A8F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b="1" dirty="0"/>
              <a:t>Structural Challenges</a:t>
            </a:r>
            <a:endParaRPr lang="en-US" sz="5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DDDA8-B819-4119-801C-66D5A7E3D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US" dirty="0"/>
              <a:t>Broaden the </a:t>
            </a:r>
            <a:r>
              <a:rPr lang="en-US" b="1" dirty="0"/>
              <a:t>tax base</a:t>
            </a:r>
            <a:r>
              <a:rPr lang="en-US" dirty="0"/>
              <a:t> to reduce dependence on external borrowing and stabilize fiscal accounts.</a:t>
            </a:r>
          </a:p>
          <a:p>
            <a:pPr lvl="0"/>
            <a:r>
              <a:rPr lang="en-US" dirty="0"/>
              <a:t>Strengthen </a:t>
            </a:r>
            <a:r>
              <a:rPr lang="en-US" b="1" dirty="0"/>
              <a:t>industrial policy</a:t>
            </a:r>
            <a:r>
              <a:rPr lang="en-US" dirty="0"/>
              <a:t> for export diversification beyond textiles and agriculture.</a:t>
            </a:r>
          </a:p>
          <a:p>
            <a:pPr lvl="0"/>
            <a:r>
              <a:rPr lang="en-US" dirty="0"/>
              <a:t>Invest in </a:t>
            </a:r>
            <a:r>
              <a:rPr lang="en-US" b="1" dirty="0"/>
              <a:t>education, technology, and skill development</a:t>
            </a:r>
            <a:r>
              <a:rPr lang="en-US" dirty="0"/>
              <a:t> to harness Pakistan’s youth potential.</a:t>
            </a:r>
          </a:p>
          <a:p>
            <a:pPr lvl="0"/>
            <a:r>
              <a:rPr lang="en-US" dirty="0"/>
              <a:t>Address </a:t>
            </a:r>
            <a:r>
              <a:rPr lang="en-US" b="1" dirty="0"/>
              <a:t>energy reforms</a:t>
            </a:r>
            <a:r>
              <a:rPr lang="en-US" dirty="0"/>
              <a:t> to ensure affordable and reliable power supply for industry and households.</a:t>
            </a:r>
          </a:p>
          <a:p>
            <a:pPr lvl="0"/>
            <a:r>
              <a:rPr lang="en-US" dirty="0"/>
              <a:t>Prioritize </a:t>
            </a:r>
            <a:r>
              <a:rPr lang="en-US" b="1" dirty="0"/>
              <a:t>climate resilience</a:t>
            </a:r>
            <a:r>
              <a:rPr lang="en-US" dirty="0"/>
              <a:t> through sustainable agriculture and water management.</a:t>
            </a:r>
          </a:p>
          <a:p>
            <a:pPr lvl="0"/>
            <a:r>
              <a:rPr lang="en-US" dirty="0"/>
              <a:t>Enhance </a:t>
            </a:r>
            <a:r>
              <a:rPr lang="en-US" b="1" dirty="0"/>
              <a:t>institutional transparency and governance</a:t>
            </a:r>
            <a:r>
              <a:rPr lang="en-US" dirty="0"/>
              <a:t> to improve investor confidence and economic efficiency.</a:t>
            </a:r>
          </a:p>
        </p:txBody>
      </p:sp>
    </p:spTree>
    <p:extLst>
      <p:ext uri="{BB962C8B-B14F-4D97-AF65-F5344CB8AC3E}">
        <p14:creationId xmlns:p14="http://schemas.microsoft.com/office/powerpoint/2010/main" val="36353359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738A1-F554-4C22-A70F-48B49B29B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000" b="1" dirty="0"/>
              <a:t>Conclusion</a:t>
            </a:r>
            <a:endParaRPr lang="en-US" sz="5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37F80-02C4-4A4F-AE59-4E1FCA23A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Autofit/>
          </a:bodyPr>
          <a:lstStyle/>
          <a:p>
            <a:r>
              <a:rPr lang="en-US" sz="2500" dirty="0"/>
              <a:t>The 1990s represented a period of economic decline for Pakistan.</a:t>
            </a:r>
          </a:p>
          <a:p>
            <a:r>
              <a:rPr lang="en-US" sz="2500" dirty="0"/>
              <a:t>Sanctions after 1998 worsened the country’s economic situation.</a:t>
            </a:r>
          </a:p>
          <a:p>
            <a:r>
              <a:rPr lang="en-US" sz="2500" dirty="0"/>
              <a:t>The post-2001 period saw temporary economic recovery.</a:t>
            </a:r>
          </a:p>
          <a:p>
            <a:r>
              <a:rPr lang="en-US" sz="2500" dirty="0"/>
              <a:t>However, structural weaknesses continued to persist.</a:t>
            </a:r>
          </a:p>
          <a:p>
            <a:r>
              <a:rPr lang="en-US" sz="2500" dirty="0"/>
              <a:t>Sustainable growth requires political stability and strong governance.</a:t>
            </a:r>
          </a:p>
          <a:p>
            <a:pPr lvl="0"/>
            <a:r>
              <a:rPr lang="en-US" sz="2500" dirty="0"/>
              <a:t>Pakistan’s economic journey reflects </a:t>
            </a:r>
            <a:r>
              <a:rPr lang="en-US" sz="2500" b="1" dirty="0"/>
              <a:t>resilience amid adversity</a:t>
            </a:r>
            <a:r>
              <a:rPr lang="en-US" sz="2500" dirty="0"/>
              <a:t>, transitioning from colonial inheritance to a developing, globally connected economy.</a:t>
            </a:r>
          </a:p>
          <a:p>
            <a:pPr lvl="0"/>
            <a:r>
              <a:rPr lang="en-US" sz="2500" dirty="0"/>
              <a:t>Historical imbalances and governance gaps persist but are not undefeatable.</a:t>
            </a:r>
          </a:p>
          <a:p>
            <a:pPr lvl="0"/>
            <a:r>
              <a:rPr lang="en-US" sz="2500" dirty="0"/>
              <a:t>With effective planning and social inclusion, Pakistan can achieve </a:t>
            </a:r>
            <a:r>
              <a:rPr lang="en-US" sz="2500" b="1" dirty="0"/>
              <a:t>sustainable, self-reliant, and equitable economic growth</a:t>
            </a:r>
            <a:r>
              <a:rPr lang="en-US" sz="2500" dirty="0"/>
              <a:t> in the current phase of 21st century.</a:t>
            </a:r>
          </a:p>
        </p:txBody>
      </p:sp>
    </p:spTree>
    <p:extLst>
      <p:ext uri="{BB962C8B-B14F-4D97-AF65-F5344CB8AC3E}">
        <p14:creationId xmlns:p14="http://schemas.microsoft.com/office/powerpoint/2010/main" val="3453467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1490</Words>
  <Application>Microsoft Office PowerPoint</Application>
  <PresentationFormat>Widescreen</PresentationFormat>
  <Paragraphs>136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Economy of Pakistan</vt:lpstr>
      <vt:lpstr>The Fifth Phase: 1988–1999  (Reforms and Political Instability)</vt:lpstr>
      <vt:lpstr>1990s Economy of Pakistan</vt:lpstr>
      <vt:lpstr>Key Structural Issues in the 1990s</vt:lpstr>
      <vt:lpstr>Sanctions after 1998 Nuclear Tests</vt:lpstr>
      <vt:lpstr>Economic Consequences of Sanctions</vt:lpstr>
      <vt:lpstr>Role of IMF in Pakistan</vt:lpstr>
      <vt:lpstr>The Sixth Phase: 2000–2010 (Globalization and Resilience)</vt:lpstr>
      <vt:lpstr>IMF Programs (2000–2004)</vt:lpstr>
      <vt:lpstr>2001: GWOT and Geo-Economic Shift</vt:lpstr>
      <vt:lpstr>GWOT &amp; Pakistan’s Geo-Economic Impact</vt:lpstr>
      <vt:lpstr>Costs of GWOT for Pakistan</vt:lpstr>
      <vt:lpstr>Economic Gains (2000–2007)</vt:lpstr>
      <vt:lpstr>Poverty &amp; Employment Improvements</vt:lpstr>
      <vt:lpstr>Aid vs Cost Debate</vt:lpstr>
      <vt:lpstr>Post-2008 Economic Challenges</vt:lpstr>
      <vt:lpstr>The Contemporary Phase: 2010–Present (CPEC and Global Challenges)</vt:lpstr>
      <vt:lpstr>Structural Challenges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Fifth Phase: 1988–1999  (Reforms and Political Instability)</dc:title>
  <dc:creator>Asefa Khilji</dc:creator>
  <cp:lastModifiedBy>Asefa Khilji</cp:lastModifiedBy>
  <cp:revision>10</cp:revision>
  <dcterms:created xsi:type="dcterms:W3CDTF">2026-03-16T05:36:59Z</dcterms:created>
  <dcterms:modified xsi:type="dcterms:W3CDTF">2026-04-21T10:42:24Z</dcterms:modified>
</cp:coreProperties>
</file>