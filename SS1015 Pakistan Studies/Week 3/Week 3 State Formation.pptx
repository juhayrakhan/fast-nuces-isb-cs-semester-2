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6">
  <p:sldMasterIdLst>
    <p:sldMasterId id="2147483672" r:id="rId1"/>
  </p:sldMasterIdLst>
  <p:notesMasterIdLst>
    <p:notesMasterId r:id="rId27"/>
  </p:notesMasterIdLst>
  <p:sldIdLst>
    <p:sldId id="256" r:id="rId2"/>
    <p:sldId id="284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1" r:id="rId23"/>
    <p:sldId id="280" r:id="rId24"/>
    <p:sldId id="283" r:id="rId25"/>
    <p:sldId id="282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A10418-D75E-4AE1-BBF0-012259BB8F2F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899539-6AC4-4966-AA0D-5D055BA3FC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50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Discuss how political instability affected the nation-building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119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510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428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132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372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850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683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856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38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143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42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0000"/>
            <a:lum/>
          </a:blip>
          <a:srcRect/>
          <a:stretch>
            <a:fillRect l="1000" t="1000" r="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091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03212"/>
            <a:ext cx="7772400" cy="1769653"/>
          </a:xfrm>
        </p:spPr>
        <p:txBody>
          <a:bodyPr>
            <a:noAutofit/>
          </a:bodyPr>
          <a:lstStyle/>
          <a:p>
            <a:r>
              <a:rPr lang="en-US" sz="10000" b="1" dirty="0"/>
              <a:t>STATE FORMATION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28EB9-A2B0-403F-8300-0F67D9487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218986"/>
          </a:xfrm>
        </p:spPr>
        <p:txBody>
          <a:bodyPr>
            <a:normAutofit/>
          </a:bodyPr>
          <a:lstStyle/>
          <a:p>
            <a:r>
              <a:rPr lang="en-US" dirty="0"/>
              <a:t>State formation is complex</a:t>
            </a:r>
          </a:p>
          <a:p>
            <a:r>
              <a:rPr lang="en-US" dirty="0"/>
              <a:t>Pakistan follows federal parliamentary system</a:t>
            </a:r>
          </a:p>
          <a:p>
            <a:r>
              <a:rPr lang="en-US" dirty="0"/>
              <a:t>Political parties shape democracy</a:t>
            </a:r>
          </a:p>
          <a:p>
            <a:r>
              <a:rPr lang="en-US" dirty="0"/>
              <a:t>Economic theories influence policy</a:t>
            </a:r>
          </a:p>
          <a:p>
            <a:r>
              <a:rPr lang="en-US" dirty="0"/>
              <a:t>Social theories affect society</a:t>
            </a:r>
          </a:p>
          <a:p>
            <a:r>
              <a:rPr lang="en-US" dirty="0"/>
              <a:t>Constitution is central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831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What is a State?</a:t>
            </a:r>
            <a:endParaRPr sz="5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9738" y="1690689"/>
            <a:ext cx="7654249" cy="3518309"/>
          </a:xfrm>
          <a:blipFill dpi="0" rotWithShape="1">
            <a:blip r:embed="rId3">
              <a:alphaModFix amt="14000"/>
            </a:blip>
            <a:srcRect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2500" dirty="0"/>
              <a:t>A state is a politically organized community living within a defined territory</a:t>
            </a:r>
          </a:p>
          <a:p>
            <a:r>
              <a:rPr lang="en-US" sz="2500" dirty="0"/>
              <a:t>It possesses a permanent population bound by political allegiance</a:t>
            </a:r>
          </a:p>
          <a:p>
            <a:r>
              <a:rPr lang="en-US" sz="2500" dirty="0"/>
              <a:t>Governed by an organized political authority</a:t>
            </a:r>
          </a:p>
          <a:p>
            <a:r>
              <a:rPr lang="en-US" sz="2500" dirty="0"/>
              <a:t>Exercises supreme authority internally and externally</a:t>
            </a:r>
          </a:p>
          <a:p>
            <a:r>
              <a:rPr lang="en-US" sz="2500" dirty="0"/>
              <a:t>Recognized under international law</a:t>
            </a:r>
          </a:p>
          <a:p>
            <a:r>
              <a:rPr lang="en-US" sz="2500" dirty="0"/>
              <a:t>Acts as the primary unit of global political organization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717" y="327302"/>
            <a:ext cx="8092563" cy="1325563"/>
          </a:xfrm>
        </p:spPr>
        <p:txBody>
          <a:bodyPr>
            <a:normAutofit/>
          </a:bodyPr>
          <a:lstStyle/>
          <a:p>
            <a:pPr algn="ctr"/>
            <a:r>
              <a:rPr lang="en-US" altLang="en-US" sz="5000" b="1" dirty="0"/>
              <a:t>Essential Elements of a State</a:t>
            </a:r>
            <a:endParaRPr sz="5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0835" y="1652867"/>
            <a:ext cx="7561781" cy="3576680"/>
          </a:xfrm>
          <a:blipFill dpi="0" rotWithShape="1">
            <a:blip r:embed="rId3">
              <a:alphaModFix amt="18000"/>
            </a:blip>
            <a:srcRect/>
            <a:tile tx="0" ty="0" sx="100000" sy="100000" flip="none" algn="tl"/>
          </a:blipFill>
        </p:spPr>
        <p:txBody>
          <a:bodyPr>
            <a:noAutofit/>
          </a:bodyPr>
          <a:lstStyle/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500" b="1" dirty="0"/>
              <a:t>Population: </a:t>
            </a:r>
            <a:r>
              <a:rPr lang="en-US" altLang="en-US" sz="2000" dirty="0"/>
              <a:t>Human beings forming the political community</a:t>
            </a: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500" b="1" dirty="0"/>
              <a:t>Territory: </a:t>
            </a:r>
            <a:r>
              <a:rPr lang="en-US" altLang="en-US" sz="2000" dirty="0"/>
              <a:t>Clearly defined geographical boundaries</a:t>
            </a: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500" b="1" dirty="0"/>
              <a:t>Government: </a:t>
            </a:r>
            <a:r>
              <a:rPr lang="en-US" altLang="en-US" sz="2000" dirty="0"/>
              <a:t>Administrative machinery to enforce laws</a:t>
            </a: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500" b="1" dirty="0"/>
              <a:t>Sovereignty: </a:t>
            </a:r>
            <a:r>
              <a:rPr lang="en-US" altLang="en-US" sz="2000" dirty="0"/>
              <a:t>Supreme and independent authority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Absence of any element weakens statehood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Pakistan fulfills all four elements</a:t>
            </a:r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FBE6A2A1-4F31-450B-E1FB-D43DB684E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900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5000" b="1" dirty="0"/>
              <a:t>Concept of State 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70" y="1825626"/>
            <a:ext cx="8122060" cy="3229260"/>
          </a:xfrm>
          <a:blipFill dpi="0" rotWithShape="1">
            <a:blip r:embed="rId3">
              <a:alphaModFix amt="20000"/>
            </a:blip>
            <a:srcRect/>
            <a:tile tx="0" ty="0" sx="100000" sy="100000" flip="none" algn="tl"/>
          </a:blipFill>
        </p:spPr>
        <p:txBody>
          <a:bodyPr>
            <a:no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/>
              <a:t>Historical process through which states emerge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/>
              <a:t>Influenced by wars, revolutions, and colonization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/>
              <a:t>Shaped by economic systems and social structures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/>
              <a:t>Can be gradual or abrupt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/>
              <a:t>Different paths in Europe vs Asia/Africa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/>
              <a:t>Pakistan formed through constitutional struggle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5AF6F64-AF2D-1981-A637-26C472EFB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7C34E0E9-2D4F-1FCF-A73C-491F76594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170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1C6E7577-940C-8C96-2C34-5CA091080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900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ctr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lang="en-US" altLang="en-US" sz="5000" b="1" dirty="0"/>
              <a:t>Concept of Republic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blipFill dpi="0" rotWithShape="1">
            <a:blip r:embed="rId3">
              <a:alphaModFix amt="12000"/>
            </a:blip>
            <a:srcRect/>
            <a:tile tx="0" ty="0" sx="100000" sy="100000" flip="none" algn="tl"/>
          </a:blipFill>
        </p:spPr>
        <p:txBody>
          <a:bodyPr>
            <a:no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A republic is a state where authority comes from people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Leaders are elected, not hereditary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Governance based on constitution and law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Accountability of rulers ensured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Emphasis on civic participation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Rejects absolute monarchy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E1541-502C-4930-B6AD-80519354994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FEATURES:</a:t>
            </a:r>
          </a:p>
          <a:p>
            <a:r>
              <a:rPr lang="en-US" sz="2400" dirty="0"/>
              <a:t>Popular sovereignty</a:t>
            </a:r>
          </a:p>
          <a:p>
            <a:r>
              <a:rPr lang="en-US" sz="2400" dirty="0"/>
              <a:t>Rule of law, equality before law</a:t>
            </a:r>
          </a:p>
          <a:p>
            <a:r>
              <a:rPr lang="en-US" sz="2400" dirty="0"/>
              <a:t>Constitutional supremacy</a:t>
            </a:r>
          </a:p>
          <a:p>
            <a:r>
              <a:rPr lang="en-US" sz="2400" dirty="0"/>
              <a:t>Elected legislature</a:t>
            </a:r>
          </a:p>
          <a:p>
            <a:r>
              <a:rPr lang="en-US" sz="2400" dirty="0"/>
              <a:t>Fixed tenure of leadership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142" y="500062"/>
            <a:ext cx="8691716" cy="1325563"/>
          </a:xfrm>
        </p:spPr>
        <p:txBody>
          <a:bodyPr>
            <a:normAutofit/>
          </a:bodyPr>
          <a:lstStyle/>
          <a:p>
            <a:pPr algn="ctr"/>
            <a:r>
              <a:rPr lang="en-US" sz="5000" b="1" dirty="0"/>
              <a:t>Republic vs Monarchy</a:t>
            </a:r>
            <a:endParaRPr sz="5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206751"/>
          </a:xfrm>
          <a:blipFill dpi="0" rotWithShape="1">
            <a:blip r:embed="rId3">
              <a:alphaModFix amt="17000"/>
            </a:blip>
            <a:srcRect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2500" dirty="0"/>
              <a:t>Republic has elected head of state</a:t>
            </a:r>
          </a:p>
          <a:p>
            <a:r>
              <a:rPr lang="en-US" sz="2500" dirty="0"/>
              <a:t>Monarchy has hereditary ruler</a:t>
            </a:r>
          </a:p>
          <a:p>
            <a:r>
              <a:rPr lang="en-US" sz="2500" dirty="0"/>
              <a:t>Republic follows written constitution</a:t>
            </a:r>
          </a:p>
          <a:p>
            <a:r>
              <a:rPr lang="en-US" sz="2500" dirty="0"/>
              <a:t>Monarchies rely on tradition/custom</a:t>
            </a:r>
          </a:p>
          <a:p>
            <a:r>
              <a:rPr lang="en-US" sz="2500" dirty="0"/>
              <a:t>Public participation is higher in republics</a:t>
            </a:r>
          </a:p>
          <a:p>
            <a:r>
              <a:rPr lang="en-US" sz="2500" dirty="0"/>
              <a:t>Pakistan opted for republican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Pakistan as an Islamic Republic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188164"/>
          </a:xfrm>
          <a:blipFill dpi="0" rotWithShape="1">
            <a:blip r:embed="rId3">
              <a:alphaModFix amt="17000"/>
            </a:blip>
            <a:srcRect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2500" dirty="0"/>
              <a:t>Officially named Islamic Republic of Pakistan</a:t>
            </a:r>
          </a:p>
          <a:p>
            <a:r>
              <a:rPr lang="en-US" sz="2500" dirty="0"/>
              <a:t>Constitution of 1973 defines structure</a:t>
            </a:r>
          </a:p>
          <a:p>
            <a:r>
              <a:rPr lang="en-US" sz="2500" dirty="0"/>
              <a:t>Sovereignty belongs to Almighty Allah</a:t>
            </a:r>
          </a:p>
          <a:p>
            <a:r>
              <a:rPr lang="en-US" sz="2500" dirty="0"/>
              <a:t>Authority exercised through elected representatives</a:t>
            </a:r>
          </a:p>
          <a:p>
            <a:r>
              <a:rPr lang="en-US" sz="2500" dirty="0"/>
              <a:t>Islamic principles guide legislation</a:t>
            </a:r>
          </a:p>
          <a:p>
            <a:r>
              <a:rPr lang="en-US" sz="2500" dirty="0"/>
              <a:t>Democratic framework retained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Administrative Units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3466938"/>
          </a:xfrm>
          <a:blipFill dpi="0" rotWithShape="1">
            <a:blip r:embed="rId3">
              <a:alphaModFix amt="8000"/>
            </a:blip>
            <a:srcRect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2500" dirty="0"/>
              <a:t>Administrative units divide power geographically</a:t>
            </a:r>
          </a:p>
          <a:p>
            <a:r>
              <a:rPr lang="en-US" sz="2500" dirty="0"/>
              <a:t>Help manage large populations efficiently</a:t>
            </a:r>
          </a:p>
          <a:p>
            <a:r>
              <a:rPr lang="en-US" sz="2500" dirty="0"/>
              <a:t>Prevent concentration of authority</a:t>
            </a:r>
          </a:p>
          <a:p>
            <a:r>
              <a:rPr lang="en-US" sz="2500" dirty="0"/>
              <a:t>Promote federal harmony</a:t>
            </a:r>
          </a:p>
          <a:p>
            <a:r>
              <a:rPr lang="en-US" sz="2500" dirty="0"/>
              <a:t>Improve governance delivery</a:t>
            </a:r>
          </a:p>
          <a:p>
            <a:r>
              <a:rPr lang="en-US" sz="2500" dirty="0"/>
              <a:t>Strengthen democracy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544AE-BE9C-4EB3-9391-3AAF0996B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Provinces of Pakistan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6E9F3-3F50-4ABF-ABD2-22E498E91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249809"/>
          </a:xfrm>
        </p:spPr>
        <p:txBody>
          <a:bodyPr>
            <a:normAutofit/>
          </a:bodyPr>
          <a:lstStyle/>
          <a:p>
            <a:r>
              <a:rPr lang="en-US" sz="2500" dirty="0"/>
              <a:t>Punjab: Largest population</a:t>
            </a:r>
          </a:p>
          <a:p>
            <a:r>
              <a:rPr lang="en-US" sz="2500" dirty="0"/>
              <a:t>Sindh: Economic hub</a:t>
            </a:r>
          </a:p>
          <a:p>
            <a:r>
              <a:rPr lang="en-US" sz="2500" dirty="0"/>
              <a:t>Khyber Pakhtunkhwa: Strategic location</a:t>
            </a:r>
          </a:p>
          <a:p>
            <a:r>
              <a:rPr lang="en-US" sz="2500" dirty="0" err="1"/>
              <a:t>Balochistan</a:t>
            </a:r>
            <a:r>
              <a:rPr lang="en-US" sz="2500" dirty="0"/>
              <a:t>: Largest area</a:t>
            </a:r>
          </a:p>
          <a:p>
            <a:r>
              <a:rPr lang="en-US" sz="2500" dirty="0"/>
              <a:t>Each has provincial legislature</a:t>
            </a:r>
          </a:p>
          <a:p>
            <a:r>
              <a:rPr lang="en-US" sz="2500" dirty="0"/>
              <a:t>Autonomy under constitution</a:t>
            </a:r>
          </a:p>
        </p:txBody>
      </p:sp>
    </p:spTree>
    <p:extLst>
      <p:ext uri="{BB962C8B-B14F-4D97-AF65-F5344CB8AC3E}">
        <p14:creationId xmlns:p14="http://schemas.microsoft.com/office/powerpoint/2010/main" val="2729648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6FFA2-E0B7-40E4-9B78-ADA0D40FB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Federal Territories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19C34-B5E2-4F81-92E2-47CDFCC71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6"/>
            <a:ext cx="7886700" cy="3218986"/>
          </a:xfrm>
        </p:spPr>
        <p:txBody>
          <a:bodyPr>
            <a:normAutofit/>
          </a:bodyPr>
          <a:lstStyle/>
          <a:p>
            <a:r>
              <a:rPr lang="en-US" sz="2500" dirty="0"/>
              <a:t>Islamabad Capital Territory</a:t>
            </a:r>
          </a:p>
          <a:p>
            <a:r>
              <a:rPr lang="en-US" sz="2500" dirty="0"/>
              <a:t>Gilgit-Baltistan</a:t>
            </a:r>
          </a:p>
          <a:p>
            <a:r>
              <a:rPr lang="en-US" sz="2500" dirty="0"/>
              <a:t>Azad Jammu &amp; Kashmir (special arrangement)</a:t>
            </a:r>
          </a:p>
          <a:p>
            <a:r>
              <a:rPr lang="en-US" sz="2500" dirty="0"/>
              <a:t>Direct federal oversight</a:t>
            </a:r>
          </a:p>
          <a:p>
            <a:r>
              <a:rPr lang="en-US" sz="2500" dirty="0"/>
              <a:t>Strategic and administrative importance</a:t>
            </a:r>
          </a:p>
          <a:p>
            <a:r>
              <a:rPr lang="en-US" sz="2500" dirty="0"/>
              <a:t>Different governance mechanisms</a:t>
            </a:r>
          </a:p>
        </p:txBody>
      </p:sp>
    </p:spTree>
    <p:extLst>
      <p:ext uri="{BB962C8B-B14F-4D97-AF65-F5344CB8AC3E}">
        <p14:creationId xmlns:p14="http://schemas.microsoft.com/office/powerpoint/2010/main" val="2497066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39E1-78A9-4B87-93BA-BFBDEB406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Local Government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CD42D-9736-441A-AF52-C43D0B233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218986"/>
          </a:xfrm>
        </p:spPr>
        <p:txBody>
          <a:bodyPr>
            <a:normAutofit/>
          </a:bodyPr>
          <a:lstStyle/>
          <a:p>
            <a:r>
              <a:rPr lang="en-US" sz="2500" dirty="0"/>
              <a:t>Third tier of governance</a:t>
            </a:r>
          </a:p>
          <a:p>
            <a:r>
              <a:rPr lang="en-US" sz="2500" dirty="0"/>
              <a:t>Union councils</a:t>
            </a:r>
          </a:p>
          <a:p>
            <a:r>
              <a:rPr lang="en-US" sz="2500" dirty="0"/>
              <a:t>Tehsil/Town councils</a:t>
            </a:r>
          </a:p>
          <a:p>
            <a:r>
              <a:rPr lang="en-US" sz="2500" dirty="0"/>
              <a:t>District councils</a:t>
            </a:r>
          </a:p>
          <a:p>
            <a:r>
              <a:rPr lang="en-US" sz="2500" dirty="0"/>
              <a:t>Grassroots democracy</a:t>
            </a:r>
          </a:p>
          <a:p>
            <a:r>
              <a:rPr lang="en-US" sz="2500" dirty="0"/>
              <a:t>Citizen participation in governance</a:t>
            </a:r>
          </a:p>
        </p:txBody>
      </p:sp>
    </p:spTree>
    <p:extLst>
      <p:ext uri="{BB962C8B-B14F-4D97-AF65-F5344CB8AC3E}">
        <p14:creationId xmlns:p14="http://schemas.microsoft.com/office/powerpoint/2010/main" val="3755183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A9300-0A7A-4A07-AC33-442A787CA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Importance of Decentralization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15B5B-C523-4CC5-82D1-9AF63E773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147067"/>
          </a:xfrm>
        </p:spPr>
        <p:txBody>
          <a:bodyPr>
            <a:normAutofit/>
          </a:bodyPr>
          <a:lstStyle/>
          <a:p>
            <a:r>
              <a:rPr lang="en-US" sz="2500" dirty="0"/>
              <a:t>Enhances administrative efficiency</a:t>
            </a:r>
          </a:p>
          <a:p>
            <a:r>
              <a:rPr lang="en-US" sz="2500" dirty="0"/>
              <a:t>Encourages political participation</a:t>
            </a:r>
          </a:p>
          <a:p>
            <a:r>
              <a:rPr lang="en-US" sz="2500" dirty="0"/>
              <a:t>Addresses local needs effectively</a:t>
            </a:r>
          </a:p>
          <a:p>
            <a:r>
              <a:rPr lang="en-US" sz="2500" dirty="0"/>
              <a:t>Reduces federal burden</a:t>
            </a:r>
          </a:p>
          <a:p>
            <a:r>
              <a:rPr lang="en-US" sz="2500" dirty="0"/>
              <a:t>Strengthens democracy</a:t>
            </a:r>
          </a:p>
          <a:p>
            <a:r>
              <a:rPr lang="en-US" sz="2500" dirty="0"/>
              <a:t>Promotes accountability</a:t>
            </a:r>
          </a:p>
        </p:txBody>
      </p:sp>
    </p:spTree>
    <p:extLst>
      <p:ext uri="{BB962C8B-B14F-4D97-AF65-F5344CB8AC3E}">
        <p14:creationId xmlns:p14="http://schemas.microsoft.com/office/powerpoint/2010/main" val="2298756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722F9-5101-4F76-906D-7417EA8DD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Forms of Government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613F9-B17C-46D7-977E-82231CF2D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198438"/>
          </a:xfrm>
        </p:spPr>
        <p:txBody>
          <a:bodyPr/>
          <a:lstStyle/>
          <a:p>
            <a:r>
              <a:rPr lang="en-US" sz="2500" dirty="0"/>
              <a:t>Structure defining power distribution</a:t>
            </a:r>
          </a:p>
          <a:p>
            <a:r>
              <a:rPr lang="en-US" sz="2500" dirty="0"/>
              <a:t>Based on constitution</a:t>
            </a:r>
          </a:p>
          <a:p>
            <a:r>
              <a:rPr lang="en-US" sz="2500" dirty="0"/>
              <a:t>Determines executive-legislative relations</a:t>
            </a:r>
          </a:p>
          <a:p>
            <a:r>
              <a:rPr lang="en-US" sz="2500" dirty="0"/>
              <a:t>Influences political stability</a:t>
            </a:r>
          </a:p>
          <a:p>
            <a:r>
              <a:rPr lang="en-US" sz="2500" dirty="0"/>
              <a:t>Shapes policy-making</a:t>
            </a:r>
          </a:p>
          <a:p>
            <a:r>
              <a:rPr lang="en-US" sz="2500" dirty="0"/>
              <a:t>Affects citizen participation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322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A7BD2-EB7E-4D95-960B-58D879E24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Pakistan’s System of Government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AD495-EE52-4A84-B299-F7B55A00C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2500" dirty="0"/>
              <a:t>Federal in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7C69E-4498-4527-BBF1-0610667B7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2447069"/>
          </a:xfrm>
        </p:spPr>
        <p:txBody>
          <a:bodyPr>
            <a:normAutofit fontScale="77500" lnSpcReduction="20000"/>
          </a:bodyPr>
          <a:lstStyle/>
          <a:p>
            <a:r>
              <a:rPr lang="en-US" sz="2900" dirty="0"/>
              <a:t>Power shared between center and provinces</a:t>
            </a:r>
          </a:p>
          <a:p>
            <a:r>
              <a:rPr lang="en-US" sz="2900" dirty="0"/>
              <a:t>Written constitution required</a:t>
            </a:r>
          </a:p>
          <a:p>
            <a:r>
              <a:rPr lang="en-US" sz="2900" dirty="0"/>
              <a:t>Independent judiciary</a:t>
            </a:r>
          </a:p>
          <a:p>
            <a:r>
              <a:rPr lang="en-US" sz="2900" dirty="0"/>
              <a:t>Division of subjects</a:t>
            </a:r>
          </a:p>
          <a:p>
            <a:r>
              <a:rPr lang="en-US" sz="2900" dirty="0"/>
              <a:t>Prevents authoritarianism</a:t>
            </a:r>
          </a:p>
          <a:p>
            <a:r>
              <a:rPr lang="en-US" sz="2900" dirty="0"/>
              <a:t>Suitable for diverse societies</a:t>
            </a:r>
          </a:p>
          <a:p>
            <a:endParaRPr lang="en-US" sz="25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A3F241-C41E-443B-B98E-B4E3415BB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sz="2500" dirty="0"/>
              <a:t>Parliamentary in nature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F1C0F-6876-4FF6-B59E-B87BB97A7B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286830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Constitution of 1973</a:t>
            </a:r>
          </a:p>
          <a:p>
            <a:r>
              <a:rPr lang="en-US" dirty="0"/>
              <a:t>Islamic in ideology</a:t>
            </a:r>
          </a:p>
          <a:p>
            <a:r>
              <a:rPr lang="en-US" dirty="0"/>
              <a:t>Bicameral legislature</a:t>
            </a:r>
          </a:p>
          <a:p>
            <a:r>
              <a:rPr lang="en-US" dirty="0"/>
              <a:t>Executive drawn from legislature (Closely linked)</a:t>
            </a:r>
          </a:p>
          <a:p>
            <a:r>
              <a:rPr lang="en-US" dirty="0"/>
              <a:t>Prime Minister as head of government</a:t>
            </a:r>
          </a:p>
          <a:p>
            <a:r>
              <a:rPr lang="en-US" dirty="0"/>
              <a:t>Cabinet collective responsibility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826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C4E1EEB-A9D3-4E27-A1C3-4666C44AD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Political Parties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2762921-BA3B-4339-98E7-385F68064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157341"/>
          </a:xfrm>
        </p:spPr>
        <p:txBody>
          <a:bodyPr>
            <a:normAutofit/>
          </a:bodyPr>
          <a:lstStyle/>
          <a:p>
            <a:r>
              <a:rPr lang="en-US" sz="2500" dirty="0"/>
              <a:t>Organized political groups</a:t>
            </a:r>
          </a:p>
          <a:p>
            <a:r>
              <a:rPr lang="en-US" sz="2500" dirty="0"/>
              <a:t>Aim to acquire power</a:t>
            </a:r>
          </a:p>
          <a:p>
            <a:r>
              <a:rPr lang="en-US" sz="2500" dirty="0"/>
              <a:t>Represent public interests</a:t>
            </a:r>
          </a:p>
          <a:p>
            <a:r>
              <a:rPr lang="en-US" sz="2500" dirty="0"/>
              <a:t>Mobilize voters</a:t>
            </a:r>
          </a:p>
          <a:p>
            <a:r>
              <a:rPr lang="en-US" sz="2500" dirty="0"/>
              <a:t>Shape public opinion</a:t>
            </a:r>
          </a:p>
          <a:p>
            <a:r>
              <a:rPr lang="en-US" sz="2500" dirty="0"/>
              <a:t>Essential for democracy</a:t>
            </a:r>
          </a:p>
        </p:txBody>
      </p:sp>
    </p:spTree>
    <p:extLst>
      <p:ext uri="{BB962C8B-B14F-4D97-AF65-F5344CB8AC3E}">
        <p14:creationId xmlns:p14="http://schemas.microsoft.com/office/powerpoint/2010/main" val="565238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1DDFD1-9D44-4EBA-BEF3-655CE0EAB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Political Parties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2B2C37-0489-400E-8031-537CCDBE2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500" dirty="0"/>
              <a:t>Right-Wing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28B99F-90CF-462A-A4BB-698DF1588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253953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Emphasis on tradition</a:t>
            </a:r>
          </a:p>
          <a:p>
            <a:r>
              <a:rPr lang="en-US" dirty="0"/>
              <a:t>Nationalism</a:t>
            </a:r>
          </a:p>
          <a:p>
            <a:r>
              <a:rPr lang="en-US" dirty="0"/>
              <a:t>Market-oriented economy</a:t>
            </a:r>
          </a:p>
          <a:p>
            <a:r>
              <a:rPr lang="en-US" dirty="0"/>
              <a:t>Strong state authority</a:t>
            </a:r>
          </a:p>
          <a:p>
            <a:r>
              <a:rPr lang="en-US" dirty="0"/>
              <a:t>Cultural conservatism</a:t>
            </a:r>
          </a:p>
          <a:p>
            <a:r>
              <a:rPr lang="en-US" dirty="0"/>
              <a:t>Stability-focused policies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65E2C79-1737-48AC-96C0-02BF35C85F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500" dirty="0"/>
              <a:t>Left-Wing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EAF1E18-EB7B-465B-AD59-4C21D02B65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253953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Social equality</a:t>
            </a:r>
          </a:p>
          <a:p>
            <a:r>
              <a:rPr lang="en-US" dirty="0"/>
              <a:t>Welfare state</a:t>
            </a:r>
          </a:p>
          <a:p>
            <a:r>
              <a:rPr lang="en-US" dirty="0"/>
              <a:t>State intervention</a:t>
            </a:r>
          </a:p>
          <a:p>
            <a:r>
              <a:rPr lang="en-US" dirty="0"/>
              <a:t>Redistribution of wealth</a:t>
            </a:r>
          </a:p>
          <a:p>
            <a:r>
              <a:rPr lang="en-US" dirty="0"/>
              <a:t>Labor rights</a:t>
            </a:r>
          </a:p>
          <a:p>
            <a:r>
              <a:rPr lang="en-US" dirty="0"/>
              <a:t>Progressive reforms</a:t>
            </a:r>
          </a:p>
        </p:txBody>
      </p:sp>
    </p:spTree>
    <p:extLst>
      <p:ext uri="{BB962C8B-B14F-4D97-AF65-F5344CB8AC3E}">
        <p14:creationId xmlns:p14="http://schemas.microsoft.com/office/powerpoint/2010/main" val="2173938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5AE3A-7DF9-4206-A03B-9BFB5B3CA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Political Parties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59774-03B4-4CD6-B1DC-2BADF93D9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500" dirty="0"/>
              <a:t>Ideological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1FA977-111F-47D1-B1BF-51586271A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248816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Strong belief system</a:t>
            </a:r>
          </a:p>
          <a:p>
            <a:r>
              <a:rPr lang="en-US" dirty="0"/>
              <a:t>Clear political doctrine</a:t>
            </a:r>
          </a:p>
          <a:p>
            <a:r>
              <a:rPr lang="en-US" dirty="0"/>
              <a:t>Long-term vision</a:t>
            </a:r>
          </a:p>
          <a:p>
            <a:r>
              <a:rPr lang="en-US" dirty="0"/>
              <a:t>Policy consistency</a:t>
            </a:r>
          </a:p>
          <a:p>
            <a:r>
              <a:rPr lang="en-US" dirty="0"/>
              <a:t>Disciplined organization</a:t>
            </a:r>
          </a:p>
          <a:p>
            <a:r>
              <a:rPr lang="en-US" dirty="0"/>
              <a:t>Value-based politics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945F3B-7B40-44F2-ADD0-F338853B1B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500" dirty="0"/>
              <a:t>Populist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3BF1D5-E04D-4E10-B90F-2C65C8437B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248816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Mass appeal</a:t>
            </a:r>
          </a:p>
          <a:p>
            <a:r>
              <a:rPr lang="en-US" dirty="0"/>
              <a:t>Charismatic leadership</a:t>
            </a:r>
          </a:p>
          <a:p>
            <a:r>
              <a:rPr lang="en-US" dirty="0"/>
              <a:t>Anti-elite rhetoric</a:t>
            </a:r>
          </a:p>
          <a:p>
            <a:r>
              <a:rPr lang="en-US" dirty="0"/>
              <a:t>Emotional mobilization</a:t>
            </a:r>
          </a:p>
          <a:p>
            <a:r>
              <a:rPr lang="en-US" dirty="0"/>
              <a:t>Short-term promises</a:t>
            </a:r>
          </a:p>
          <a:p>
            <a:r>
              <a:rPr lang="en-US" dirty="0"/>
              <a:t>Popular slogans</a:t>
            </a:r>
          </a:p>
        </p:txBody>
      </p:sp>
    </p:spTree>
    <p:extLst>
      <p:ext uri="{BB962C8B-B14F-4D97-AF65-F5344CB8AC3E}">
        <p14:creationId xmlns:p14="http://schemas.microsoft.com/office/powerpoint/2010/main" val="3715457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4DD0502-BAAA-49E6-80C2-0B97CFC9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State Structure of Pakistan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B37DAA9-CCA7-43DB-B920-E4DACA6F1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208712"/>
          </a:xfrm>
        </p:spPr>
        <p:txBody>
          <a:bodyPr>
            <a:normAutofit/>
          </a:bodyPr>
          <a:lstStyle/>
          <a:p>
            <a:r>
              <a:rPr lang="en-US" sz="2500" dirty="0"/>
              <a:t>Based on separation of powers</a:t>
            </a:r>
          </a:p>
          <a:p>
            <a:r>
              <a:rPr lang="en-US" sz="2500" dirty="0"/>
              <a:t>Three organs of state</a:t>
            </a:r>
          </a:p>
          <a:p>
            <a:r>
              <a:rPr lang="en-US" sz="2500" dirty="0"/>
              <a:t>Checks and balances</a:t>
            </a:r>
          </a:p>
          <a:p>
            <a:r>
              <a:rPr lang="en-US" sz="2500" dirty="0"/>
              <a:t>Constitutional supremacy</a:t>
            </a:r>
          </a:p>
          <a:p>
            <a:r>
              <a:rPr lang="en-US" sz="2500" dirty="0"/>
              <a:t>Rule of law</a:t>
            </a:r>
          </a:p>
          <a:p>
            <a:r>
              <a:rPr lang="en-US" sz="2500" dirty="0"/>
              <a:t>Democratic governance</a:t>
            </a:r>
          </a:p>
        </p:txBody>
      </p:sp>
    </p:spTree>
    <p:extLst>
      <p:ext uri="{BB962C8B-B14F-4D97-AF65-F5344CB8AC3E}">
        <p14:creationId xmlns:p14="http://schemas.microsoft.com/office/powerpoint/2010/main" val="16362752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B2316C-17F1-4C94-9E4F-E4507FECC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64" y="981505"/>
            <a:ext cx="3868340" cy="823912"/>
          </a:xfrm>
        </p:spPr>
        <p:txBody>
          <a:bodyPr>
            <a:normAutofit/>
          </a:bodyPr>
          <a:lstStyle/>
          <a:p>
            <a:pPr algn="ctr"/>
            <a:r>
              <a:rPr lang="en-US" sz="2500" dirty="0"/>
              <a:t>Legislature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13A1D1-85FA-41B6-BD90-8034F16F4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59" y="1824146"/>
            <a:ext cx="3030142" cy="3228438"/>
          </a:xfrm>
        </p:spPr>
        <p:txBody>
          <a:bodyPr>
            <a:noAutofit/>
          </a:bodyPr>
          <a:lstStyle/>
          <a:p>
            <a:r>
              <a:rPr lang="en-US" sz="2500" dirty="0"/>
              <a:t>Law-making body</a:t>
            </a:r>
          </a:p>
          <a:p>
            <a:r>
              <a:rPr lang="en-US" sz="2500" dirty="0"/>
              <a:t>Bicameral parliament</a:t>
            </a:r>
          </a:p>
          <a:p>
            <a:r>
              <a:rPr lang="en-US" sz="2500" dirty="0"/>
              <a:t>National Assembly</a:t>
            </a:r>
          </a:p>
          <a:p>
            <a:r>
              <a:rPr lang="en-US" sz="2500" dirty="0"/>
              <a:t>Senate</a:t>
            </a:r>
          </a:p>
          <a:p>
            <a:r>
              <a:rPr lang="en-US" sz="2500" dirty="0"/>
              <a:t>Represents federation</a:t>
            </a:r>
          </a:p>
          <a:p>
            <a:r>
              <a:rPr lang="en-US" sz="2500" dirty="0"/>
              <a:t>Controls executive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7DE1EF-CA3A-4313-A04D-9BE23A34F3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87556" y="979526"/>
            <a:ext cx="2607762" cy="823912"/>
          </a:xfrm>
        </p:spPr>
        <p:txBody>
          <a:bodyPr>
            <a:normAutofit/>
          </a:bodyPr>
          <a:lstStyle/>
          <a:p>
            <a:pPr algn="ctr"/>
            <a:r>
              <a:rPr lang="en-US" sz="2500" dirty="0"/>
              <a:t>Executive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9D31FF5-8E86-4EAF-8E56-BFB7C48CA6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47622" y="1824146"/>
            <a:ext cx="3030143" cy="3228438"/>
          </a:xfrm>
        </p:spPr>
        <p:txBody>
          <a:bodyPr>
            <a:noAutofit/>
          </a:bodyPr>
          <a:lstStyle/>
          <a:p>
            <a:r>
              <a:rPr lang="en-US" sz="2500" dirty="0"/>
              <a:t>Implements laws</a:t>
            </a:r>
          </a:p>
          <a:p>
            <a:r>
              <a:rPr lang="en-US" sz="2500" dirty="0"/>
              <a:t>Prime Minister</a:t>
            </a:r>
          </a:p>
          <a:p>
            <a:r>
              <a:rPr lang="en-US" sz="2500" dirty="0"/>
              <a:t>Federal cabinet</a:t>
            </a:r>
          </a:p>
          <a:p>
            <a:r>
              <a:rPr lang="en-US" sz="2500" dirty="0"/>
              <a:t>President as ceremonial head</a:t>
            </a:r>
          </a:p>
          <a:p>
            <a:r>
              <a:rPr lang="en-US" sz="2500" dirty="0"/>
              <a:t>Policy execution</a:t>
            </a:r>
          </a:p>
          <a:p>
            <a:r>
              <a:rPr lang="en-US" sz="2500" dirty="0"/>
              <a:t>Administrative control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8D91234-781A-4C31-8BEA-CF5503C8BF2A}"/>
              </a:ext>
            </a:extLst>
          </p:cNvPr>
          <p:cNvSpPr txBox="1">
            <a:spLocks/>
          </p:cNvSpPr>
          <p:nvPr/>
        </p:nvSpPr>
        <p:spPr>
          <a:xfrm>
            <a:off x="5776219" y="1019767"/>
            <a:ext cx="3868340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500" dirty="0"/>
              <a:t>Judiciary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61F8726E-D94B-4980-85B7-FC8E71E0197F}"/>
              </a:ext>
            </a:extLst>
          </p:cNvPr>
          <p:cNvSpPr txBox="1">
            <a:spLocks/>
          </p:cNvSpPr>
          <p:nvPr/>
        </p:nvSpPr>
        <p:spPr>
          <a:xfrm>
            <a:off x="6195318" y="1814781"/>
            <a:ext cx="2607763" cy="32284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00" dirty="0"/>
              <a:t>Interprets constitution</a:t>
            </a:r>
          </a:p>
          <a:p>
            <a:r>
              <a:rPr lang="en-US" sz="2500" dirty="0"/>
              <a:t>Ensures justice</a:t>
            </a:r>
          </a:p>
          <a:p>
            <a:r>
              <a:rPr lang="en-US" sz="2500" dirty="0"/>
              <a:t>Supreme Court</a:t>
            </a:r>
          </a:p>
          <a:p>
            <a:r>
              <a:rPr lang="en-US" sz="2500" dirty="0"/>
              <a:t>High Courts</a:t>
            </a:r>
          </a:p>
          <a:p>
            <a:r>
              <a:rPr lang="en-US" sz="2500" dirty="0"/>
              <a:t>Protects fundamental rights</a:t>
            </a:r>
          </a:p>
        </p:txBody>
      </p:sp>
    </p:spTree>
    <p:extLst>
      <p:ext uri="{BB962C8B-B14F-4D97-AF65-F5344CB8AC3E}">
        <p14:creationId xmlns:p14="http://schemas.microsoft.com/office/powerpoint/2010/main" val="42948791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DE0996E-3646-46D4-8954-40D9AECDF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Economic Theories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464201A-8E39-4CD1-AF3A-0EB5C9C8D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136793"/>
          </a:xfrm>
        </p:spPr>
        <p:txBody>
          <a:bodyPr>
            <a:normAutofit/>
          </a:bodyPr>
          <a:lstStyle/>
          <a:p>
            <a:r>
              <a:rPr lang="en-US" sz="2500" dirty="0"/>
              <a:t>Explain economic organization</a:t>
            </a:r>
          </a:p>
          <a:p>
            <a:r>
              <a:rPr lang="en-US" sz="2500" dirty="0"/>
              <a:t>Distribution of resources</a:t>
            </a:r>
          </a:p>
          <a:p>
            <a:r>
              <a:rPr lang="en-US" sz="2500" dirty="0"/>
              <a:t>Role of state vs market</a:t>
            </a:r>
          </a:p>
          <a:p>
            <a:r>
              <a:rPr lang="en-US" sz="2500" dirty="0"/>
              <a:t>Influence policy decisions</a:t>
            </a:r>
          </a:p>
          <a:p>
            <a:r>
              <a:rPr lang="en-US" sz="2500" dirty="0"/>
              <a:t>Shape development models</a:t>
            </a:r>
          </a:p>
          <a:p>
            <a:r>
              <a:rPr lang="en-US" sz="2500" dirty="0"/>
              <a:t>Affect social outcomes</a:t>
            </a:r>
          </a:p>
        </p:txBody>
      </p:sp>
    </p:spTree>
    <p:extLst>
      <p:ext uri="{BB962C8B-B14F-4D97-AF65-F5344CB8AC3E}">
        <p14:creationId xmlns:p14="http://schemas.microsoft.com/office/powerpoint/2010/main" val="3335033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B2316C-17F1-4C94-9E4F-E4507FECC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64" y="981505"/>
            <a:ext cx="3868340" cy="823912"/>
          </a:xfrm>
        </p:spPr>
        <p:txBody>
          <a:bodyPr>
            <a:normAutofit/>
          </a:bodyPr>
          <a:lstStyle/>
          <a:p>
            <a:pPr algn="ctr"/>
            <a:r>
              <a:rPr lang="en-US" sz="2500" dirty="0"/>
              <a:t>Capitalism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13A1D1-85FA-41B6-BD90-8034F16F4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59" y="1824146"/>
            <a:ext cx="3030142" cy="3228438"/>
          </a:xfrm>
        </p:spPr>
        <p:txBody>
          <a:bodyPr>
            <a:noAutofit/>
          </a:bodyPr>
          <a:lstStyle/>
          <a:p>
            <a:r>
              <a:rPr lang="en-US" sz="2500" dirty="0"/>
              <a:t>Private ownership</a:t>
            </a:r>
          </a:p>
          <a:p>
            <a:r>
              <a:rPr lang="en-US" sz="2500" dirty="0"/>
              <a:t>Profit motive</a:t>
            </a:r>
          </a:p>
          <a:p>
            <a:r>
              <a:rPr lang="en-US" sz="2500" dirty="0"/>
              <a:t>Free market economy</a:t>
            </a:r>
          </a:p>
          <a:p>
            <a:r>
              <a:rPr lang="en-US" sz="2500" dirty="0"/>
              <a:t>Competition</a:t>
            </a:r>
          </a:p>
          <a:p>
            <a:r>
              <a:rPr lang="en-US" sz="2500" dirty="0"/>
              <a:t>Limited government role</a:t>
            </a:r>
          </a:p>
          <a:p>
            <a:r>
              <a:rPr lang="en-US" sz="2500" dirty="0"/>
              <a:t>Individual economic freedom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7DE1EF-CA3A-4313-A04D-9BE23A34F3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87556" y="979526"/>
            <a:ext cx="2607762" cy="823912"/>
          </a:xfrm>
        </p:spPr>
        <p:txBody>
          <a:bodyPr>
            <a:normAutofit/>
          </a:bodyPr>
          <a:lstStyle/>
          <a:p>
            <a:pPr algn="ctr"/>
            <a:r>
              <a:rPr lang="en-US" sz="2500" dirty="0"/>
              <a:t>Communism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9D31FF5-8E86-4EAF-8E56-BFB7C48CA6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47622" y="1824146"/>
            <a:ext cx="3030143" cy="3228438"/>
          </a:xfrm>
        </p:spPr>
        <p:txBody>
          <a:bodyPr>
            <a:noAutofit/>
          </a:bodyPr>
          <a:lstStyle/>
          <a:p>
            <a:r>
              <a:rPr lang="en-US" sz="2500" dirty="0"/>
              <a:t>State ownership of resources</a:t>
            </a:r>
          </a:p>
          <a:p>
            <a:r>
              <a:rPr lang="en-US" sz="2500" dirty="0"/>
              <a:t>Classless society</a:t>
            </a:r>
          </a:p>
          <a:p>
            <a:r>
              <a:rPr lang="en-US" sz="2500" dirty="0"/>
              <a:t>Central planning</a:t>
            </a:r>
          </a:p>
          <a:p>
            <a:r>
              <a:rPr lang="en-US" sz="2500" dirty="0"/>
              <a:t>No private property</a:t>
            </a:r>
          </a:p>
          <a:p>
            <a:r>
              <a:rPr lang="en-US" sz="2500" dirty="0"/>
              <a:t>Equality of outcomes</a:t>
            </a:r>
          </a:p>
          <a:p>
            <a:r>
              <a:rPr lang="en-US" sz="2500" dirty="0"/>
              <a:t>Revolutionary ideology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8D91234-781A-4C31-8BEA-CF5503C8BF2A}"/>
              </a:ext>
            </a:extLst>
          </p:cNvPr>
          <p:cNvSpPr txBox="1">
            <a:spLocks/>
          </p:cNvSpPr>
          <p:nvPr/>
        </p:nvSpPr>
        <p:spPr>
          <a:xfrm>
            <a:off x="5776219" y="1019767"/>
            <a:ext cx="3026862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500" dirty="0"/>
              <a:t>Socialism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61F8726E-D94B-4980-85B7-FC8E71E0197F}"/>
              </a:ext>
            </a:extLst>
          </p:cNvPr>
          <p:cNvSpPr txBox="1">
            <a:spLocks/>
          </p:cNvSpPr>
          <p:nvPr/>
        </p:nvSpPr>
        <p:spPr>
          <a:xfrm>
            <a:off x="6195319" y="1814781"/>
            <a:ext cx="2471110" cy="32284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00" dirty="0"/>
              <a:t>Mix ownership</a:t>
            </a:r>
          </a:p>
          <a:p>
            <a:r>
              <a:rPr lang="en-US" sz="2500" dirty="0"/>
              <a:t>Welfare state</a:t>
            </a:r>
          </a:p>
          <a:p>
            <a:r>
              <a:rPr lang="en-US" sz="2500" dirty="0"/>
              <a:t>Social justice</a:t>
            </a:r>
          </a:p>
          <a:p>
            <a:r>
              <a:rPr lang="en-US" sz="2500" dirty="0"/>
              <a:t>Government regulation</a:t>
            </a:r>
          </a:p>
          <a:p>
            <a:r>
              <a:rPr lang="en-US" sz="2500" dirty="0"/>
              <a:t>Less inequality</a:t>
            </a:r>
          </a:p>
          <a:p>
            <a:r>
              <a:rPr lang="en-US" sz="2500" dirty="0"/>
              <a:t>Balanced economic model</a:t>
            </a:r>
          </a:p>
        </p:txBody>
      </p:sp>
    </p:spTree>
    <p:extLst>
      <p:ext uri="{BB962C8B-B14F-4D97-AF65-F5344CB8AC3E}">
        <p14:creationId xmlns:p14="http://schemas.microsoft.com/office/powerpoint/2010/main" val="29579585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15DC8-95F3-487B-B93F-743E95F52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Social Theories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6422E-5A98-4181-B5E8-4043E532BD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3157341"/>
          </a:xfrm>
        </p:spPr>
        <p:txBody>
          <a:bodyPr>
            <a:normAutofit/>
          </a:bodyPr>
          <a:lstStyle/>
          <a:p>
            <a:r>
              <a:rPr lang="en-US" sz="2500" dirty="0"/>
              <a:t>Explain social organization</a:t>
            </a:r>
          </a:p>
          <a:p>
            <a:r>
              <a:rPr lang="en-US" sz="2500" dirty="0"/>
              <a:t>Shape political attitudes</a:t>
            </a:r>
          </a:p>
          <a:p>
            <a:r>
              <a:rPr lang="en-US" sz="2500" dirty="0"/>
              <a:t>Influence culture</a:t>
            </a:r>
          </a:p>
          <a:p>
            <a:r>
              <a:rPr lang="en-US" sz="2500" dirty="0"/>
              <a:t>Guide public policy</a:t>
            </a:r>
          </a:p>
          <a:p>
            <a:r>
              <a:rPr lang="en-US" sz="2500" dirty="0"/>
              <a:t>Affect governance models</a:t>
            </a:r>
          </a:p>
          <a:p>
            <a:r>
              <a:rPr lang="en-US" sz="2500" dirty="0"/>
              <a:t>Reflect societal values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BF4546-5E2D-4B89-AF25-64FBDDCF2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3157341"/>
          </a:xfrm>
        </p:spPr>
        <p:txBody>
          <a:bodyPr>
            <a:normAutofit/>
          </a:bodyPr>
          <a:lstStyle/>
          <a:p>
            <a:r>
              <a:rPr lang="en-US" sz="2500" dirty="0"/>
              <a:t>Constitutional debates</a:t>
            </a:r>
          </a:p>
          <a:p>
            <a:r>
              <a:rPr lang="en-US" sz="2500" dirty="0"/>
              <a:t>Cultural diversity</a:t>
            </a:r>
          </a:p>
          <a:p>
            <a:r>
              <a:rPr lang="en-US" sz="2500" dirty="0"/>
              <a:t>Religious sensitivity</a:t>
            </a:r>
          </a:p>
          <a:p>
            <a:r>
              <a:rPr lang="en-US" sz="2500" dirty="0"/>
              <a:t>Political discourse</a:t>
            </a:r>
          </a:p>
          <a:p>
            <a:r>
              <a:rPr lang="en-US" sz="2500" dirty="0"/>
              <a:t>Academic analysis</a:t>
            </a:r>
          </a:p>
          <a:p>
            <a:r>
              <a:rPr lang="en-US" sz="2500" dirty="0"/>
              <a:t>Balanced approach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7121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B2316C-17F1-4C94-9E4F-E4507FECC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64" y="981505"/>
            <a:ext cx="3868340" cy="823912"/>
          </a:xfrm>
        </p:spPr>
        <p:txBody>
          <a:bodyPr>
            <a:normAutofit/>
          </a:bodyPr>
          <a:lstStyle/>
          <a:p>
            <a:pPr algn="ctr"/>
            <a:r>
              <a:rPr lang="en-US" sz="2500" dirty="0"/>
              <a:t>Conservatism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13A1D1-85FA-41B6-BD90-8034F16F4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59" y="1824146"/>
            <a:ext cx="3030142" cy="3228438"/>
          </a:xfrm>
        </p:spPr>
        <p:txBody>
          <a:bodyPr>
            <a:noAutofit/>
          </a:bodyPr>
          <a:lstStyle/>
          <a:p>
            <a:r>
              <a:rPr lang="en-US" sz="2500" dirty="0"/>
              <a:t>Tradition</a:t>
            </a:r>
          </a:p>
          <a:p>
            <a:r>
              <a:rPr lang="en-US" sz="2500" dirty="0"/>
              <a:t>Social stability</a:t>
            </a:r>
          </a:p>
          <a:p>
            <a:r>
              <a:rPr lang="en-US" sz="2500" dirty="0"/>
              <a:t>Gradual change</a:t>
            </a:r>
          </a:p>
          <a:p>
            <a:r>
              <a:rPr lang="en-US" sz="2500" dirty="0"/>
              <a:t>Cultural values</a:t>
            </a:r>
          </a:p>
          <a:p>
            <a:r>
              <a:rPr lang="en-US" sz="2500" dirty="0"/>
              <a:t>Institutional respect</a:t>
            </a:r>
          </a:p>
          <a:p>
            <a:r>
              <a:rPr lang="en-US" sz="2500" dirty="0"/>
              <a:t>National identity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7DE1EF-CA3A-4313-A04D-9BE23A34F3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87556" y="979526"/>
            <a:ext cx="2607762" cy="823912"/>
          </a:xfrm>
        </p:spPr>
        <p:txBody>
          <a:bodyPr>
            <a:normAutofit/>
          </a:bodyPr>
          <a:lstStyle/>
          <a:p>
            <a:pPr algn="ctr"/>
            <a:r>
              <a:rPr lang="en-US" sz="2500" dirty="0"/>
              <a:t>Liberalism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9D31FF5-8E86-4EAF-8E56-BFB7C48CA6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47622" y="1824146"/>
            <a:ext cx="3030143" cy="3228438"/>
          </a:xfrm>
        </p:spPr>
        <p:txBody>
          <a:bodyPr>
            <a:noAutofit/>
          </a:bodyPr>
          <a:lstStyle/>
          <a:p>
            <a:r>
              <a:rPr lang="en-US" sz="2500" dirty="0"/>
              <a:t>Individual liberty</a:t>
            </a:r>
          </a:p>
          <a:p>
            <a:r>
              <a:rPr lang="en-US" sz="2500" dirty="0"/>
              <a:t>Rule of law</a:t>
            </a:r>
          </a:p>
          <a:p>
            <a:r>
              <a:rPr lang="en-US" sz="2500" dirty="0"/>
              <a:t>Democracy</a:t>
            </a:r>
          </a:p>
          <a:p>
            <a:r>
              <a:rPr lang="en-US" sz="2500" dirty="0"/>
              <a:t>Human rights</a:t>
            </a:r>
          </a:p>
          <a:p>
            <a:r>
              <a:rPr lang="en-US" sz="2500" dirty="0"/>
              <a:t>Equality before law</a:t>
            </a:r>
          </a:p>
          <a:p>
            <a:r>
              <a:rPr lang="en-US" sz="2500" dirty="0"/>
              <a:t>Political pluralism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8D91234-781A-4C31-8BEA-CF5503C8BF2A}"/>
              </a:ext>
            </a:extLst>
          </p:cNvPr>
          <p:cNvSpPr txBox="1">
            <a:spLocks/>
          </p:cNvSpPr>
          <p:nvPr/>
        </p:nvSpPr>
        <p:spPr>
          <a:xfrm>
            <a:off x="5776219" y="1019767"/>
            <a:ext cx="3026862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500" dirty="0"/>
              <a:t>Modernism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61F8726E-D94B-4980-85B7-FC8E71E0197F}"/>
              </a:ext>
            </a:extLst>
          </p:cNvPr>
          <p:cNvSpPr txBox="1">
            <a:spLocks/>
          </p:cNvSpPr>
          <p:nvPr/>
        </p:nvSpPr>
        <p:spPr>
          <a:xfrm>
            <a:off x="6195319" y="1814781"/>
            <a:ext cx="2506892" cy="32284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00" dirty="0"/>
              <a:t>Scientific thinking</a:t>
            </a:r>
          </a:p>
          <a:p>
            <a:r>
              <a:rPr lang="en-US" sz="2500" dirty="0"/>
              <a:t>Rationalism</a:t>
            </a:r>
          </a:p>
          <a:p>
            <a:r>
              <a:rPr lang="en-US" sz="2500" dirty="0"/>
              <a:t>Progress</a:t>
            </a:r>
          </a:p>
          <a:p>
            <a:r>
              <a:rPr lang="en-US" sz="2500" dirty="0"/>
              <a:t>Industrialization</a:t>
            </a:r>
          </a:p>
          <a:p>
            <a:r>
              <a:rPr lang="en-US" sz="2500" dirty="0"/>
              <a:t>Innovation</a:t>
            </a:r>
          </a:p>
          <a:p>
            <a:r>
              <a:rPr lang="en-US" sz="2500" dirty="0"/>
              <a:t>Technological advancement</a:t>
            </a:r>
          </a:p>
        </p:txBody>
      </p:sp>
    </p:spTree>
    <p:extLst>
      <p:ext uri="{BB962C8B-B14F-4D97-AF65-F5344CB8AC3E}">
        <p14:creationId xmlns:p14="http://schemas.microsoft.com/office/powerpoint/2010/main" val="3869953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C71F23-043E-47AC-8240-A910A582E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9335" y="1296792"/>
            <a:ext cx="3152267" cy="768742"/>
          </a:xfrm>
        </p:spPr>
        <p:txBody>
          <a:bodyPr>
            <a:normAutofit/>
          </a:bodyPr>
          <a:lstStyle/>
          <a:p>
            <a:pPr algn="ctr"/>
            <a:r>
              <a:rPr lang="en-US" sz="2500" dirty="0" err="1"/>
              <a:t>Westernism</a:t>
            </a:r>
            <a:endParaRPr lang="en-US" sz="25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F02C6C-6D50-4C54-AB77-25D0466DF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3660" y="2263205"/>
            <a:ext cx="3868340" cy="2529262"/>
          </a:xfrm>
        </p:spPr>
        <p:txBody>
          <a:bodyPr>
            <a:noAutofit/>
          </a:bodyPr>
          <a:lstStyle/>
          <a:p>
            <a:r>
              <a:rPr lang="en-US" sz="2500" dirty="0"/>
              <a:t>Adoption of Western norms</a:t>
            </a:r>
          </a:p>
          <a:p>
            <a:r>
              <a:rPr lang="en-US" sz="2500" dirty="0"/>
              <a:t>Cultural influence</a:t>
            </a:r>
          </a:p>
          <a:p>
            <a:r>
              <a:rPr lang="en-US" sz="2500" dirty="0"/>
              <a:t>Globalization impact</a:t>
            </a:r>
          </a:p>
          <a:p>
            <a:r>
              <a:rPr lang="en-US" sz="2500" dirty="0"/>
              <a:t>Lifestyle changes</a:t>
            </a:r>
          </a:p>
          <a:p>
            <a:r>
              <a:rPr lang="en-US" sz="2500" dirty="0"/>
              <a:t>Political ideas</a:t>
            </a:r>
          </a:p>
          <a:p>
            <a:r>
              <a:rPr lang="en-US" sz="2500" dirty="0"/>
              <a:t>Economic integration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8ABEDAA-5A9B-4656-B11F-D6664A4F96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92397" y="1301929"/>
            <a:ext cx="3152268" cy="823912"/>
          </a:xfrm>
        </p:spPr>
        <p:txBody>
          <a:bodyPr>
            <a:normAutofit/>
          </a:bodyPr>
          <a:lstStyle/>
          <a:p>
            <a:pPr algn="ctr"/>
            <a:r>
              <a:rPr lang="en-US" sz="2500" dirty="0"/>
              <a:t>Secularism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D93F44D-4CFF-4A70-9BA4-77A0194E33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263205"/>
            <a:ext cx="3887391" cy="2786116"/>
          </a:xfrm>
        </p:spPr>
        <p:txBody>
          <a:bodyPr>
            <a:noAutofit/>
          </a:bodyPr>
          <a:lstStyle/>
          <a:p>
            <a:r>
              <a:rPr lang="en-US" sz="2500" dirty="0"/>
              <a:t>Separation of religion and state</a:t>
            </a:r>
          </a:p>
          <a:p>
            <a:r>
              <a:rPr lang="en-US" sz="2500" dirty="0"/>
              <a:t>Neutral governance</a:t>
            </a:r>
          </a:p>
          <a:p>
            <a:r>
              <a:rPr lang="en-US" sz="2500" dirty="0"/>
              <a:t>Religious tolerance</a:t>
            </a:r>
          </a:p>
          <a:p>
            <a:r>
              <a:rPr lang="en-US" sz="2500" dirty="0"/>
              <a:t>Legal equality</a:t>
            </a:r>
          </a:p>
          <a:p>
            <a:r>
              <a:rPr lang="en-US" sz="2500" dirty="0"/>
              <a:t>Civic nationalism</a:t>
            </a:r>
          </a:p>
          <a:p>
            <a:r>
              <a:rPr lang="en-US" sz="2500" dirty="0"/>
              <a:t>Constitutional framework</a:t>
            </a:r>
          </a:p>
        </p:txBody>
      </p:sp>
    </p:spTree>
    <p:extLst>
      <p:ext uri="{BB962C8B-B14F-4D97-AF65-F5344CB8AC3E}">
        <p14:creationId xmlns:p14="http://schemas.microsoft.com/office/powerpoint/2010/main" val="513727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1767</TotalTime>
  <Words>793</Words>
  <Application>Microsoft Office PowerPoint</Application>
  <PresentationFormat>On-screen Show (4:3)</PresentationFormat>
  <Paragraphs>253</Paragraphs>
  <Slides>25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STATE FORMATION</vt:lpstr>
      <vt:lpstr>PowerPoint Presentation</vt:lpstr>
      <vt:lpstr>What is a State?</vt:lpstr>
      <vt:lpstr>Essential Elements of a State</vt:lpstr>
      <vt:lpstr>Concept of State Formation</vt:lpstr>
      <vt:lpstr>Concept of Republic</vt:lpstr>
      <vt:lpstr>Republic vs Monarchy</vt:lpstr>
      <vt:lpstr>Pakistan as an Islamic Republic</vt:lpstr>
      <vt:lpstr>Administrative Units</vt:lpstr>
      <vt:lpstr>Provinces of Pakistan</vt:lpstr>
      <vt:lpstr>Federal Territories</vt:lpstr>
      <vt:lpstr>Local Government System</vt:lpstr>
      <vt:lpstr>Importance of Decentralization</vt:lpstr>
      <vt:lpstr>Forms of Government</vt:lpstr>
      <vt:lpstr>Pakistan’s System of Government</vt:lpstr>
      <vt:lpstr>Political Parties</vt:lpstr>
      <vt:lpstr>Political Parties</vt:lpstr>
      <vt:lpstr>Political Parties</vt:lpstr>
      <vt:lpstr>State Structure of Pakistan</vt:lpstr>
      <vt:lpstr>PowerPoint Presentation</vt:lpstr>
      <vt:lpstr>Economic Theories</vt:lpstr>
      <vt:lpstr>PowerPoint Presentation</vt:lpstr>
      <vt:lpstr>Social Theories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FORMATION</dc:title>
  <dc:subject/>
  <dc:creator/>
  <cp:keywords/>
  <dc:description>generated using python-pptx</dc:description>
  <cp:lastModifiedBy>Asefa Khilji</cp:lastModifiedBy>
  <cp:revision>22</cp:revision>
  <dcterms:created xsi:type="dcterms:W3CDTF">2013-01-27T09:14:16Z</dcterms:created>
  <dcterms:modified xsi:type="dcterms:W3CDTF">2026-02-03T08:36:56Z</dcterms:modified>
  <cp:category/>
</cp:coreProperties>
</file>