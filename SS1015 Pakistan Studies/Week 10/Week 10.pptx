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6" r:id="rId15"/>
    <p:sldId id="277" r:id="rId16"/>
    <p:sldId id="261" r:id="rId17"/>
    <p:sldId id="278" r:id="rId18"/>
    <p:sldId id="279" r:id="rId19"/>
    <p:sldId id="281" r:id="rId20"/>
    <p:sldId id="282" r:id="rId21"/>
    <p:sldId id="283" r:id="rId22"/>
    <p:sldId id="285" r:id="rId23"/>
    <p:sldId id="287" r:id="rId24"/>
    <p:sldId id="288" r:id="rId25"/>
    <p:sldId id="289" r:id="rId26"/>
    <p:sldId id="29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image" Target="../media/image2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2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Inflation %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71-72</c:v>
                </c:pt>
                <c:pt idx="1">
                  <c:v>72-73</c:v>
                </c:pt>
                <c:pt idx="2">
                  <c:v>73-74</c:v>
                </c:pt>
                <c:pt idx="3">
                  <c:v>74-75</c:v>
                </c:pt>
                <c:pt idx="4">
                  <c:v>75-76</c:v>
                </c:pt>
                <c:pt idx="5">
                  <c:v>76-77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4.6900000000000004</c:v>
                </c:pt>
                <c:pt idx="1">
                  <c:v>9.6999999999999993</c:v>
                </c:pt>
                <c:pt idx="2">
                  <c:v>29.98</c:v>
                </c:pt>
                <c:pt idx="3">
                  <c:v>26.73</c:v>
                </c:pt>
                <c:pt idx="4">
                  <c:v>11.66</c:v>
                </c:pt>
                <c:pt idx="5">
                  <c:v>9.24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5C-4A69-85CC-2872E64569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  <c:spPr>
        <a:blipFill>
          <a:blip xmlns:r="http://schemas.openxmlformats.org/officeDocument/2006/relationships" r:embed="rId1">
            <a:alphaModFix amt="25000"/>
          </a:blip>
          <a:tile tx="0" ty="0" sx="100000" sy="100000" flip="none" algn="tl"/>
        </a:blipFill>
        <a:ln>
          <a:noFill/>
        </a:ln>
      </c:spPr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Exports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71-72</c:v>
                </c:pt>
                <c:pt idx="1">
                  <c:v>72-73</c:v>
                </c:pt>
                <c:pt idx="2">
                  <c:v>73-74</c:v>
                </c:pt>
                <c:pt idx="3">
                  <c:v>74-75</c:v>
                </c:pt>
                <c:pt idx="4">
                  <c:v>75-76</c:v>
                </c:pt>
                <c:pt idx="5">
                  <c:v>76-77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3370</c:v>
                </c:pt>
                <c:pt idx="1">
                  <c:v>8561</c:v>
                </c:pt>
                <c:pt idx="2">
                  <c:v>10160</c:v>
                </c:pt>
                <c:pt idx="3">
                  <c:v>10286</c:v>
                </c:pt>
                <c:pt idx="4">
                  <c:v>11253</c:v>
                </c:pt>
                <c:pt idx="5">
                  <c:v>11294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E2-44CD-97BD-5A71DEBCF2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Imports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71-72</c:v>
                </c:pt>
                <c:pt idx="1">
                  <c:v>72-73</c:v>
                </c:pt>
                <c:pt idx="2">
                  <c:v>73-74</c:v>
                </c:pt>
                <c:pt idx="3">
                  <c:v>74-75</c:v>
                </c:pt>
                <c:pt idx="4">
                  <c:v>75-76</c:v>
                </c:pt>
                <c:pt idx="5">
                  <c:v>76-77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3495</c:v>
                </c:pt>
                <c:pt idx="1">
                  <c:v>8398</c:v>
                </c:pt>
                <c:pt idx="2">
                  <c:v>13479</c:v>
                </c:pt>
                <c:pt idx="3">
                  <c:v>20952</c:v>
                </c:pt>
                <c:pt idx="4">
                  <c:v>20465</c:v>
                </c:pt>
                <c:pt idx="5">
                  <c:v>23013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E2-44CD-97BD-5A71DEBCF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blipFill>
      <a:blip xmlns:r="http://schemas.openxmlformats.org/officeDocument/2006/relationships" r:embed="rId1">
        <a:alphaModFix amt="25000"/>
      </a:blip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935E-9CFA-422E-A7EC-5A6ADBEC7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06333-632B-4078-A94E-975FC69BD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73992-EF05-4F79-B5A5-2401B8B9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7988B-0DEC-4490-A315-E6FC6506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E5747-E6B6-45F6-8999-D542AACF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98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324A-CB9B-4B11-BF2E-65C60873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10085-8508-491C-A5D6-99ED287FA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71BF2-AF90-4F03-AC1A-84D8423C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8F88E-62ED-49D9-871E-7129D956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7EB3-3B9F-4D98-95CA-3A92ADD6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4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85CE-4994-468D-B0C8-57F42415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85D0-160C-44CD-B91F-17159D780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78B7C-1194-41EB-B020-CA1A604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35175-D06B-4B60-8C62-982BC11B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1E086-828F-48B1-BF5E-1A9E53E8B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2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D8BA-919D-4254-A6C8-11BF02DA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FC5E8-943E-403D-A6EF-2FDC15600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48AC7-F10F-4EC0-A0E8-7B26D3EF9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90E51-804D-4A38-B722-0ED6E3F3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D02C2-F4D2-4DDC-83C6-EF6D26FA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A4A87-5639-4A1A-A44D-5261026E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4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BC99-8396-45AB-80F8-C0EA301B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EACB4-E811-4439-8A08-C8B1C39B3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B5C31-C74A-4F4A-A8D4-76FFA9F6D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7040A-4111-499E-94CB-84F3F06A3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ACF75-E696-43B2-9026-97C81A086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735121-0DFE-4D10-BEC5-BE3734C8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5081A-FCC3-43FA-B01A-837327FC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EC6865-450D-4D86-AB36-DB05B938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35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4CD5-9445-4693-8C89-7465C6E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5AC1C-280D-46F8-9236-ED5D90C4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111CE-325D-4BD9-8D73-41A66E4D2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504E8-004F-45EE-9600-66D1A25B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0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D5AC3-8DFD-47CA-B699-8129C162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A9FD8-55E8-4B1C-B161-9C0E020A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B8A51-99F4-4B32-BA85-E9980A65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44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4E91-F049-47E1-84D0-5BFA1BAE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DBB9-709B-47A3-A7D5-85EF030F0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87A6B-199E-4CA3-BA80-E213454A0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0B846-0926-4E8F-BEFC-8FD579D60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5F220-B382-4834-A652-BB470B02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30EA5-CAA7-4078-BA57-29D80E03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0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BFE6-BB80-44D4-9BF9-980E690C1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FA49C-B4A3-4A40-8721-419CE0DFD5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6A24D-2ECE-4180-B791-D3B9891FA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36438-A5BD-4F34-92FA-01436C3F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69F7B-9425-4EDD-AD0A-38F2B05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84EEA-545F-49C1-82F2-F7529B90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3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9A5E-BFCE-472F-B125-4981630E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E4531-B4B0-4345-AF7E-A6FCE16FE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A1622-9F05-48BC-AED8-1BBA10C3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77CE-C9BB-441A-9D55-9E9428422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96F6C-AD1A-4951-9855-5E66AC0A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63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4432CA-A14C-497D-92B0-96222E993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C4D94-775E-4172-BBC3-673726553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2CA8D-196B-4BF6-995E-F96037264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2C327-2B51-4DA6-9A44-D82DC93C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0E5B-3D3C-4DAA-8E65-22C4145E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08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B2CE5-AE93-4F3D-A82F-C4F9C704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CBD44-0B93-4C0C-8DBA-FB8B720BA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03DE4-DF04-4BE2-AC44-1CD06C1C8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DB25A-5AE3-4518-B365-8458B009FBF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D1A4B-5FD2-4788-A7EC-F13B03B5C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00151-600C-4C71-862A-259F50449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C894F-8FD8-4830-B412-952D6ABE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4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64A97-B79F-4C04-9212-E2DF605B8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5200"/>
            <a:ext cx="12192000" cy="2387600"/>
          </a:xfrm>
        </p:spPr>
        <p:txBody>
          <a:bodyPr>
            <a:noAutofit/>
          </a:bodyPr>
          <a:lstStyle/>
          <a:p>
            <a:r>
              <a:rPr lang="en-US" sz="10000" b="1" dirty="0"/>
              <a:t>Economy of Pakistan: </a:t>
            </a:r>
            <a:br>
              <a:rPr lang="en-US" sz="10000" b="1" dirty="0"/>
            </a:br>
            <a:r>
              <a:rPr lang="en-US" sz="10000" b="1" dirty="0"/>
              <a:t>History &amp; Challenges</a:t>
            </a:r>
          </a:p>
        </p:txBody>
      </p:sp>
    </p:spTree>
    <p:extLst>
      <p:ext uri="{BB962C8B-B14F-4D97-AF65-F5344CB8AC3E}">
        <p14:creationId xmlns:p14="http://schemas.microsoft.com/office/powerpoint/2010/main" val="4149219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167" y="500062"/>
            <a:ext cx="10997665" cy="1325563"/>
          </a:xfrm>
        </p:spPr>
        <p:txBody>
          <a:bodyPr>
            <a:noAutofit/>
          </a:bodyPr>
          <a:lstStyle/>
          <a:p>
            <a:pPr algn="ctr"/>
            <a:r>
              <a:rPr sz="5000" b="1" dirty="0"/>
              <a:t>Overview of Pakistan’s Economic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500" dirty="0"/>
              <a:t>Pakistan’s economy has evolved through multiple phases of policy experimentation and reform.</a:t>
            </a:r>
          </a:p>
          <a:p>
            <a:r>
              <a:rPr sz="2500" dirty="0"/>
              <a:t>The early decades emphasized agricultural development and import substitution industrialization.</a:t>
            </a:r>
          </a:p>
          <a:p>
            <a:r>
              <a:rPr sz="2500" dirty="0"/>
              <a:t>The 1960s witnessed high growth but rising income inequality and concentration of wealth.</a:t>
            </a:r>
          </a:p>
          <a:p>
            <a:r>
              <a:rPr sz="2500" dirty="0"/>
              <a:t>Political upheavals in the early 1970s led to major shifts in economic strategy.</a:t>
            </a:r>
          </a:p>
          <a:p>
            <a:r>
              <a:rPr sz="2500" dirty="0"/>
              <a:t>The Bhutto government introduced nationalization and socialist-oriented policies.</a:t>
            </a:r>
          </a:p>
          <a:p>
            <a:r>
              <a:rPr sz="2500" dirty="0"/>
              <a:t>Later geopolitical events such as the Afghan War further reshaped Pakistan’s economy.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Economic Conditions Before the 1970s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Pakistan experienced relatively high growth rates during the 1960s.</a:t>
            </a:r>
          </a:p>
          <a:p>
            <a:r>
              <a:rPr sz="2500" dirty="0"/>
              <a:t>Industrial elites controlled a large portion of national wealth.</a:t>
            </a:r>
          </a:p>
          <a:p>
            <a:r>
              <a:rPr sz="2500" dirty="0"/>
              <a:t>Economic development was uneven between regions and social classes.</a:t>
            </a:r>
          </a:p>
          <a:p>
            <a:r>
              <a:rPr sz="2500" dirty="0"/>
              <a:t>The separation of East Pakistan in 1971 severely disrupted the economy.</a:t>
            </a:r>
          </a:p>
          <a:p>
            <a:r>
              <a:rPr sz="2500" dirty="0"/>
              <a:t>Political instability created uncertainty for economic planning.</a:t>
            </a:r>
          </a:p>
          <a:p>
            <a:r>
              <a:rPr sz="2500" dirty="0"/>
              <a:t>These conditions motivated the introduction of major structural reforms.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BC76-D870-4E56-B983-B2DACF46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The Third Phase: 1971–1977 (Reconstruction and Nationalization)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BE4D7-3B74-47B2-A66E-7730E6B2A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500" dirty="0"/>
              <a:t>Following the </a:t>
            </a:r>
            <a:r>
              <a:rPr lang="en-US" sz="2500" b="1" dirty="0"/>
              <a:t>separation of East Pakistan (Bangladesh)</a:t>
            </a:r>
            <a:r>
              <a:rPr lang="en-US" sz="2500" dirty="0"/>
              <a:t>, Pakistan’s economy faced major reconstruction challenges.</a:t>
            </a:r>
          </a:p>
          <a:p>
            <a:pPr lvl="0"/>
            <a:r>
              <a:rPr lang="en-US" sz="2500" dirty="0"/>
              <a:t>The government under </a:t>
            </a:r>
            <a:r>
              <a:rPr lang="en-US" sz="2500" b="1" dirty="0"/>
              <a:t>Zulfikar Ali Bhutto</a:t>
            </a:r>
            <a:r>
              <a:rPr lang="en-US" sz="2500" dirty="0"/>
              <a:t> adopted a </a:t>
            </a:r>
            <a:r>
              <a:rPr lang="en-US" sz="2500" b="1" dirty="0"/>
              <a:t>socialist-oriented economic policy</a:t>
            </a:r>
            <a:r>
              <a:rPr lang="en-US" sz="2500" dirty="0"/>
              <a:t>, emphasizing state control over key industries.</a:t>
            </a:r>
          </a:p>
          <a:p>
            <a:pPr lvl="0"/>
            <a:r>
              <a:rPr lang="en-US" sz="2500" dirty="0"/>
              <a:t>The </a:t>
            </a:r>
            <a:r>
              <a:rPr lang="en-US" sz="2500" b="1" dirty="0"/>
              <a:t>nationalization policy (1972–1976)</a:t>
            </a:r>
            <a:r>
              <a:rPr lang="en-US" sz="2500" dirty="0"/>
              <a:t> brought banks, insurance, education, and heavy industries under public ownership.</a:t>
            </a:r>
          </a:p>
          <a:p>
            <a:pPr lvl="0"/>
            <a:r>
              <a:rPr lang="en-US" sz="2500" dirty="0"/>
              <a:t>Early nationalization aimed to reduce inequality and ensure equitable resource distribution, but it also discouraged private sector initiative.</a:t>
            </a:r>
          </a:p>
          <a:p>
            <a:pPr lvl="0"/>
            <a:r>
              <a:rPr lang="en-US" sz="2500" dirty="0"/>
              <a:t>Despite setbacks, Pakistan rebuilt exports, diversified agriculture, and established the </a:t>
            </a:r>
            <a:r>
              <a:rPr lang="en-US" sz="2500" b="1" dirty="0"/>
              <a:t>Heavy Mechanical Complex</a:t>
            </a:r>
            <a:r>
              <a:rPr lang="en-US" sz="2500" dirty="0"/>
              <a:t> and </a:t>
            </a:r>
            <a:r>
              <a:rPr lang="en-US" sz="2500" b="1" dirty="0"/>
              <a:t>Port </a:t>
            </a:r>
            <a:r>
              <a:rPr lang="en-US" sz="2500" b="1" dirty="0" err="1"/>
              <a:t>Qasim</a:t>
            </a:r>
            <a:r>
              <a:rPr lang="en-US" sz="2500" dirty="0"/>
              <a:t>.</a:t>
            </a:r>
          </a:p>
          <a:p>
            <a:pPr lvl="0"/>
            <a:r>
              <a:rPr lang="en-US" sz="2500" dirty="0"/>
              <a:t>External shocks, including oil crises and floods, constrained growth.</a:t>
            </a:r>
          </a:p>
        </p:txBody>
      </p:sp>
    </p:spTree>
    <p:extLst>
      <p:ext uri="{BB962C8B-B14F-4D97-AF65-F5344CB8AC3E}">
        <p14:creationId xmlns:p14="http://schemas.microsoft.com/office/powerpoint/2010/main" val="75217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25" y="500062"/>
            <a:ext cx="11867949" cy="1325563"/>
          </a:xfrm>
        </p:spPr>
        <p:txBody>
          <a:bodyPr>
            <a:noAutofit/>
          </a:bodyPr>
          <a:lstStyle/>
          <a:p>
            <a:pPr algn="ctr"/>
            <a:r>
              <a:rPr sz="5000" b="1" dirty="0"/>
              <a:t>Ideological Basis of Bhutto’s Economic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500" dirty="0"/>
              <a:t>The Pakistan Peoples Party promoted the slogan: Islam is our faith, democracy is our polity, socialism is our economy.</a:t>
            </a:r>
          </a:p>
          <a:p>
            <a:r>
              <a:rPr sz="2500" dirty="0"/>
              <a:t>The government believed that capitalism had created severe inequality in Pakistan.</a:t>
            </a:r>
          </a:p>
          <a:p>
            <a:r>
              <a:rPr sz="2500" dirty="0"/>
              <a:t>Economic reforms aimed to redistribute wealth and empower the working classes.</a:t>
            </a:r>
          </a:p>
          <a:p>
            <a:r>
              <a:rPr sz="2500" dirty="0"/>
              <a:t>Islamic socialism was presented as a blend of socialist ideals and Islamic values.</a:t>
            </a:r>
          </a:p>
          <a:p>
            <a:r>
              <a:rPr sz="2500" dirty="0"/>
              <a:t>The new economic policy emphasized greater state control of major industries.</a:t>
            </a:r>
          </a:p>
          <a:p>
            <a:r>
              <a:rPr sz="2500" dirty="0"/>
              <a:t>These ideological ideas provided the basis for nationalization policies.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First Wave of Nationalization (1972)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In January 1972 the government nationalized 31 large industrial enterprises.</a:t>
            </a:r>
          </a:p>
          <a:p>
            <a:r>
              <a:rPr sz="2500" dirty="0"/>
              <a:t>These firms belonged to ten major sectors including iron, steel, chemicals and engineering.</a:t>
            </a:r>
          </a:p>
          <a:p>
            <a:r>
              <a:rPr sz="2500" dirty="0"/>
              <a:t>The policy targeted heavy industries considered vital for economic development.</a:t>
            </a:r>
          </a:p>
          <a:p>
            <a:r>
              <a:rPr sz="2500" dirty="0"/>
              <a:t>The government aimed to weaken industrial monopolies held by elite families.</a:t>
            </a:r>
          </a:p>
          <a:p>
            <a:r>
              <a:rPr sz="2500" dirty="0"/>
              <a:t>The public sector became the dominant force in industrial production.</a:t>
            </a:r>
          </a:p>
          <a:p>
            <a:r>
              <a:rPr sz="2500" dirty="0"/>
              <a:t>This represented one of the largest economic transformations in Pakistan’s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Sectors Nationalized During the 1970s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Heavy industries including steel, engineering and chemicals were nationalized.</a:t>
            </a:r>
          </a:p>
          <a:p>
            <a:r>
              <a:rPr sz="2500" dirty="0"/>
              <a:t>Thirty-two life insurance companies were brought under state control in 1972.</a:t>
            </a:r>
          </a:p>
          <a:p>
            <a:r>
              <a:rPr sz="2500" dirty="0"/>
              <a:t>Banking reforms eventually led to nationalization of all private banks in 1974.</a:t>
            </a:r>
          </a:p>
          <a:p>
            <a:r>
              <a:rPr sz="2500" dirty="0"/>
              <a:t>Educational institutions were nationalized between 1972 and 1974.</a:t>
            </a:r>
          </a:p>
          <a:p>
            <a:r>
              <a:rPr sz="2500" dirty="0"/>
              <a:t>Later reforms nationalized cotton ginning, rice husking and flour milling industries.</a:t>
            </a:r>
          </a:p>
          <a:p>
            <a:r>
              <a:rPr sz="2500" dirty="0"/>
              <a:t>These policies expanded the size and influence of the public sector.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Objectives of Nationalization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The government wanted to reduce concentration of wealth among industrial elites.</a:t>
            </a:r>
          </a:p>
          <a:p>
            <a:r>
              <a:rPr sz="2500" dirty="0"/>
              <a:t>Policies aimed to expand the public sector and centralize economic planning.</a:t>
            </a:r>
          </a:p>
          <a:p>
            <a:r>
              <a:rPr sz="2500" dirty="0"/>
              <a:t>Another objective was redistribution of economic resources among social classes.</a:t>
            </a:r>
          </a:p>
          <a:p>
            <a:r>
              <a:rPr sz="2500" dirty="0"/>
              <a:t>The reforms also aimed to encourage development of small industries.</a:t>
            </a:r>
          </a:p>
          <a:p>
            <a:r>
              <a:rPr sz="2500" dirty="0"/>
              <a:t>The state attempted to control credit and financial resources through nationalized banks.</a:t>
            </a:r>
          </a:p>
          <a:p>
            <a:r>
              <a:rPr sz="2500" dirty="0"/>
              <a:t>Overall the reforms sought to build a more equitable economic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Scale of Nationalization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500" dirty="0"/>
              <a:t>The nationalization program affected approximately 20</a:t>
            </a:r>
            <a:r>
              <a:rPr lang="en-US" sz="2500" dirty="0"/>
              <a:t>%</a:t>
            </a:r>
            <a:r>
              <a:rPr sz="2500" dirty="0"/>
              <a:t> of large-scale manufacturing.</a:t>
            </a:r>
          </a:p>
          <a:p>
            <a:r>
              <a:rPr sz="2500" dirty="0"/>
              <a:t>More than thirty major industrial units were brought under government ownership.</a:t>
            </a:r>
          </a:p>
          <a:p>
            <a:r>
              <a:rPr sz="2500" dirty="0"/>
              <a:t>Many sectors previously dominated by private business groups were transferred to the state.</a:t>
            </a:r>
          </a:p>
          <a:p>
            <a:r>
              <a:rPr sz="2500" dirty="0"/>
              <a:t>The policy aimed to restructure the industrial economy and reduce monopolies.</a:t>
            </a:r>
          </a:p>
          <a:p>
            <a:r>
              <a:rPr sz="2500" dirty="0"/>
              <a:t>Industrial groups that had dominated the economy for decades lost influence.</a:t>
            </a:r>
          </a:p>
          <a:p>
            <a:r>
              <a:rPr sz="2500" dirty="0"/>
              <a:t>The government attempted to replace private industrial leadership with public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Industrial Growth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Economic analysts have debated the success of the nationalization policies.</a:t>
            </a:r>
          </a:p>
          <a:p>
            <a:r>
              <a:rPr sz="2500" dirty="0"/>
              <a:t>Large-scale manufacturing growth slowed significantly during the period.</a:t>
            </a:r>
          </a:p>
          <a:p>
            <a:r>
              <a:rPr sz="2500" dirty="0"/>
              <a:t>Some economists estimate industrial growth at around three percent during the Bhutto era.</a:t>
            </a:r>
          </a:p>
          <a:p>
            <a:r>
              <a:rPr sz="2500" dirty="0"/>
              <a:t>Public sector investment increased but private sector investment declined.</a:t>
            </a:r>
          </a:p>
          <a:p>
            <a:r>
              <a:rPr sz="2500" dirty="0"/>
              <a:t>Bureaucratic management often reduced efficiency in state enterprises.</a:t>
            </a:r>
          </a:p>
          <a:p>
            <a:r>
              <a:rPr sz="2500" dirty="0"/>
              <a:t>However the government did invest heavily in infrastructure and public sector industries.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Inflation Trends in the 1970s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25480" cy="4351338"/>
          </a:xfrm>
        </p:spPr>
        <p:txBody>
          <a:bodyPr>
            <a:normAutofit/>
          </a:bodyPr>
          <a:lstStyle/>
          <a:p>
            <a:r>
              <a:rPr sz="2500" dirty="0"/>
              <a:t>Economic reforms were accompanied by rising inflation during the Bhutto era.</a:t>
            </a:r>
          </a:p>
          <a:p>
            <a:r>
              <a:rPr sz="2500" dirty="0"/>
              <a:t>Inflation increased significantly during mid‑1970s</a:t>
            </a:r>
            <a:r>
              <a:rPr lang="en-US" sz="2500" dirty="0"/>
              <a:t> (</a:t>
            </a:r>
            <a:r>
              <a:rPr sz="2500" dirty="0"/>
              <a:t>highest during global oil crisis</a:t>
            </a:r>
            <a:r>
              <a:rPr lang="en-US" sz="2500" dirty="0"/>
              <a:t>)</a:t>
            </a:r>
            <a:endParaRPr sz="2500" dirty="0"/>
          </a:p>
          <a:p>
            <a:r>
              <a:rPr sz="2500" dirty="0"/>
              <a:t>Rising prices affected the purchasing power of ordinary citizens.</a:t>
            </a:r>
          </a:p>
          <a:p>
            <a:r>
              <a:rPr sz="2500" dirty="0"/>
              <a:t>Inflation became a major economic challenge for policymakers.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D0A7F75-BE5B-42EC-9CB6-DBF5F0633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401980"/>
              </p:ext>
            </p:extLst>
          </p:nvPr>
        </p:nvGraphicFramePr>
        <p:xfrm>
          <a:off x="2239520" y="3667760"/>
          <a:ext cx="8000000" cy="302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Trade Balance During Bhutto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Pakistan’s trade balance deteriorated during the mid‑1970s.</a:t>
            </a:r>
          </a:p>
          <a:p>
            <a:r>
              <a:rPr sz="2500" dirty="0"/>
              <a:t>Imports increased significantly while exports grew more slowly.</a:t>
            </a:r>
          </a:p>
          <a:p>
            <a:r>
              <a:rPr sz="2500" dirty="0"/>
              <a:t>This created persistent trade deficits in several years.</a:t>
            </a:r>
          </a:p>
          <a:p>
            <a:r>
              <a:rPr sz="2500" dirty="0"/>
              <a:t>The expansion of state enterprises required large imports of machinery.</a:t>
            </a:r>
          </a:p>
          <a:p>
            <a:r>
              <a:rPr sz="2500" dirty="0"/>
              <a:t>External economic shocks also contributed to trade imbalances.</a:t>
            </a:r>
          </a:p>
          <a:p>
            <a:endParaRPr lang="en-US" sz="2500" dirty="0"/>
          </a:p>
          <a:p>
            <a:pPr marL="0" indent="0">
              <a:buNone/>
            </a:pPr>
            <a:endParaRPr sz="25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A117EF9-5C8B-45C9-B05C-9509D8FBB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347248"/>
              </p:ext>
            </p:extLst>
          </p:nvPr>
        </p:nvGraphicFramePr>
        <p:xfrm>
          <a:off x="2096000" y="4165601"/>
          <a:ext cx="8000000" cy="2327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Land Reforms of 1972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sz="2500" dirty="0"/>
              <a:t>The government imposed limits on land ownership.</a:t>
            </a:r>
          </a:p>
          <a:p>
            <a:r>
              <a:rPr sz="2500" dirty="0"/>
              <a:t>Approximately 2,231 large landlords lost excess land holdings.</a:t>
            </a:r>
          </a:p>
          <a:p>
            <a:r>
              <a:rPr sz="2500" dirty="0"/>
              <a:t>The redistributed land was allocated to small farmers.</a:t>
            </a:r>
          </a:p>
          <a:p>
            <a:r>
              <a:rPr sz="2500" dirty="0"/>
              <a:t>Millions of peasants benefited from reduced taxes and land redistribution.</a:t>
            </a:r>
          </a:p>
          <a:p>
            <a:r>
              <a:rPr sz="2500" dirty="0"/>
              <a:t>The policy aimed to reduce feudal influence in rural areas.</a:t>
            </a:r>
            <a:endParaRPr lang="en-US" sz="2500" dirty="0"/>
          </a:p>
          <a:p>
            <a:r>
              <a:rPr lang="en-US" sz="2500" dirty="0"/>
              <a:t>About 7.27 million peasants benefited from the agricultural reforms.</a:t>
            </a:r>
          </a:p>
          <a:p>
            <a:r>
              <a:rPr lang="en-US" sz="2500" dirty="0"/>
              <a:t>Many small farmers were exempted from agricultural taxes.</a:t>
            </a:r>
          </a:p>
          <a:p>
            <a:r>
              <a:rPr lang="en-US" sz="2500" dirty="0"/>
              <a:t>Land redistribution aimed to increase agricultural productivity.</a:t>
            </a:r>
          </a:p>
          <a:p>
            <a:r>
              <a:rPr lang="en-US" sz="2500" dirty="0"/>
              <a:t>The reforms attempted to reduce economic inequality in rural areas.</a:t>
            </a:r>
          </a:p>
          <a:p>
            <a:r>
              <a:rPr lang="en-US" sz="2500" dirty="0"/>
              <a:t>However large landlords continued to maintain political influence.</a:t>
            </a:r>
          </a:p>
          <a:p>
            <a:r>
              <a:rPr lang="en-US" sz="2500" dirty="0"/>
              <a:t>The long-term impact of these reforms remains debated.</a:t>
            </a:r>
            <a:endParaRPr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Public Sector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The nationalization program dramatically expanded the role of the state.</a:t>
            </a:r>
          </a:p>
          <a:p>
            <a:r>
              <a:rPr sz="2500" dirty="0"/>
              <a:t>Government institutions controlled banking, insurance and major industries.</a:t>
            </a:r>
          </a:p>
          <a:p>
            <a:r>
              <a:rPr sz="2500" dirty="0"/>
              <a:t>Bureaucrats increasingly managed economic enterprises.</a:t>
            </a:r>
          </a:p>
          <a:p>
            <a:r>
              <a:rPr sz="2500" dirty="0"/>
              <a:t>This reduced the role of private entrepreneurs in the economy.</a:t>
            </a:r>
          </a:p>
          <a:p>
            <a:r>
              <a:rPr sz="2500" dirty="0"/>
              <a:t>The new system emphasized centralized economic planning.</a:t>
            </a:r>
          </a:p>
          <a:p>
            <a:r>
              <a:rPr sz="2500" dirty="0"/>
              <a:t>Critics argue that this created inefficiency and discouraged innovation.</a:t>
            </a:r>
            <a:endParaRPr lang="en-US" sz="2500" dirty="0"/>
          </a:p>
          <a:p>
            <a:r>
              <a:rPr lang="en-US" sz="2500" dirty="0"/>
              <a:t>Stagnated economy was felt in this part of the decade</a:t>
            </a:r>
            <a:endParaRPr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Pakistan’s Long-Term Growth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Pakistan’s economy grew at an average rate slightly above </a:t>
            </a:r>
            <a:r>
              <a:rPr lang="en-US" sz="2500" dirty="0"/>
              <a:t>5%</a:t>
            </a:r>
            <a:r>
              <a:rPr sz="2500" dirty="0"/>
              <a:t> annually over several decades.</a:t>
            </a:r>
          </a:p>
          <a:p>
            <a:r>
              <a:rPr sz="2500" dirty="0"/>
              <a:t>Per capita growth averaged about 2.5 percent annually.</a:t>
            </a:r>
          </a:p>
          <a:p>
            <a:r>
              <a:rPr sz="2500" dirty="0"/>
              <a:t>In the 1960s and early 1970s Pakistan grew faster than many South Asian countries.</a:t>
            </a:r>
          </a:p>
          <a:p>
            <a:r>
              <a:rPr sz="2500" dirty="0"/>
              <a:t>By the 1990s Pakistan became one of the slowest growing economies in the region.</a:t>
            </a:r>
          </a:p>
          <a:p>
            <a:r>
              <a:rPr sz="2500" dirty="0"/>
              <a:t>Growth slowed partly due to policy instability and political uncertainty.</a:t>
            </a:r>
          </a:p>
          <a:p>
            <a:r>
              <a:rPr sz="2500" dirty="0"/>
              <a:t>Economic reforms and structural challenges shaped these long-term trends.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0D7D-ECDD-4A4B-8DEB-5D9DBD5F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The Fourth Phase: 1977–1988 (Liberalization and Remittance Boom)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C47BE-3B28-454F-A9C1-402122E2C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500" dirty="0"/>
              <a:t>General </a:t>
            </a:r>
            <a:r>
              <a:rPr lang="en-US" sz="2500" b="1" dirty="0"/>
              <a:t>Zia-ul-</a:t>
            </a:r>
            <a:r>
              <a:rPr lang="en-US" sz="2500" b="1" dirty="0" err="1"/>
              <a:t>Haq’s</a:t>
            </a:r>
            <a:r>
              <a:rPr lang="en-US" sz="2500" b="1" dirty="0"/>
              <a:t> government</a:t>
            </a:r>
            <a:r>
              <a:rPr lang="en-US" sz="2500" dirty="0"/>
              <a:t> reversed nationalization trends, introducing </a:t>
            </a:r>
            <a:r>
              <a:rPr lang="en-US" sz="2500" b="1" dirty="0"/>
              <a:t>market liberalization</a:t>
            </a:r>
            <a:r>
              <a:rPr lang="en-US" sz="2500" dirty="0"/>
              <a:t> and encouraging private enterprise.</a:t>
            </a:r>
          </a:p>
          <a:p>
            <a:pPr lvl="0"/>
            <a:r>
              <a:rPr lang="en-US" sz="2500" dirty="0"/>
              <a:t>The </a:t>
            </a:r>
            <a:r>
              <a:rPr lang="en-US" sz="2500" b="1" dirty="0"/>
              <a:t>inflow of remittances</a:t>
            </a:r>
            <a:r>
              <a:rPr lang="en-US" sz="2500" dirty="0"/>
              <a:t> from Pakistani workers in the Gulf states boosted foreign exchange reserves and consumption.</a:t>
            </a:r>
          </a:p>
          <a:p>
            <a:pPr lvl="0"/>
            <a:r>
              <a:rPr lang="en-US" sz="2500" dirty="0"/>
              <a:t>The economy benefited from </a:t>
            </a:r>
            <a:r>
              <a:rPr lang="en-US" sz="2500" b="1" dirty="0"/>
              <a:t>foreign aid and military assistance</a:t>
            </a:r>
            <a:r>
              <a:rPr lang="en-US" sz="2500" dirty="0"/>
              <a:t> linked to the Soviet–Afghan War.</a:t>
            </a:r>
          </a:p>
          <a:p>
            <a:pPr lvl="0"/>
            <a:r>
              <a:rPr lang="en-US" sz="2500" dirty="0"/>
              <a:t>Emphasis shifted toward </a:t>
            </a:r>
            <a:r>
              <a:rPr lang="en-US" sz="2500" b="1" dirty="0"/>
              <a:t>Islamic banking and finance</a:t>
            </a:r>
            <a:r>
              <a:rPr lang="en-US" sz="2500" dirty="0"/>
              <a:t>, reflecting Islamization policies.</a:t>
            </a:r>
          </a:p>
          <a:p>
            <a:pPr lvl="0"/>
            <a:r>
              <a:rPr lang="en-US" sz="2500" dirty="0"/>
              <a:t>Growth averaged around </a:t>
            </a:r>
            <a:r>
              <a:rPr lang="en-US" sz="2500" b="1" dirty="0"/>
              <a:t>6%</a:t>
            </a:r>
            <a:r>
              <a:rPr lang="en-US" sz="2500" dirty="0"/>
              <a:t>, but income inequality persisted, and structural reforms lagged behind.</a:t>
            </a:r>
          </a:p>
          <a:p>
            <a:pPr lvl="0"/>
            <a:r>
              <a:rPr lang="en-US" sz="2500" dirty="0"/>
              <a:t>Industrial diversification remained limited, keeping dependence on agriculture and textiles intact.</a:t>
            </a:r>
          </a:p>
        </p:txBody>
      </p:sp>
    </p:spTree>
    <p:extLst>
      <p:ext uri="{BB962C8B-B14F-4D97-AF65-F5344CB8AC3E}">
        <p14:creationId xmlns:p14="http://schemas.microsoft.com/office/powerpoint/2010/main" val="2811219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Introduction to the Afghan War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The Soviet invasion of Afghanistan in 1979 transformed regional geopolitics.</a:t>
            </a:r>
          </a:p>
          <a:p>
            <a:r>
              <a:rPr sz="2500" dirty="0"/>
              <a:t>Pakistan became a key ally of the United States during the Cold War.</a:t>
            </a:r>
          </a:p>
          <a:p>
            <a:r>
              <a:rPr sz="2500" dirty="0"/>
              <a:t>The country served as a base for supporting Afghan resistance forces.</a:t>
            </a:r>
          </a:p>
          <a:p>
            <a:r>
              <a:rPr sz="2500" dirty="0"/>
              <a:t>This geopolitical role increased Pakistan’s strategic importance.</a:t>
            </a:r>
          </a:p>
          <a:p>
            <a:r>
              <a:rPr sz="2500" dirty="0"/>
              <a:t>The war significantly influenced Pakistan’s economy and society.</a:t>
            </a:r>
          </a:p>
          <a:p>
            <a:r>
              <a:rPr sz="2500" dirty="0"/>
              <a:t>Foreign aid flows increased dramatically during this period.</a:t>
            </a:r>
            <a:endParaRPr lang="en-US" sz="2500" dirty="0"/>
          </a:p>
          <a:p>
            <a:r>
              <a:rPr lang="en-US" sz="2500" dirty="0"/>
              <a:t>External support strengthened Pakistan’s foreign exchange position.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Foreign Aid During the Afghan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sz="2500" dirty="0"/>
              <a:t>Pakistan received substantial financial assistance from Western countries.</a:t>
            </a:r>
          </a:p>
          <a:p>
            <a:r>
              <a:rPr sz="2500" dirty="0"/>
              <a:t>The United States provided both military and economic aid.</a:t>
            </a:r>
          </a:p>
          <a:p>
            <a:r>
              <a:rPr sz="2500" dirty="0"/>
              <a:t>Foreign aid helped finance defense spending and development projects.</a:t>
            </a:r>
          </a:p>
          <a:p>
            <a:r>
              <a:rPr sz="2500" dirty="0"/>
              <a:t>However reliance on aid increased Pakistan’s economic dependency.</a:t>
            </a:r>
          </a:p>
          <a:p>
            <a:r>
              <a:rPr sz="2500" dirty="0"/>
              <a:t>The inflow of aid also had political and strategic implications.</a:t>
            </a:r>
            <a:endParaRPr lang="en-US" sz="2500" dirty="0"/>
          </a:p>
          <a:p>
            <a:r>
              <a:rPr lang="en-US" sz="2500" dirty="0"/>
              <a:t>Foreign assistance increased Pakistan’s foreign exchange reserves.</a:t>
            </a:r>
          </a:p>
          <a:p>
            <a:r>
              <a:rPr lang="en-US" sz="2500" dirty="0"/>
              <a:t>It helped finance infrastructure and development programs.</a:t>
            </a:r>
          </a:p>
          <a:p>
            <a:r>
              <a:rPr lang="en-US" sz="2500" dirty="0"/>
              <a:t>Government spending expanded due to the availability of external resources.</a:t>
            </a:r>
          </a:p>
          <a:p>
            <a:r>
              <a:rPr lang="en-US" sz="2500" dirty="0"/>
              <a:t>The aid inflows supported macroeconomic stability in the short term.</a:t>
            </a:r>
          </a:p>
          <a:p>
            <a:r>
              <a:rPr lang="en-US" sz="2500" dirty="0"/>
              <a:t>Military modernization also benefited from foreign funding.</a:t>
            </a:r>
          </a:p>
          <a:p>
            <a:r>
              <a:rPr lang="en-US" sz="2500" dirty="0"/>
              <a:t>However long-term economic sustainability remained uncertain.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Costs of the Afghan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The war imposed heavy economic and social costs on Pakistan.</a:t>
            </a:r>
          </a:p>
          <a:p>
            <a:r>
              <a:rPr sz="2500" dirty="0"/>
              <a:t>Millions of Afghan refugees migrated to Pakistan.</a:t>
            </a:r>
          </a:p>
          <a:p>
            <a:r>
              <a:rPr sz="2500" dirty="0"/>
              <a:t>Public services such as housing, education and healthcare were strained.</a:t>
            </a:r>
          </a:p>
          <a:p>
            <a:r>
              <a:rPr sz="2500" dirty="0"/>
              <a:t>Smuggling and informal economic activities expanded in border regions.</a:t>
            </a:r>
          </a:p>
          <a:p>
            <a:r>
              <a:rPr sz="2500" dirty="0"/>
              <a:t>The presence of weapons and narcotics increased internal security problems.</a:t>
            </a:r>
          </a:p>
          <a:p>
            <a:r>
              <a:rPr sz="2500" dirty="0"/>
              <a:t>These challenges had long-term socio-economic consequences.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Afghan Refugee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Pakistan hosted millions of Afghan refugees during the conflict.</a:t>
            </a:r>
          </a:p>
          <a:p>
            <a:r>
              <a:rPr sz="2500" dirty="0"/>
              <a:t>Many refugees settled in Khyber Pakhtunkhwa and </a:t>
            </a:r>
            <a:r>
              <a:rPr sz="2500" dirty="0" err="1"/>
              <a:t>Balochistan</a:t>
            </a:r>
            <a:r>
              <a:rPr sz="2500" dirty="0"/>
              <a:t>.</a:t>
            </a:r>
          </a:p>
          <a:p>
            <a:r>
              <a:rPr sz="2500" dirty="0"/>
              <a:t>The refugee population placed pressure on local infrastructure.</a:t>
            </a:r>
          </a:p>
          <a:p>
            <a:r>
              <a:rPr sz="2500" dirty="0"/>
              <a:t>International aid supported refugee camps and humanitarian programs.</a:t>
            </a:r>
          </a:p>
          <a:p>
            <a:r>
              <a:rPr sz="2500" dirty="0"/>
              <a:t>The large refugee population also affected local labor markets.</a:t>
            </a:r>
          </a:p>
          <a:p>
            <a:r>
              <a:rPr sz="2500" dirty="0"/>
              <a:t>The crisis </a:t>
            </a:r>
            <a:r>
              <a:rPr lang="en-US" sz="2500" dirty="0"/>
              <a:t>greatly</a:t>
            </a:r>
            <a:r>
              <a:rPr sz="2500" dirty="0"/>
              <a:t> influence</a:t>
            </a:r>
            <a:r>
              <a:rPr lang="en-US" sz="2500" dirty="0"/>
              <a:t>d</a:t>
            </a:r>
            <a:r>
              <a:rPr sz="2500" dirty="0"/>
              <a:t> Pakistan’s social and economic landscape.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Security </a:t>
            </a:r>
            <a:r>
              <a:rPr lang="en-US" sz="5000" b="1" dirty="0"/>
              <a:t>&amp;</a:t>
            </a:r>
            <a:r>
              <a:rPr sz="5000" b="1" dirty="0"/>
              <a:t> Economic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968"/>
            <a:ext cx="10515600" cy="4351338"/>
          </a:xfrm>
        </p:spPr>
        <p:txBody>
          <a:bodyPr>
            <a:noAutofit/>
          </a:bodyPr>
          <a:lstStyle/>
          <a:p>
            <a:r>
              <a:rPr sz="2500" dirty="0"/>
              <a:t>Regional instability discouraged foreign investment in some sectors.</a:t>
            </a:r>
          </a:p>
          <a:p>
            <a:r>
              <a:rPr sz="2500" dirty="0"/>
              <a:t>Increased defense spending diverted resources from development.</a:t>
            </a:r>
          </a:p>
          <a:p>
            <a:r>
              <a:rPr sz="2500" dirty="0"/>
              <a:t>Security challenges created uncertainty in the business environment.</a:t>
            </a:r>
          </a:p>
          <a:p>
            <a:r>
              <a:rPr sz="2500" dirty="0"/>
              <a:t>Trade and tourism were negatively affected.</a:t>
            </a:r>
          </a:p>
          <a:p>
            <a:r>
              <a:rPr sz="2500" dirty="0"/>
              <a:t>Law and order issues increased economic risk for investors.</a:t>
            </a:r>
          </a:p>
          <a:p>
            <a:r>
              <a:rPr lang="en-US" sz="2500" dirty="0"/>
              <a:t>Defense expenditure increased significantly during the 1980s (average defense spending reached about 6.5% of GDP)</a:t>
            </a:r>
          </a:p>
          <a:p>
            <a:r>
              <a:rPr lang="en-US" sz="2500" dirty="0"/>
              <a:t>Real defense spending grew at roughly 9% annually.</a:t>
            </a:r>
          </a:p>
          <a:p>
            <a:r>
              <a:rPr lang="en-US" sz="2500" dirty="0"/>
              <a:t>Development spending increased much more slowly; public debt levels increased over time.</a:t>
            </a:r>
          </a:p>
          <a:p>
            <a:r>
              <a:rPr lang="en-US" sz="2500" dirty="0"/>
              <a:t>These factors and imbalance contributed to fiscal deficits, slowed economic development in the long term.</a:t>
            </a:r>
          </a:p>
          <a:p>
            <a:endParaRPr lang="en-US" sz="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Long-Term Economic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sz="2500" dirty="0"/>
              <a:t>The Afghan war had lasting impacts on Pakistan’s political economy.</a:t>
            </a:r>
          </a:p>
          <a:p>
            <a:r>
              <a:rPr sz="2500" dirty="0"/>
              <a:t>Security concerns became a major priority for government policy.</a:t>
            </a:r>
          </a:p>
          <a:p>
            <a:r>
              <a:rPr sz="2500" dirty="0"/>
              <a:t>Resources were diverted toward defense and internal security.</a:t>
            </a:r>
          </a:p>
          <a:p>
            <a:r>
              <a:rPr sz="2500" dirty="0"/>
              <a:t>Economic planning was influenced by geopolitical considerations.</a:t>
            </a:r>
          </a:p>
          <a:p>
            <a:r>
              <a:rPr sz="2500" dirty="0"/>
              <a:t>Some sectors benefited from foreign aid and trade opportunities.</a:t>
            </a:r>
          </a:p>
          <a:p>
            <a:r>
              <a:rPr sz="2500" dirty="0"/>
              <a:t>However the long-term social costs were substantial.</a:t>
            </a:r>
            <a:endParaRPr lang="en-US" sz="2500" dirty="0"/>
          </a:p>
          <a:p>
            <a:r>
              <a:rPr lang="en-US" sz="2500" dirty="0"/>
              <a:t>Political instability has repeatedly disrupted economic planning.</a:t>
            </a:r>
          </a:p>
          <a:p>
            <a:r>
              <a:rPr lang="en-US" sz="2500" dirty="0"/>
              <a:t>Human development indicators remain relatively low.</a:t>
            </a:r>
          </a:p>
          <a:p>
            <a:r>
              <a:rPr lang="en-US" sz="2500" dirty="0"/>
              <a:t>Income inequality and regional disparities persist.</a:t>
            </a:r>
          </a:p>
          <a:p>
            <a:r>
              <a:rPr lang="en-US" sz="2500" dirty="0"/>
              <a:t>Dependence on external financing makes the economy vulnerable.</a:t>
            </a:r>
          </a:p>
          <a:p>
            <a:r>
              <a:rPr lang="en-US" sz="2500" dirty="0"/>
              <a:t>Improving governance remains critical for economic reform.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Comparative 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In the 1960s Pakistan outperformed many Asian economies.</a:t>
            </a:r>
          </a:p>
          <a:p>
            <a:r>
              <a:rPr sz="2500" dirty="0"/>
              <a:t>Countries such as South Korea and Malaysia later surpassed Pakistan.</a:t>
            </a:r>
          </a:p>
          <a:p>
            <a:r>
              <a:rPr sz="2500" dirty="0"/>
              <a:t>Inconsistent economic policies slowed Pakistan’s growth.</a:t>
            </a:r>
          </a:p>
          <a:p>
            <a:r>
              <a:rPr sz="2500" dirty="0"/>
              <a:t>Investment levels declined during periods of political instability.</a:t>
            </a:r>
          </a:p>
          <a:p>
            <a:r>
              <a:rPr sz="2500" dirty="0"/>
              <a:t>Human capital development lagged behind regional competitors.</a:t>
            </a:r>
          </a:p>
          <a:p>
            <a:r>
              <a:rPr sz="2500" dirty="0"/>
              <a:t>These factors contributed to Pakistan’s slower growth in later decades.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Lessons from Nationalization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State intervention can help address inequality and market failures.</a:t>
            </a:r>
          </a:p>
          <a:p>
            <a:r>
              <a:rPr sz="2500" dirty="0"/>
              <a:t>However excessive state control may reduce efficiency and innovation.</a:t>
            </a:r>
          </a:p>
          <a:p>
            <a:r>
              <a:rPr sz="2500" dirty="0"/>
              <a:t>Private sector confidence is critical for long-term investment.</a:t>
            </a:r>
          </a:p>
          <a:p>
            <a:r>
              <a:rPr sz="2500" dirty="0"/>
              <a:t>Economic policy stability is essential for sustained growth.</a:t>
            </a:r>
          </a:p>
          <a:p>
            <a:r>
              <a:rPr sz="2500" dirty="0"/>
              <a:t>Pakistan’s experience demonstrates the complexity of development strategies.</a:t>
            </a:r>
          </a:p>
          <a:p>
            <a:r>
              <a:rPr sz="2500" dirty="0"/>
              <a:t>Balancing public and private sector roles remains a key challenge.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Lessons from the Afghan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Geopolitical alliances can bring economic assistance and strategic advantages.</a:t>
            </a:r>
          </a:p>
          <a:p>
            <a:r>
              <a:rPr sz="2500" dirty="0"/>
              <a:t>However conflict-related policies often create long-term economic costs.</a:t>
            </a:r>
          </a:p>
          <a:p>
            <a:r>
              <a:rPr sz="2500" dirty="0"/>
              <a:t>Refugee crises can significantly affect host economies.</a:t>
            </a:r>
          </a:p>
          <a:p>
            <a:r>
              <a:rPr sz="2500" dirty="0"/>
              <a:t>Security instability discourages investment and tourism.</a:t>
            </a:r>
          </a:p>
          <a:p>
            <a:r>
              <a:rPr sz="2500" dirty="0"/>
              <a:t>Economic planning must consider both domestic and regional factors.</a:t>
            </a:r>
          </a:p>
          <a:p>
            <a:r>
              <a:rPr sz="2500" dirty="0"/>
              <a:t>The Afghan war demonstrates the complex link between geopolitics and economics.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The 1970s nationalization policies represented a major transformation of Pakistan’s economy.</a:t>
            </a:r>
          </a:p>
          <a:p>
            <a:r>
              <a:rPr sz="2500" dirty="0"/>
              <a:t>The reforms sought to reduce inequality and expand the role of the state.</a:t>
            </a:r>
          </a:p>
          <a:p>
            <a:r>
              <a:rPr sz="2500" dirty="0"/>
              <a:t>While some social benefits were achieved, economic efficiency declined in several sectors.</a:t>
            </a:r>
          </a:p>
          <a:p>
            <a:r>
              <a:rPr sz="2500" dirty="0"/>
              <a:t>The Afghan war significantly altered Pakistan’s geopolitical and economic position.</a:t>
            </a:r>
          </a:p>
          <a:p>
            <a:r>
              <a:rPr sz="2500" dirty="0"/>
              <a:t>Foreign aid supported the economy but created long-term dependencies.</a:t>
            </a:r>
          </a:p>
          <a:p>
            <a:r>
              <a:rPr sz="2500" dirty="0"/>
              <a:t>Understanding these historical developments is essential for analyzing Pakistan’s present challenges.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1958</Words>
  <Application>Microsoft Office PowerPoint</Application>
  <PresentationFormat>Widescreen</PresentationFormat>
  <Paragraphs>193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Economy of Pakistan:  History &amp; Challenges</vt:lpstr>
      <vt:lpstr>Overview of Pakistan’s Economic Evolution</vt:lpstr>
      <vt:lpstr>Economic Conditions Before the 1970s</vt:lpstr>
      <vt:lpstr>The Third Phase: 1971–1977 (Reconstruction and Nationalization)</vt:lpstr>
      <vt:lpstr>Ideological Basis of Bhutto’s Economic Policies</vt:lpstr>
      <vt:lpstr>First Wave of Nationalization (1972)</vt:lpstr>
      <vt:lpstr>Sectors Nationalized During the 1970s</vt:lpstr>
      <vt:lpstr>Objectives of Nationalization</vt:lpstr>
      <vt:lpstr>Scale of Nationalization</vt:lpstr>
      <vt:lpstr>Industrial Growth Performance</vt:lpstr>
      <vt:lpstr>Inflation Trends in the 1970s</vt:lpstr>
      <vt:lpstr>Trade Balance During Bhutto Era</vt:lpstr>
      <vt:lpstr>Land Reforms of 1972</vt:lpstr>
      <vt:lpstr>Public Sector Expansion</vt:lpstr>
      <vt:lpstr>Pakistan’s Long-Term Growth Record</vt:lpstr>
      <vt:lpstr>The Fourth Phase: 1977–1988 (Liberalization and Remittance Boom)</vt:lpstr>
      <vt:lpstr>Introduction to the Afghan War Context</vt:lpstr>
      <vt:lpstr>Foreign Aid During the Afghan War</vt:lpstr>
      <vt:lpstr>Costs of the Afghan War</vt:lpstr>
      <vt:lpstr>Afghan Refugee Crisis</vt:lpstr>
      <vt:lpstr>Security &amp; Economic Effects</vt:lpstr>
      <vt:lpstr>Long-Term Economic Consequences</vt:lpstr>
      <vt:lpstr>Comparative Regional Performance</vt:lpstr>
      <vt:lpstr>Lessons from Nationalization</vt:lpstr>
      <vt:lpstr>Lessons from the Afghan War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Asefa Khilji</dc:creator>
  <cp:lastModifiedBy>Asefa Khilji</cp:lastModifiedBy>
  <cp:revision>6</cp:revision>
  <dcterms:created xsi:type="dcterms:W3CDTF">2026-03-12T02:39:56Z</dcterms:created>
  <dcterms:modified xsi:type="dcterms:W3CDTF">2026-03-16T06:20:56Z</dcterms:modified>
</cp:coreProperties>
</file>