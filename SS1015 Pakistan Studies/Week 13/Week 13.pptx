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7" r:id="rId13"/>
    <p:sldId id="278" r:id="rId14"/>
    <p:sldId id="281" r:id="rId15"/>
    <p:sldId id="286" r:id="rId16"/>
    <p:sldId id="288" r:id="rId17"/>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C635-60BB-4006-B75E-5485908DA6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6908F1-B657-4292-B1BE-B014B2AE75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7E7861-C22C-4E4E-9D96-4405C7A5758B}"/>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5" name="Footer Placeholder 4">
            <a:extLst>
              <a:ext uri="{FF2B5EF4-FFF2-40B4-BE49-F238E27FC236}">
                <a16:creationId xmlns:a16="http://schemas.microsoft.com/office/drawing/2014/main" id="{6F4A9119-711B-4F69-BD45-D3F4EEC2D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76A90B-038E-4B94-BCA8-9435562D505B}"/>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975378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84A7-8F82-400C-B96D-ED8DC9EDD4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DF122C-CA6F-4828-84F6-6F7DC5802C0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A4CDD-34E5-45E3-A9AB-A86F4280B838}"/>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5" name="Footer Placeholder 4">
            <a:extLst>
              <a:ext uri="{FF2B5EF4-FFF2-40B4-BE49-F238E27FC236}">
                <a16:creationId xmlns:a16="http://schemas.microsoft.com/office/drawing/2014/main" id="{20408D14-9B2F-46DA-B7F8-453E3CB495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4C74B1-A9DE-41A4-A482-D7437ACCFA0C}"/>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2626557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B38F-2AF7-46D9-8343-1244B8C54A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F1A01F-7EF0-4649-88F1-831D55D6DF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79688D6-98A6-429B-9DC9-0C95C1C3CC24}"/>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5" name="Footer Placeholder 4">
            <a:extLst>
              <a:ext uri="{FF2B5EF4-FFF2-40B4-BE49-F238E27FC236}">
                <a16:creationId xmlns:a16="http://schemas.microsoft.com/office/drawing/2014/main" id="{FBB7A70F-2EAC-411F-8E24-BFCEE5B2E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4049-BD00-4454-A35B-560F9137F71E}"/>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2962212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DFA0B-DE35-4D09-BE33-99B3CD18D9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F8A904-1D94-43B8-B537-6759A86E9BD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F6E1B6-4BD1-4B59-BB4F-F8379D18685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9A6F6D-5263-4243-B98D-18D9AE6FF66A}"/>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6" name="Footer Placeholder 5">
            <a:extLst>
              <a:ext uri="{FF2B5EF4-FFF2-40B4-BE49-F238E27FC236}">
                <a16:creationId xmlns:a16="http://schemas.microsoft.com/office/drawing/2014/main" id="{1C352CF7-FFF5-47AD-ADDB-64FE54E08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9E3AC8-AA7E-4471-9180-33891E7CCFFB}"/>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3701523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46556-930F-4277-9A3C-E46E3DAB7C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9D7E1-DB9A-4022-823F-B7E05BEAD2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55D4A89-A2AF-4E28-8654-4741EC15D07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8F8763-B51A-471D-8132-E7AD78B462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F638DF8-83DD-4881-BA9E-784A4DDFC70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F4486D-E2A1-4BF8-B667-28E57FFD79FB}"/>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8" name="Footer Placeholder 7">
            <a:extLst>
              <a:ext uri="{FF2B5EF4-FFF2-40B4-BE49-F238E27FC236}">
                <a16:creationId xmlns:a16="http://schemas.microsoft.com/office/drawing/2014/main" id="{7A3B00F7-A2E5-4CAB-82D3-ED636B8909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2ABE3D-C2B2-407C-8A9A-77990A28F81B}"/>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4175877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0B68-3BAB-4268-A44A-22B62EC3C0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D7DC1E-5CAB-4A90-B3CD-E2FBB298D233}"/>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4" name="Footer Placeholder 3">
            <a:extLst>
              <a:ext uri="{FF2B5EF4-FFF2-40B4-BE49-F238E27FC236}">
                <a16:creationId xmlns:a16="http://schemas.microsoft.com/office/drawing/2014/main" id="{45D76888-4314-48E8-AAE9-9667ECD4AE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8077A3-5C26-4591-9407-2CD849763A45}"/>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51260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1C1BB-00F8-4B95-9A0F-CFD428275180}"/>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3" name="Footer Placeholder 2">
            <a:extLst>
              <a:ext uri="{FF2B5EF4-FFF2-40B4-BE49-F238E27FC236}">
                <a16:creationId xmlns:a16="http://schemas.microsoft.com/office/drawing/2014/main" id="{E19194E8-1632-429F-900F-2FAD78C6AE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CA2374-678D-41D2-9996-FE42A0E0833C}"/>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3650938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B48CF-A4B7-435D-974B-34260BB3A6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444163-B585-469D-91BE-7F21FBE804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3B97C0-687F-4B54-90E0-14FF687E3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D2F30C9-5D22-41FD-A4C0-26BCE1F7CE13}"/>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6" name="Footer Placeholder 5">
            <a:extLst>
              <a:ext uri="{FF2B5EF4-FFF2-40B4-BE49-F238E27FC236}">
                <a16:creationId xmlns:a16="http://schemas.microsoft.com/office/drawing/2014/main" id="{3F26706A-41CB-4329-8D83-D3F1B316FF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D020AF-694E-4B2C-A9D1-5DCD01B00891}"/>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3861222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C6838-12FE-4DA8-A250-2CFC8D2A9E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F28969-C622-42AD-A901-45A8A04E2F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A047E3-D16D-454A-98AB-DCAA359B14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ED3261-0299-4AC1-B679-375573B37E85}"/>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6" name="Footer Placeholder 5">
            <a:extLst>
              <a:ext uri="{FF2B5EF4-FFF2-40B4-BE49-F238E27FC236}">
                <a16:creationId xmlns:a16="http://schemas.microsoft.com/office/drawing/2014/main" id="{FDF5B52D-488F-4F53-ADA5-F6F3911DCC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19B688-43DB-4F51-BBF8-5BAE276AA954}"/>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2708797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E53DF-6BCE-4C3A-B05D-91C83F87D6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C384BB-7B66-4475-BE81-DDC8AC92132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651ADC-7DF6-495A-89B9-F4A6835812BD}"/>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5" name="Footer Placeholder 4">
            <a:extLst>
              <a:ext uri="{FF2B5EF4-FFF2-40B4-BE49-F238E27FC236}">
                <a16:creationId xmlns:a16="http://schemas.microsoft.com/office/drawing/2014/main" id="{6BF13EC9-2185-46AC-BA3A-BDE77DDDD7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67BE7A-D33C-4C5D-BCDB-ABB62A62E50B}"/>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1233438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0FDBAE-2B9C-486F-AB76-2B84593F5D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ED66CF-A4C1-4123-BFC6-5D7FC323110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7B47C1-14ED-4547-94C7-A175DDAFDFED}"/>
              </a:ext>
            </a:extLst>
          </p:cNvPr>
          <p:cNvSpPr>
            <a:spLocks noGrp="1"/>
          </p:cNvSpPr>
          <p:nvPr>
            <p:ph type="dt" sz="half" idx="10"/>
          </p:nvPr>
        </p:nvSpPr>
        <p:spPr/>
        <p:txBody>
          <a:bodyPr/>
          <a:lstStyle/>
          <a:p>
            <a:fld id="{641D55EC-D21A-4C26-91E5-8B62AA32C8CC}" type="datetimeFigureOut">
              <a:rPr lang="en-US" smtClean="0"/>
              <a:t>4/21/2026</a:t>
            </a:fld>
            <a:endParaRPr lang="en-US"/>
          </a:p>
        </p:txBody>
      </p:sp>
      <p:sp>
        <p:nvSpPr>
          <p:cNvPr id="5" name="Footer Placeholder 4">
            <a:extLst>
              <a:ext uri="{FF2B5EF4-FFF2-40B4-BE49-F238E27FC236}">
                <a16:creationId xmlns:a16="http://schemas.microsoft.com/office/drawing/2014/main" id="{C3551B7F-30DC-4A29-B46F-035599233F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3DCD09-FECA-4617-8685-4481497CA7EA}"/>
              </a:ext>
            </a:extLst>
          </p:cNvPr>
          <p:cNvSpPr>
            <a:spLocks noGrp="1"/>
          </p:cNvSpPr>
          <p:nvPr>
            <p:ph type="sldNum" sz="quarter" idx="12"/>
          </p:nvPr>
        </p:nvSpPr>
        <p:spPr/>
        <p:txBody>
          <a:bodyPr/>
          <a:lstStyle/>
          <a:p>
            <a:fld id="{8B3C4479-5EAC-4A4F-9368-8C0CC681BA26}" type="slidenum">
              <a:rPr lang="en-US" smtClean="0"/>
              <a:t>‹#›</a:t>
            </a:fld>
            <a:endParaRPr lang="en-US"/>
          </a:p>
        </p:txBody>
      </p:sp>
    </p:spTree>
    <p:extLst>
      <p:ext uri="{BB962C8B-B14F-4D97-AF65-F5344CB8AC3E}">
        <p14:creationId xmlns:p14="http://schemas.microsoft.com/office/powerpoint/2010/main" val="428741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3762D9-9258-4702-875B-8F69C013DC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3D35D9-1A76-430B-B40D-73200237F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97412-98CD-41FD-A212-B50FA4EF81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1D55EC-D21A-4C26-91E5-8B62AA32C8CC}" type="datetimeFigureOut">
              <a:rPr lang="en-US" smtClean="0"/>
              <a:t>4/21/2026</a:t>
            </a:fld>
            <a:endParaRPr lang="en-US"/>
          </a:p>
        </p:txBody>
      </p:sp>
      <p:sp>
        <p:nvSpPr>
          <p:cNvPr id="5" name="Footer Placeholder 4">
            <a:extLst>
              <a:ext uri="{FF2B5EF4-FFF2-40B4-BE49-F238E27FC236}">
                <a16:creationId xmlns:a16="http://schemas.microsoft.com/office/drawing/2014/main" id="{AB20560E-0DDC-4432-A389-5C9C7B09D9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B3CA95-079F-4818-B9A7-B19537E643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3C4479-5EAC-4A4F-9368-8C0CC681BA26}" type="slidenum">
              <a:rPr lang="en-US" smtClean="0"/>
              <a:t>‹#›</a:t>
            </a:fld>
            <a:endParaRPr lang="en-US"/>
          </a:p>
        </p:txBody>
      </p:sp>
    </p:spTree>
    <p:extLst>
      <p:ext uri="{BB962C8B-B14F-4D97-AF65-F5344CB8AC3E}">
        <p14:creationId xmlns:p14="http://schemas.microsoft.com/office/powerpoint/2010/main" val="571567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D1C40-A71F-4BAC-8382-C4127C0BDD32}"/>
              </a:ext>
            </a:extLst>
          </p:cNvPr>
          <p:cNvSpPr>
            <a:spLocks noGrp="1"/>
          </p:cNvSpPr>
          <p:nvPr>
            <p:ph type="ctrTitle"/>
          </p:nvPr>
        </p:nvSpPr>
        <p:spPr>
          <a:xfrm>
            <a:off x="1524000" y="2235200"/>
            <a:ext cx="9144000" cy="2387600"/>
          </a:xfrm>
        </p:spPr>
        <p:txBody>
          <a:bodyPr>
            <a:noAutofit/>
          </a:bodyPr>
          <a:lstStyle/>
          <a:p>
            <a:r>
              <a:rPr lang="en-US" sz="10000" b="1" dirty="0"/>
              <a:t>Foreign Policy of Pakistan</a:t>
            </a:r>
            <a:endParaRPr lang="en-US" sz="10000" dirty="0"/>
          </a:p>
        </p:txBody>
      </p:sp>
    </p:spTree>
    <p:extLst>
      <p:ext uri="{BB962C8B-B14F-4D97-AF65-F5344CB8AC3E}">
        <p14:creationId xmlns:p14="http://schemas.microsoft.com/office/powerpoint/2010/main" val="2129419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26D77-2F1F-48D0-B4E6-5FB8ED4A2804}"/>
              </a:ext>
            </a:extLst>
          </p:cNvPr>
          <p:cNvSpPr>
            <a:spLocks noGrp="1"/>
          </p:cNvSpPr>
          <p:nvPr>
            <p:ph type="title"/>
          </p:nvPr>
        </p:nvSpPr>
        <p:spPr/>
        <p:txBody>
          <a:bodyPr>
            <a:normAutofit/>
          </a:bodyPr>
          <a:lstStyle/>
          <a:p>
            <a:pPr algn="ctr"/>
            <a:r>
              <a:rPr lang="en-US" sz="5000" b="1" dirty="0"/>
              <a:t>Introduction to Foreign Policy</a:t>
            </a:r>
          </a:p>
        </p:txBody>
      </p:sp>
      <p:sp>
        <p:nvSpPr>
          <p:cNvPr id="3" name="Content Placeholder 2">
            <a:extLst>
              <a:ext uri="{FF2B5EF4-FFF2-40B4-BE49-F238E27FC236}">
                <a16:creationId xmlns:a16="http://schemas.microsoft.com/office/drawing/2014/main" id="{22EF71F1-554B-4642-9A93-147086FB38DF}"/>
              </a:ext>
            </a:extLst>
          </p:cNvPr>
          <p:cNvSpPr>
            <a:spLocks noGrp="1"/>
          </p:cNvSpPr>
          <p:nvPr>
            <p:ph idx="1"/>
          </p:nvPr>
        </p:nvSpPr>
        <p:spPr/>
        <p:txBody>
          <a:bodyPr>
            <a:noAutofit/>
          </a:bodyPr>
          <a:lstStyle/>
          <a:p>
            <a:r>
              <a:rPr lang="en-US" sz="2500" dirty="0"/>
              <a:t>Foreign policy refers to a state’s strategic framework through which it interacts with other countries to achieve national interests and objectives.</a:t>
            </a:r>
          </a:p>
          <a:p>
            <a:r>
              <a:rPr lang="en-US" sz="2500" dirty="0"/>
              <a:t>It is a carefully designed plan that guides diplomatic, economic, and political engagements in the international system.</a:t>
            </a:r>
          </a:p>
          <a:p>
            <a:r>
              <a:rPr lang="en-US" sz="2500" dirty="0"/>
              <a:t>Every state formulates foreign policy based on its priorities such as security, economic growth, and global standing.</a:t>
            </a:r>
          </a:p>
          <a:p>
            <a:r>
              <a:rPr lang="en-US" sz="2500" dirty="0"/>
              <a:t>Foreign policy evolves over time in response to internal developments and changes in the global environment.</a:t>
            </a:r>
          </a:p>
          <a:p>
            <a:r>
              <a:rPr lang="en-US" sz="2500" dirty="0"/>
              <a:t>It reflects both long-term national goals and short-term tactical decisions taken by policymakers.</a:t>
            </a:r>
          </a:p>
          <a:p>
            <a:r>
              <a:rPr lang="en-US" sz="2500" dirty="0"/>
              <a:t>In Pakistan’s case, foreign policy has historically been security-oriented but is now shifting toward economic priorities.</a:t>
            </a:r>
          </a:p>
        </p:txBody>
      </p:sp>
    </p:spTree>
    <p:extLst>
      <p:ext uri="{BB962C8B-B14F-4D97-AF65-F5344CB8AC3E}">
        <p14:creationId xmlns:p14="http://schemas.microsoft.com/office/powerpoint/2010/main" val="62896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FB7A8-8293-453A-BF9D-9533AAA29248}"/>
              </a:ext>
            </a:extLst>
          </p:cNvPr>
          <p:cNvSpPr>
            <a:spLocks noGrp="1"/>
          </p:cNvSpPr>
          <p:nvPr>
            <p:ph type="title"/>
          </p:nvPr>
        </p:nvSpPr>
        <p:spPr/>
        <p:txBody>
          <a:bodyPr>
            <a:noAutofit/>
          </a:bodyPr>
          <a:lstStyle/>
          <a:p>
            <a:pPr algn="ctr"/>
            <a:r>
              <a:rPr lang="en-US" sz="5000" b="1" dirty="0"/>
              <a:t>Understanding International Relations</a:t>
            </a:r>
          </a:p>
        </p:txBody>
      </p:sp>
      <p:sp>
        <p:nvSpPr>
          <p:cNvPr id="3" name="Content Placeholder 2">
            <a:extLst>
              <a:ext uri="{FF2B5EF4-FFF2-40B4-BE49-F238E27FC236}">
                <a16:creationId xmlns:a16="http://schemas.microsoft.com/office/drawing/2014/main" id="{3F9717D5-FC85-4A91-B717-56CCE26746CE}"/>
              </a:ext>
            </a:extLst>
          </p:cNvPr>
          <p:cNvSpPr>
            <a:spLocks noGrp="1"/>
          </p:cNvSpPr>
          <p:nvPr>
            <p:ph idx="1"/>
          </p:nvPr>
        </p:nvSpPr>
        <p:spPr/>
        <p:txBody>
          <a:bodyPr>
            <a:noAutofit/>
          </a:bodyPr>
          <a:lstStyle/>
          <a:p>
            <a:r>
              <a:rPr lang="en-US" sz="2500" dirty="0"/>
              <a:t>International Relations is an academic discipline that studies interactions among states, international organizations, and non-state actors.</a:t>
            </a:r>
          </a:p>
          <a:p>
            <a:r>
              <a:rPr lang="en-US" sz="2500" dirty="0"/>
              <a:t>It encompasses political, economic, cultural, and strategic dimensions of global interactions.</a:t>
            </a:r>
          </a:p>
          <a:p>
            <a:r>
              <a:rPr lang="en-US" sz="2500" dirty="0"/>
              <a:t>IR includes theories such as realism, liberalism, and constructivism to explain global behavior.</a:t>
            </a:r>
          </a:p>
          <a:p>
            <a:r>
              <a:rPr lang="en-US" sz="2500" dirty="0"/>
              <a:t>It examines issues like war, peace, trade, diplomacy, and globalization.</a:t>
            </a:r>
          </a:p>
          <a:p>
            <a:r>
              <a:rPr lang="en-US" sz="2500" dirty="0"/>
              <a:t>It also studies emerging trends such as economic interdependence and multilateral cooperation.</a:t>
            </a:r>
          </a:p>
          <a:p>
            <a:r>
              <a:rPr lang="en-US" sz="2500" dirty="0"/>
              <a:t>IR provides the theoretical foundation for understanding foreign policy decisions of states.</a:t>
            </a:r>
          </a:p>
        </p:txBody>
      </p:sp>
    </p:spTree>
    <p:extLst>
      <p:ext uri="{BB962C8B-B14F-4D97-AF65-F5344CB8AC3E}">
        <p14:creationId xmlns:p14="http://schemas.microsoft.com/office/powerpoint/2010/main" val="2592189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E660A-64C6-4250-B0F5-AC73446F549B}"/>
              </a:ext>
            </a:extLst>
          </p:cNvPr>
          <p:cNvSpPr>
            <a:spLocks noGrp="1"/>
          </p:cNvSpPr>
          <p:nvPr>
            <p:ph type="title"/>
          </p:nvPr>
        </p:nvSpPr>
        <p:spPr/>
        <p:txBody>
          <a:bodyPr>
            <a:normAutofit/>
          </a:bodyPr>
          <a:lstStyle/>
          <a:p>
            <a:pPr algn="ctr"/>
            <a:r>
              <a:rPr lang="en-US" sz="5000" b="1" dirty="0"/>
              <a:t>Understanding Foreign Relations</a:t>
            </a:r>
          </a:p>
        </p:txBody>
      </p:sp>
      <p:sp>
        <p:nvSpPr>
          <p:cNvPr id="3" name="Content Placeholder 2">
            <a:extLst>
              <a:ext uri="{FF2B5EF4-FFF2-40B4-BE49-F238E27FC236}">
                <a16:creationId xmlns:a16="http://schemas.microsoft.com/office/drawing/2014/main" id="{C320A79E-1508-4157-9134-1E85A8C3A326}"/>
              </a:ext>
            </a:extLst>
          </p:cNvPr>
          <p:cNvSpPr>
            <a:spLocks noGrp="1"/>
          </p:cNvSpPr>
          <p:nvPr>
            <p:ph idx="1"/>
          </p:nvPr>
        </p:nvSpPr>
        <p:spPr/>
        <p:txBody>
          <a:bodyPr>
            <a:normAutofit/>
          </a:bodyPr>
          <a:lstStyle/>
          <a:p>
            <a:r>
              <a:rPr lang="en-US" sz="2500" dirty="0"/>
              <a:t>Foreign relations refer to the actual interactions and dealings between states in the international system.</a:t>
            </a:r>
          </a:p>
          <a:p>
            <a:r>
              <a:rPr lang="en-US" sz="2500" dirty="0"/>
              <a:t>These include diplomatic ties, trade agreements, treaties, and alliances.</a:t>
            </a:r>
          </a:p>
          <a:p>
            <a:r>
              <a:rPr lang="en-US" sz="2500" dirty="0"/>
              <a:t>Foreign relations are the practical implementation of a country’s foreign policy.</a:t>
            </a:r>
          </a:p>
          <a:p>
            <a:r>
              <a:rPr lang="en-US" sz="2500" dirty="0"/>
              <a:t>They involve embassies, negotiations, and participation in international organizations.</a:t>
            </a:r>
          </a:p>
          <a:p>
            <a:r>
              <a:rPr lang="en-US" sz="2500" dirty="0"/>
              <a:t>Positive foreign relations enhance cooperation, trade, and peace among nations.</a:t>
            </a:r>
          </a:p>
          <a:p>
            <a:r>
              <a:rPr lang="en-US" sz="2500" dirty="0"/>
              <a:t>Poor foreign relations can lead to isolation, conflict, or economic challenges.</a:t>
            </a:r>
          </a:p>
        </p:txBody>
      </p:sp>
    </p:spTree>
    <p:extLst>
      <p:ext uri="{BB962C8B-B14F-4D97-AF65-F5344CB8AC3E}">
        <p14:creationId xmlns:p14="http://schemas.microsoft.com/office/powerpoint/2010/main" val="3788865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21959-FEE7-41FD-AD93-B5084CCA8348}"/>
              </a:ext>
            </a:extLst>
          </p:cNvPr>
          <p:cNvSpPr>
            <a:spLocks noGrp="1"/>
          </p:cNvSpPr>
          <p:nvPr>
            <p:ph type="title"/>
          </p:nvPr>
        </p:nvSpPr>
        <p:spPr/>
        <p:txBody>
          <a:bodyPr>
            <a:normAutofit/>
          </a:bodyPr>
          <a:lstStyle/>
          <a:p>
            <a:pPr algn="ctr"/>
            <a:r>
              <a:rPr lang="en-US" sz="5000" b="1" dirty="0"/>
              <a:t>Understanding Foreign Policy</a:t>
            </a:r>
          </a:p>
        </p:txBody>
      </p:sp>
      <p:sp>
        <p:nvSpPr>
          <p:cNvPr id="3" name="Content Placeholder 2">
            <a:extLst>
              <a:ext uri="{FF2B5EF4-FFF2-40B4-BE49-F238E27FC236}">
                <a16:creationId xmlns:a16="http://schemas.microsoft.com/office/drawing/2014/main" id="{719F6147-F953-4C1A-BD93-582DC6847481}"/>
              </a:ext>
            </a:extLst>
          </p:cNvPr>
          <p:cNvSpPr>
            <a:spLocks noGrp="1"/>
          </p:cNvSpPr>
          <p:nvPr>
            <p:ph idx="1"/>
          </p:nvPr>
        </p:nvSpPr>
        <p:spPr/>
        <p:txBody>
          <a:bodyPr>
            <a:normAutofit/>
          </a:bodyPr>
          <a:lstStyle/>
          <a:p>
            <a:r>
              <a:rPr lang="en-US" sz="2500" dirty="0"/>
              <a:t>Foreign policy is the strategic plan formulated by a state to achieve its national interests internationally.</a:t>
            </a:r>
          </a:p>
          <a:p>
            <a:r>
              <a:rPr lang="en-US" sz="2500" dirty="0"/>
              <a:t>It determines how a country behaves toward other states and global institutions.</a:t>
            </a:r>
          </a:p>
          <a:p>
            <a:r>
              <a:rPr lang="en-US" sz="2500" dirty="0"/>
              <a:t>It includes decisions related to diplomacy, trade, defense, and alliances.</a:t>
            </a:r>
          </a:p>
          <a:p>
            <a:r>
              <a:rPr lang="en-US" sz="2500" dirty="0"/>
              <a:t>Foreign policy is influenced by both internal and external factors.</a:t>
            </a:r>
          </a:p>
          <a:p>
            <a:r>
              <a:rPr lang="en-US" sz="2500" dirty="0"/>
              <a:t>It acts as a guiding framework for all foreign relations activities.</a:t>
            </a:r>
          </a:p>
          <a:p>
            <a:r>
              <a:rPr lang="en-US" sz="2500" dirty="0"/>
              <a:t>Effective foreign policy ensures national security, economic growth, and global recognition.</a:t>
            </a:r>
          </a:p>
        </p:txBody>
      </p:sp>
    </p:spTree>
    <p:extLst>
      <p:ext uri="{BB962C8B-B14F-4D97-AF65-F5344CB8AC3E}">
        <p14:creationId xmlns:p14="http://schemas.microsoft.com/office/powerpoint/2010/main" val="245733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5857C-E839-4F70-A414-6E78016396C9}"/>
              </a:ext>
            </a:extLst>
          </p:cNvPr>
          <p:cNvSpPr>
            <a:spLocks noGrp="1"/>
          </p:cNvSpPr>
          <p:nvPr>
            <p:ph type="title"/>
          </p:nvPr>
        </p:nvSpPr>
        <p:spPr/>
        <p:txBody>
          <a:bodyPr>
            <a:noAutofit/>
          </a:bodyPr>
          <a:lstStyle/>
          <a:p>
            <a:pPr algn="ctr"/>
            <a:r>
              <a:rPr lang="en-US" sz="5000" b="1" dirty="0"/>
              <a:t>Key Differences </a:t>
            </a:r>
            <a:br>
              <a:rPr lang="en-US" sz="5000" b="1" dirty="0"/>
            </a:br>
            <a:r>
              <a:rPr lang="en-US" sz="5000" b="1" dirty="0"/>
              <a:t>(IR vs Foreign Relations vs Foreign Policy)</a:t>
            </a:r>
          </a:p>
        </p:txBody>
      </p:sp>
      <p:sp>
        <p:nvSpPr>
          <p:cNvPr id="3" name="Content Placeholder 2">
            <a:extLst>
              <a:ext uri="{FF2B5EF4-FFF2-40B4-BE49-F238E27FC236}">
                <a16:creationId xmlns:a16="http://schemas.microsoft.com/office/drawing/2014/main" id="{F63F4635-51B9-407B-9CEE-7A67CB3B9CF2}"/>
              </a:ext>
            </a:extLst>
          </p:cNvPr>
          <p:cNvSpPr>
            <a:spLocks noGrp="1"/>
          </p:cNvSpPr>
          <p:nvPr>
            <p:ph idx="1"/>
          </p:nvPr>
        </p:nvSpPr>
        <p:spPr/>
        <p:txBody>
          <a:bodyPr>
            <a:normAutofit/>
          </a:bodyPr>
          <a:lstStyle/>
          <a:p>
            <a:r>
              <a:rPr lang="en-US" sz="2500" dirty="0"/>
              <a:t>International Relations is theoretical and academic, while foreign relations are practical interactions.</a:t>
            </a:r>
          </a:p>
          <a:p>
            <a:r>
              <a:rPr lang="en-US" sz="2500" dirty="0"/>
              <a:t>Foreign policy is the guiding framework that shapes foreign relations.</a:t>
            </a:r>
          </a:p>
          <a:p>
            <a:r>
              <a:rPr lang="en-US" sz="2500" dirty="0"/>
              <a:t>IR studies global systems, whereas foreign policy focuses on one country’s strategy.</a:t>
            </a:r>
          </a:p>
          <a:p>
            <a:r>
              <a:rPr lang="en-US" sz="2500" dirty="0"/>
              <a:t>Foreign relations are outcomes, while foreign policy is the decision-making process.</a:t>
            </a:r>
          </a:p>
          <a:p>
            <a:r>
              <a:rPr lang="en-US" sz="2500" dirty="0"/>
              <a:t>IR includes non-state actors, while foreign policy is state-centric.</a:t>
            </a:r>
          </a:p>
          <a:p>
            <a:r>
              <a:rPr lang="en-US" sz="2500" dirty="0"/>
              <a:t>All three are interconnected but serve different purposes in global politics.</a:t>
            </a:r>
          </a:p>
        </p:txBody>
      </p:sp>
    </p:spTree>
    <p:extLst>
      <p:ext uri="{BB962C8B-B14F-4D97-AF65-F5344CB8AC3E}">
        <p14:creationId xmlns:p14="http://schemas.microsoft.com/office/powerpoint/2010/main" val="1952944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3EF49-5912-4FFB-9192-2E5C97416C61}"/>
              </a:ext>
            </a:extLst>
          </p:cNvPr>
          <p:cNvSpPr>
            <a:spLocks noGrp="1"/>
          </p:cNvSpPr>
          <p:nvPr>
            <p:ph type="title"/>
          </p:nvPr>
        </p:nvSpPr>
        <p:spPr/>
        <p:txBody>
          <a:bodyPr>
            <a:normAutofit/>
          </a:bodyPr>
          <a:lstStyle/>
          <a:p>
            <a:pPr algn="ctr"/>
            <a:r>
              <a:rPr lang="en-US" sz="5000" b="1" dirty="0"/>
              <a:t>Objectives of Pakistan’s Foreign Policy</a:t>
            </a:r>
          </a:p>
        </p:txBody>
      </p:sp>
      <p:sp>
        <p:nvSpPr>
          <p:cNvPr id="3" name="Content Placeholder 2">
            <a:extLst>
              <a:ext uri="{FF2B5EF4-FFF2-40B4-BE49-F238E27FC236}">
                <a16:creationId xmlns:a16="http://schemas.microsoft.com/office/drawing/2014/main" id="{7D2F7134-5960-4847-A5F5-5B90F31FFD13}"/>
              </a:ext>
            </a:extLst>
          </p:cNvPr>
          <p:cNvSpPr>
            <a:spLocks noGrp="1"/>
          </p:cNvSpPr>
          <p:nvPr>
            <p:ph idx="1"/>
          </p:nvPr>
        </p:nvSpPr>
        <p:spPr/>
        <p:txBody>
          <a:bodyPr>
            <a:normAutofit/>
          </a:bodyPr>
          <a:lstStyle/>
          <a:p>
            <a:r>
              <a:rPr lang="en-US" sz="2500" dirty="0"/>
              <a:t>The primary objective is to ensure national security and territorial integrity.</a:t>
            </a:r>
          </a:p>
          <a:p>
            <a:r>
              <a:rPr lang="en-US" sz="2500" dirty="0"/>
              <a:t>Pakistan aims to maintain sovereignty and independence in global decision-making.</a:t>
            </a:r>
          </a:p>
          <a:p>
            <a:r>
              <a:rPr lang="en-US" sz="2500" dirty="0"/>
              <a:t>Economic development has become a central objective in recent years.</a:t>
            </a:r>
          </a:p>
          <a:p>
            <a:r>
              <a:rPr lang="en-US" sz="2500" dirty="0"/>
              <a:t>Promotion of peace and stability in the region is a key goal.</a:t>
            </a:r>
          </a:p>
          <a:p>
            <a:r>
              <a:rPr lang="en-US" sz="2500" dirty="0"/>
              <a:t>Strengthening relations with Muslim countries reflects ideological commitments.</a:t>
            </a:r>
          </a:p>
          <a:p>
            <a:r>
              <a:rPr lang="en-US" sz="2500" dirty="0"/>
              <a:t>Supporting self-determination movements aligns with Pakistan’s historical stance.</a:t>
            </a:r>
          </a:p>
        </p:txBody>
      </p:sp>
    </p:spTree>
    <p:extLst>
      <p:ext uri="{BB962C8B-B14F-4D97-AF65-F5344CB8AC3E}">
        <p14:creationId xmlns:p14="http://schemas.microsoft.com/office/powerpoint/2010/main" val="509132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157D-898C-4581-9371-B4AD10609FDF}"/>
              </a:ext>
            </a:extLst>
          </p:cNvPr>
          <p:cNvSpPr>
            <a:spLocks noGrp="1"/>
          </p:cNvSpPr>
          <p:nvPr>
            <p:ph type="title"/>
          </p:nvPr>
        </p:nvSpPr>
        <p:spPr/>
        <p:txBody>
          <a:bodyPr>
            <a:normAutofit/>
          </a:bodyPr>
          <a:lstStyle/>
          <a:p>
            <a:pPr algn="ctr"/>
            <a:r>
              <a:rPr lang="en-US" sz="5000" b="1" dirty="0"/>
              <a:t>Economic Objectives of Foreign Policy</a:t>
            </a:r>
          </a:p>
        </p:txBody>
      </p:sp>
      <p:sp>
        <p:nvSpPr>
          <p:cNvPr id="3" name="Content Placeholder 2">
            <a:extLst>
              <a:ext uri="{FF2B5EF4-FFF2-40B4-BE49-F238E27FC236}">
                <a16:creationId xmlns:a16="http://schemas.microsoft.com/office/drawing/2014/main" id="{77AEDD4E-369D-4C83-881C-1593FB8B5A60}"/>
              </a:ext>
            </a:extLst>
          </p:cNvPr>
          <p:cNvSpPr>
            <a:spLocks noGrp="1"/>
          </p:cNvSpPr>
          <p:nvPr>
            <p:ph idx="1"/>
          </p:nvPr>
        </p:nvSpPr>
        <p:spPr/>
        <p:txBody>
          <a:bodyPr>
            <a:normAutofit/>
          </a:bodyPr>
          <a:lstStyle/>
          <a:p>
            <a:r>
              <a:rPr lang="en-US" sz="2500" dirty="0"/>
              <a:t>Economic growth is essential for national power and global influence.</a:t>
            </a:r>
          </a:p>
          <a:p>
            <a:r>
              <a:rPr lang="en-US" sz="2500" dirty="0"/>
              <a:t>Pakistan seeks foreign investment, trade partnerships, and economic cooperation.</a:t>
            </a:r>
          </a:p>
          <a:p>
            <a:r>
              <a:rPr lang="en-US" sz="2500" dirty="0"/>
              <a:t>Initiatives like CPEC aim to boost infrastructure and connectivity.</a:t>
            </a:r>
          </a:p>
          <a:p>
            <a:r>
              <a:rPr lang="en-US" sz="2500" dirty="0"/>
              <a:t>Trade diversification helps reduce dependence on limited markets.</a:t>
            </a:r>
          </a:p>
          <a:p>
            <a:r>
              <a:rPr lang="en-US" sz="2500" dirty="0"/>
              <a:t>Economic diplomacy is increasingly replacing military-centric approaches.</a:t>
            </a:r>
          </a:p>
          <a:p>
            <a:r>
              <a:rPr lang="en-US" sz="2500" dirty="0"/>
              <a:t>Financial stability is necessary to sustain long-term foreign policy goals.</a:t>
            </a:r>
          </a:p>
        </p:txBody>
      </p:sp>
    </p:spTree>
    <p:extLst>
      <p:ext uri="{BB962C8B-B14F-4D97-AF65-F5344CB8AC3E}">
        <p14:creationId xmlns:p14="http://schemas.microsoft.com/office/powerpoint/2010/main" val="284131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C506-0FF7-487A-9D3F-2A04B057101F}"/>
              </a:ext>
            </a:extLst>
          </p:cNvPr>
          <p:cNvSpPr>
            <a:spLocks noGrp="1"/>
          </p:cNvSpPr>
          <p:nvPr>
            <p:ph type="title"/>
          </p:nvPr>
        </p:nvSpPr>
        <p:spPr/>
        <p:txBody>
          <a:bodyPr>
            <a:normAutofit/>
          </a:bodyPr>
          <a:lstStyle/>
          <a:p>
            <a:pPr algn="ctr"/>
            <a:r>
              <a:rPr lang="en-US" sz="5000" b="1" dirty="0"/>
              <a:t>Ideological &amp; Political Objectives</a:t>
            </a:r>
          </a:p>
        </p:txBody>
      </p:sp>
      <p:sp>
        <p:nvSpPr>
          <p:cNvPr id="3" name="Content Placeholder 2">
            <a:extLst>
              <a:ext uri="{FF2B5EF4-FFF2-40B4-BE49-F238E27FC236}">
                <a16:creationId xmlns:a16="http://schemas.microsoft.com/office/drawing/2014/main" id="{A6C9688D-4409-4F51-AF40-9884F880B714}"/>
              </a:ext>
            </a:extLst>
          </p:cNvPr>
          <p:cNvSpPr>
            <a:spLocks noGrp="1"/>
          </p:cNvSpPr>
          <p:nvPr>
            <p:ph idx="1"/>
          </p:nvPr>
        </p:nvSpPr>
        <p:spPr/>
        <p:txBody>
          <a:bodyPr>
            <a:normAutofit/>
          </a:bodyPr>
          <a:lstStyle/>
          <a:p>
            <a:r>
              <a:rPr lang="en-US" sz="2500" dirty="0"/>
              <a:t>Pakistan’s ideology is rooted in Islam, influencing its foreign relations.</a:t>
            </a:r>
          </a:p>
          <a:p>
            <a:r>
              <a:rPr lang="en-US" sz="2500" dirty="0"/>
              <a:t>The country seeks unity and cooperation among Muslim nations.</a:t>
            </a:r>
          </a:p>
          <a:p>
            <a:r>
              <a:rPr lang="en-US" sz="2500" dirty="0"/>
              <a:t>It supports causes like Kashmir and Palestine on moral and political grounds.</a:t>
            </a:r>
          </a:p>
          <a:p>
            <a:r>
              <a:rPr lang="en-US" sz="2500" dirty="0"/>
              <a:t>Political independence is a key objective to avoid external domination.</a:t>
            </a:r>
          </a:p>
          <a:p>
            <a:r>
              <a:rPr lang="en-US" sz="2500" dirty="0"/>
              <a:t>Maintaining a positive international image is crucial for diplomacy.</a:t>
            </a:r>
          </a:p>
          <a:p>
            <a:r>
              <a:rPr lang="en-US" sz="2500" dirty="0"/>
              <a:t>Pakistan participates in international organizations to strengthen its voice globally.</a:t>
            </a:r>
          </a:p>
        </p:txBody>
      </p:sp>
    </p:spTree>
    <p:extLst>
      <p:ext uri="{BB962C8B-B14F-4D97-AF65-F5344CB8AC3E}">
        <p14:creationId xmlns:p14="http://schemas.microsoft.com/office/powerpoint/2010/main" val="761106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D3885-0FF0-4288-BED7-5BA659482BE6}"/>
              </a:ext>
            </a:extLst>
          </p:cNvPr>
          <p:cNvSpPr>
            <a:spLocks noGrp="1"/>
          </p:cNvSpPr>
          <p:nvPr>
            <p:ph type="title"/>
          </p:nvPr>
        </p:nvSpPr>
        <p:spPr/>
        <p:txBody>
          <a:bodyPr>
            <a:normAutofit/>
          </a:bodyPr>
          <a:lstStyle/>
          <a:p>
            <a:pPr algn="ctr"/>
            <a:r>
              <a:rPr lang="en-US" sz="5000" b="1" dirty="0"/>
              <a:t>Internal Determinants of Foreign Policy</a:t>
            </a:r>
          </a:p>
        </p:txBody>
      </p:sp>
      <p:sp>
        <p:nvSpPr>
          <p:cNvPr id="3" name="Content Placeholder 2">
            <a:extLst>
              <a:ext uri="{FF2B5EF4-FFF2-40B4-BE49-F238E27FC236}">
                <a16:creationId xmlns:a16="http://schemas.microsoft.com/office/drawing/2014/main" id="{4289E174-7ADE-4B9E-86D2-66D80AC57155}"/>
              </a:ext>
            </a:extLst>
          </p:cNvPr>
          <p:cNvSpPr>
            <a:spLocks noGrp="1"/>
          </p:cNvSpPr>
          <p:nvPr>
            <p:ph idx="1"/>
          </p:nvPr>
        </p:nvSpPr>
        <p:spPr/>
        <p:txBody>
          <a:bodyPr>
            <a:normAutofit/>
          </a:bodyPr>
          <a:lstStyle/>
          <a:p>
            <a:r>
              <a:rPr lang="en-US" sz="2500" dirty="0"/>
              <a:t>Geography plays a major role due to Pakistan’s strategic location.</a:t>
            </a:r>
          </a:p>
          <a:p>
            <a:r>
              <a:rPr lang="en-US" sz="2500" dirty="0"/>
              <a:t>Economic conditions influence the need for external partnerships.</a:t>
            </a:r>
          </a:p>
          <a:p>
            <a:r>
              <a:rPr lang="en-US" sz="2500" dirty="0"/>
              <a:t>Political stability affects consistency in foreign policy decisions.</a:t>
            </a:r>
          </a:p>
          <a:p>
            <a:r>
              <a:rPr lang="en-US" sz="2500" dirty="0"/>
              <a:t>Leadership and government priorities shape policy direction.</a:t>
            </a:r>
          </a:p>
          <a:p>
            <a:r>
              <a:rPr lang="en-US" sz="2500" dirty="0"/>
              <a:t>Ideology influences relations with Muslim countries.</a:t>
            </a:r>
          </a:p>
          <a:p>
            <a:r>
              <a:rPr lang="en-US" sz="2500" dirty="0"/>
              <a:t>Public opinion and societal values also impact foreign policy choices.</a:t>
            </a:r>
          </a:p>
        </p:txBody>
      </p:sp>
    </p:spTree>
    <p:extLst>
      <p:ext uri="{BB962C8B-B14F-4D97-AF65-F5344CB8AC3E}">
        <p14:creationId xmlns:p14="http://schemas.microsoft.com/office/powerpoint/2010/main" val="23800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6230D-7D3F-469B-BC6B-39D58AFBB008}"/>
              </a:ext>
            </a:extLst>
          </p:cNvPr>
          <p:cNvSpPr>
            <a:spLocks noGrp="1"/>
          </p:cNvSpPr>
          <p:nvPr>
            <p:ph type="title"/>
          </p:nvPr>
        </p:nvSpPr>
        <p:spPr/>
        <p:txBody>
          <a:bodyPr>
            <a:normAutofit/>
          </a:bodyPr>
          <a:lstStyle/>
          <a:p>
            <a:pPr algn="ctr"/>
            <a:r>
              <a:rPr lang="en-US" sz="5000" b="1" dirty="0"/>
              <a:t>External Determinants of Foreign Policy</a:t>
            </a:r>
          </a:p>
        </p:txBody>
      </p:sp>
      <p:sp>
        <p:nvSpPr>
          <p:cNvPr id="3" name="Content Placeholder 2">
            <a:extLst>
              <a:ext uri="{FF2B5EF4-FFF2-40B4-BE49-F238E27FC236}">
                <a16:creationId xmlns:a16="http://schemas.microsoft.com/office/drawing/2014/main" id="{48E14782-D6B2-49DF-80CD-D4A4E9F3513C}"/>
              </a:ext>
            </a:extLst>
          </p:cNvPr>
          <p:cNvSpPr>
            <a:spLocks noGrp="1"/>
          </p:cNvSpPr>
          <p:nvPr>
            <p:ph idx="1"/>
          </p:nvPr>
        </p:nvSpPr>
        <p:spPr/>
        <p:txBody>
          <a:bodyPr>
            <a:normAutofit/>
          </a:bodyPr>
          <a:lstStyle/>
          <a:p>
            <a:r>
              <a:rPr lang="en-US" sz="2500" dirty="0"/>
              <a:t>Regional dynamics, especially relations with India and Afghanistan, are crucial.</a:t>
            </a:r>
          </a:p>
          <a:p>
            <a:r>
              <a:rPr lang="en-US" sz="2500" dirty="0"/>
              <a:t>Global power competition influences Pakistan’s alliances and strategies.</a:t>
            </a:r>
          </a:p>
          <a:p>
            <a:r>
              <a:rPr lang="en-US" sz="2500" dirty="0"/>
              <a:t>International organizations affect policy through rules and conditions.</a:t>
            </a:r>
          </a:p>
          <a:p>
            <a:r>
              <a:rPr lang="en-US" sz="2500" dirty="0"/>
              <a:t>Economic globalization increases dependence on global markets.</a:t>
            </a:r>
          </a:p>
          <a:p>
            <a:r>
              <a:rPr lang="en-US" sz="2500" dirty="0"/>
              <a:t>Security threats like terrorism shape foreign policy priorities.</a:t>
            </a:r>
          </a:p>
          <a:p>
            <a:r>
              <a:rPr lang="en-US" sz="2500" dirty="0"/>
              <a:t>Geopolitical pressures require balancing relations with major powers.</a:t>
            </a:r>
          </a:p>
        </p:txBody>
      </p:sp>
    </p:spTree>
    <p:extLst>
      <p:ext uri="{BB962C8B-B14F-4D97-AF65-F5344CB8AC3E}">
        <p14:creationId xmlns:p14="http://schemas.microsoft.com/office/powerpoint/2010/main" val="3434442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5E6C862F-479E-550B-14BC-E781C8B291DA}"/>
              </a:ext>
            </a:extLst>
          </p:cNvPr>
          <p:cNvSpPr>
            <a:spLocks noGrp="1"/>
          </p:cNvSpPr>
          <p:nvPr>
            <p:ph type="title"/>
          </p:nvPr>
        </p:nvSpPr>
        <p:spPr>
          <a:xfrm>
            <a:off x="1952625" y="642939"/>
            <a:ext cx="8229600" cy="776287"/>
          </a:xfrm>
        </p:spPr>
        <p:txBody>
          <a:bodyPr>
            <a:noAutofit/>
          </a:bodyPr>
          <a:lstStyle/>
          <a:p>
            <a:pPr algn="ctr"/>
            <a:r>
              <a:rPr lang="en-US" altLang="en-US" sz="5000" b="1" dirty="0"/>
              <a:t>Pakistan’s Foreign Policy</a:t>
            </a:r>
          </a:p>
        </p:txBody>
      </p:sp>
      <p:sp>
        <p:nvSpPr>
          <p:cNvPr id="6147" name="Content Placeholder 2">
            <a:extLst>
              <a:ext uri="{FF2B5EF4-FFF2-40B4-BE49-F238E27FC236}">
                <a16:creationId xmlns:a16="http://schemas.microsoft.com/office/drawing/2014/main" id="{D3397052-0277-ACD7-065D-0B7A429FED78}"/>
              </a:ext>
            </a:extLst>
          </p:cNvPr>
          <p:cNvSpPr>
            <a:spLocks noGrp="1"/>
          </p:cNvSpPr>
          <p:nvPr>
            <p:ph idx="1"/>
          </p:nvPr>
        </p:nvSpPr>
        <p:spPr>
          <a:xfrm>
            <a:off x="838200" y="1419226"/>
            <a:ext cx="10515600" cy="4351338"/>
          </a:xfrm>
        </p:spPr>
        <p:txBody>
          <a:bodyPr>
            <a:noAutofit/>
          </a:bodyPr>
          <a:lstStyle/>
          <a:p>
            <a:pPr>
              <a:lnSpc>
                <a:spcPct val="100000"/>
              </a:lnSpc>
            </a:pPr>
            <a:r>
              <a:rPr lang="en-US" altLang="en-US" sz="2500" dirty="0"/>
              <a:t>Pakistan’s Foreign Policy seeks to protect, promote and advance Pakistan’s national interests in the external domain.</a:t>
            </a:r>
          </a:p>
          <a:p>
            <a:pPr>
              <a:lnSpc>
                <a:spcPct val="100000"/>
              </a:lnSpc>
            </a:pPr>
            <a:r>
              <a:rPr lang="en-US" altLang="en-US" sz="2500" dirty="0"/>
              <a:t>The Foreign Ministry contributes towards safeguarding Pakistan’s security and advancing Pakistan’s development agenda for progress and prosperity following the guiding principles laid out by our founding fathers.</a:t>
            </a:r>
          </a:p>
          <a:p>
            <a:pPr algn="just">
              <a:lnSpc>
                <a:spcPct val="100000"/>
              </a:lnSpc>
              <a:defRPr/>
            </a:pPr>
            <a:r>
              <a:rPr lang="en-US" sz="2500" dirty="0"/>
              <a:t>The Constitution of Pakistan also lays down guidelines for the conduct of foreign policy of the country. Article 40 of the constitution provides that:</a:t>
            </a:r>
          </a:p>
          <a:p>
            <a:pPr marL="0" indent="0" algn="ctr">
              <a:lnSpc>
                <a:spcPct val="100000"/>
              </a:lnSpc>
              <a:buNone/>
              <a:defRPr/>
            </a:pPr>
            <a:r>
              <a:rPr lang="en-US" sz="2500" i="1" dirty="0"/>
              <a:t>“The State shall </a:t>
            </a:r>
            <a:r>
              <a:rPr lang="en-US" sz="2500" i="1" dirty="0" err="1"/>
              <a:t>endeavour</a:t>
            </a:r>
            <a:r>
              <a:rPr lang="en-US" sz="2500" i="1" dirty="0"/>
              <a:t> to preserve and strengthen fraternal relations among Muslim countries based on Islamic unity, support the common interests of the peoples of Asia, Africa and Latin America, promote international peace and security, foster goodwill and friendly relations among all nations and encourage the settlement of international disputes by peaceful means.”</a:t>
            </a:r>
          </a:p>
          <a:p>
            <a:pPr>
              <a:lnSpc>
                <a:spcPct val="100000"/>
              </a:lnSpc>
            </a:pPr>
            <a:endParaRPr lang="en-US" altLang="en-US" sz="2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075B3-59FE-0D81-5029-A91F6B092923}"/>
              </a:ext>
            </a:extLst>
          </p:cNvPr>
          <p:cNvSpPr>
            <a:spLocks noGrp="1"/>
          </p:cNvSpPr>
          <p:nvPr>
            <p:ph type="title"/>
          </p:nvPr>
        </p:nvSpPr>
        <p:spPr>
          <a:xfrm>
            <a:off x="342472" y="447253"/>
            <a:ext cx="11507056" cy="1325563"/>
          </a:xfrm>
        </p:spPr>
        <p:txBody>
          <a:bodyPr>
            <a:noAutofit/>
          </a:bodyPr>
          <a:lstStyle/>
          <a:p>
            <a:pPr algn="ctr">
              <a:defRPr/>
            </a:pPr>
            <a:r>
              <a:rPr lang="en-US" altLang="en-US" sz="5000" b="1" dirty="0"/>
              <a:t>Guiding Principles of Pakistan’s Foreign Policy</a:t>
            </a:r>
            <a:endParaRPr lang="en-US" sz="5000" b="1" dirty="0"/>
          </a:p>
        </p:txBody>
      </p:sp>
      <p:sp>
        <p:nvSpPr>
          <p:cNvPr id="9219" name="Content Placeholder 2">
            <a:extLst>
              <a:ext uri="{FF2B5EF4-FFF2-40B4-BE49-F238E27FC236}">
                <a16:creationId xmlns:a16="http://schemas.microsoft.com/office/drawing/2014/main" id="{A9DEF037-1F86-BF75-5921-B2C1DB048B40}"/>
              </a:ext>
            </a:extLst>
          </p:cNvPr>
          <p:cNvSpPr>
            <a:spLocks noGrp="1"/>
          </p:cNvSpPr>
          <p:nvPr>
            <p:ph idx="1"/>
          </p:nvPr>
        </p:nvSpPr>
        <p:spPr>
          <a:xfrm>
            <a:off x="1903394" y="1772816"/>
            <a:ext cx="8385211" cy="4351338"/>
          </a:xfrm>
        </p:spPr>
        <p:txBody>
          <a:bodyPr>
            <a:noAutofit/>
          </a:bodyPr>
          <a:lstStyle/>
          <a:p>
            <a:pPr marL="0" indent="0" algn="just">
              <a:lnSpc>
                <a:spcPct val="100000"/>
              </a:lnSpc>
              <a:buNone/>
            </a:pPr>
            <a:r>
              <a:rPr lang="en-US" sz="2500" dirty="0"/>
              <a:t>In a broadcast talk to the people of the USA in February 1948, Jinnah outlined the following:</a:t>
            </a:r>
          </a:p>
          <a:p>
            <a:pPr marL="0" indent="0" algn="ctr">
              <a:lnSpc>
                <a:spcPct val="100000"/>
              </a:lnSpc>
              <a:buNone/>
            </a:pPr>
            <a:r>
              <a:rPr lang="en-US" altLang="en-US" sz="2500" i="1" dirty="0"/>
              <a:t>“Our foreign policy is one of friendliness and goodwill towards the nations of the world. We do not cherish aggressive designs against any country or nation. We believe in the principle of honesty and fair-play in national and international dealings and are prepared to make our utmost contribution to the promotion of peace and prosperity among the nations of the world. Pakistan will never be found lacking in extending its material and moral support to the oppressed and suppressed peoples of the world, and in upholding the principles of the UN Charter.”</a:t>
            </a:r>
            <a:endParaRPr lang="en-US" altLang="en-US" sz="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949CD82-E319-A533-CEB0-6A5864F9E79E}"/>
              </a:ext>
            </a:extLst>
          </p:cNvPr>
          <p:cNvSpPr>
            <a:spLocks noGrp="1"/>
          </p:cNvSpPr>
          <p:nvPr>
            <p:ph type="title"/>
          </p:nvPr>
        </p:nvSpPr>
        <p:spPr>
          <a:xfrm>
            <a:off x="2095500" y="571500"/>
            <a:ext cx="8229600" cy="776288"/>
          </a:xfrm>
        </p:spPr>
        <p:txBody>
          <a:bodyPr>
            <a:noAutofit/>
          </a:bodyPr>
          <a:lstStyle/>
          <a:p>
            <a:pPr algn="ctr"/>
            <a:r>
              <a:rPr lang="en-US" altLang="en-US" sz="5000" b="1" dirty="0"/>
              <a:t>Foreign Policy Objectives</a:t>
            </a:r>
          </a:p>
        </p:txBody>
      </p:sp>
      <p:sp>
        <p:nvSpPr>
          <p:cNvPr id="3" name="Content Placeholder 2">
            <a:extLst>
              <a:ext uri="{FF2B5EF4-FFF2-40B4-BE49-F238E27FC236}">
                <a16:creationId xmlns:a16="http://schemas.microsoft.com/office/drawing/2014/main" id="{F76629C5-FE93-A85D-8D74-7860B6CAE659}"/>
              </a:ext>
            </a:extLst>
          </p:cNvPr>
          <p:cNvSpPr>
            <a:spLocks noGrp="1"/>
          </p:cNvSpPr>
          <p:nvPr>
            <p:ph idx="1"/>
          </p:nvPr>
        </p:nvSpPr>
        <p:spPr>
          <a:xfrm>
            <a:off x="1309099" y="1563545"/>
            <a:ext cx="9573802" cy="4927476"/>
          </a:xfrm>
        </p:spPr>
        <p:txBody>
          <a:bodyPr>
            <a:noAutofit/>
          </a:bodyPr>
          <a:lstStyle/>
          <a:p>
            <a:pPr eaLnBrk="0" fontAlgn="base" hangingPunct="0">
              <a:lnSpc>
                <a:spcPct val="100000"/>
              </a:lnSpc>
              <a:spcBef>
                <a:spcPct val="0"/>
              </a:spcBef>
              <a:spcAft>
                <a:spcPct val="0"/>
              </a:spcAft>
            </a:pPr>
            <a:r>
              <a:rPr lang="en-US" altLang="en-US" sz="2500" b="1" dirty="0"/>
              <a:t>Promote Pakistan’s image</a:t>
            </a:r>
            <a:r>
              <a:rPr lang="en-US" altLang="en-US" sz="2500" dirty="0"/>
              <a:t> as a dynamic, progressive, moderate, and democratic Islamic state in the international community.</a:t>
            </a:r>
          </a:p>
          <a:p>
            <a:pPr eaLnBrk="0" fontAlgn="base" hangingPunct="0">
              <a:lnSpc>
                <a:spcPct val="100000"/>
              </a:lnSpc>
              <a:spcBef>
                <a:spcPct val="0"/>
              </a:spcBef>
              <a:spcAft>
                <a:spcPct val="0"/>
              </a:spcAft>
            </a:pPr>
            <a:r>
              <a:rPr lang="en-US" altLang="en-US" sz="2500" b="1" dirty="0"/>
              <a:t>Foster friendly relations</a:t>
            </a:r>
            <a:r>
              <a:rPr lang="en-US" altLang="en-US" sz="2500" dirty="0"/>
              <a:t> with all countries, with particular emphasis on major powers and immediate </a:t>
            </a:r>
            <a:r>
              <a:rPr lang="en-US" altLang="en-US" sz="2500" dirty="0" err="1"/>
              <a:t>neighbours</a:t>
            </a:r>
            <a:r>
              <a:rPr lang="en-US" altLang="en-US" sz="2500" dirty="0"/>
              <a:t>.</a:t>
            </a:r>
          </a:p>
          <a:p>
            <a:pPr eaLnBrk="0" fontAlgn="base" hangingPunct="0">
              <a:lnSpc>
                <a:spcPct val="100000"/>
              </a:lnSpc>
              <a:spcBef>
                <a:spcPct val="0"/>
              </a:spcBef>
              <a:spcAft>
                <a:spcPct val="0"/>
              </a:spcAft>
            </a:pPr>
            <a:r>
              <a:rPr lang="en-US" altLang="en-US" sz="2500" b="1" dirty="0"/>
              <a:t>Safeguard national security and geo-strategic interests</a:t>
            </a:r>
            <a:r>
              <a:rPr lang="en-US" altLang="en-US" sz="2500" dirty="0"/>
              <a:t>, including the core issue of Jammu &amp; Kashmir.</a:t>
            </a:r>
          </a:p>
          <a:p>
            <a:pPr eaLnBrk="0" fontAlgn="base" hangingPunct="0">
              <a:lnSpc>
                <a:spcPct val="100000"/>
              </a:lnSpc>
              <a:spcBef>
                <a:spcPct val="0"/>
              </a:spcBef>
              <a:spcAft>
                <a:spcPct val="0"/>
              </a:spcAft>
            </a:pPr>
            <a:r>
              <a:rPr lang="en-US" altLang="en-US" sz="2500" b="1" dirty="0"/>
              <a:t>Strengthen commercial and economic cooperation</a:t>
            </a:r>
            <a:r>
              <a:rPr lang="en-US" altLang="en-US" sz="2500" dirty="0"/>
              <a:t> with the global community to support sustainable development.</a:t>
            </a:r>
          </a:p>
          <a:p>
            <a:pPr eaLnBrk="0" fontAlgn="base" hangingPunct="0">
              <a:lnSpc>
                <a:spcPct val="100000"/>
              </a:lnSpc>
              <a:spcBef>
                <a:spcPct val="0"/>
              </a:spcBef>
              <a:spcAft>
                <a:spcPct val="0"/>
              </a:spcAft>
            </a:pPr>
            <a:r>
              <a:rPr lang="en-US" altLang="en-US" sz="2500" b="1" dirty="0"/>
              <a:t>Protect and advance the interests of the Pakistani diaspora</a:t>
            </a:r>
            <a:r>
              <a:rPr lang="en-US" altLang="en-US" sz="2500" dirty="0"/>
              <a:t> and ensure their welfare abroad.</a:t>
            </a:r>
          </a:p>
          <a:p>
            <a:pPr eaLnBrk="0" fontAlgn="base" hangingPunct="0">
              <a:lnSpc>
                <a:spcPct val="100000"/>
              </a:lnSpc>
              <a:spcBef>
                <a:spcPct val="0"/>
              </a:spcBef>
              <a:spcAft>
                <a:spcPct val="0"/>
              </a:spcAft>
            </a:pPr>
            <a:r>
              <a:rPr lang="en-US" altLang="en-US" sz="2500" b="1" dirty="0"/>
              <a:t>Ensure efficient use of national resources</a:t>
            </a:r>
            <a:r>
              <a:rPr lang="en-US" altLang="en-US" sz="2500" dirty="0"/>
              <a:t> to enhance regional and international cooperation initiatives.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000" b="1" dirty="0"/>
              <a:t>Foreign Policy Factors</a:t>
            </a:r>
          </a:p>
        </p:txBody>
      </p:sp>
      <p:sp>
        <p:nvSpPr>
          <p:cNvPr id="3" name="Content Placeholder 2"/>
          <p:cNvSpPr>
            <a:spLocks noGrp="1"/>
          </p:cNvSpPr>
          <p:nvPr>
            <p:ph idx="1"/>
          </p:nvPr>
        </p:nvSpPr>
        <p:spPr>
          <a:xfrm>
            <a:off x="838200" y="1690688"/>
            <a:ext cx="10515600" cy="4351338"/>
          </a:xfrm>
        </p:spPr>
        <p:txBody>
          <a:bodyPr>
            <a:noAutofit/>
          </a:bodyPr>
          <a:lstStyle/>
          <a:p>
            <a:r>
              <a:rPr lang="en-US" sz="2500" dirty="0"/>
              <a:t>External Influences on Foreign Policy</a:t>
            </a:r>
          </a:p>
          <a:p>
            <a:pPr lvl="1"/>
            <a:r>
              <a:rPr lang="en-US" sz="2000" dirty="0"/>
              <a:t>States do not exist in isolation; every state operates within a broader global context, interacting continuously with other states and actors.</a:t>
            </a:r>
          </a:p>
          <a:p>
            <a:r>
              <a:rPr lang="en-US" sz="2500" dirty="0"/>
              <a:t>Influence of major powers</a:t>
            </a:r>
          </a:p>
          <a:p>
            <a:pPr lvl="1"/>
            <a:r>
              <a:rPr lang="en-US" sz="2000" dirty="0"/>
              <a:t>Strong states like the United States or China shape the behavior and policy choices of smaller or developing states.</a:t>
            </a:r>
          </a:p>
          <a:p>
            <a:r>
              <a:rPr lang="en-US" sz="2500" dirty="0"/>
              <a:t>Regional and geopolitical pressures</a:t>
            </a:r>
          </a:p>
          <a:p>
            <a:pPr lvl="1"/>
            <a:r>
              <a:rPr lang="en-US" sz="2000" dirty="0"/>
              <a:t>A country’s neighbors and regional conflicts significantly impact its foreign policy decisions. E.g., Pakistan adjusts its policies based on relations with India and Afghanistan.</a:t>
            </a:r>
          </a:p>
          <a:p>
            <a:r>
              <a:rPr lang="en-US" sz="2500" dirty="0"/>
              <a:t>Global institutions and norms</a:t>
            </a:r>
          </a:p>
          <a:p>
            <a:pPr lvl="1"/>
            <a:r>
              <a:rPr lang="en-US" sz="2000" dirty="0"/>
              <a:t>Membership in organizations like the UN influences state behavior through international law, diplomacy, and cooperation frameworks.</a:t>
            </a:r>
          </a:p>
          <a:p>
            <a:r>
              <a:rPr lang="en-US" sz="2500" dirty="0"/>
              <a:t>Foreign policy is shaped not only by internal priorities but also by the external environment in which a state operates.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000" b="1" dirty="0"/>
              <a:t>Theories of IR</a:t>
            </a:r>
          </a:p>
        </p:txBody>
      </p:sp>
      <p:sp>
        <p:nvSpPr>
          <p:cNvPr id="3" name="Content Placeholder 2"/>
          <p:cNvSpPr>
            <a:spLocks noGrp="1"/>
          </p:cNvSpPr>
          <p:nvPr>
            <p:ph idx="1"/>
          </p:nvPr>
        </p:nvSpPr>
        <p:spPr/>
        <p:txBody>
          <a:bodyPr>
            <a:normAutofit/>
          </a:bodyPr>
          <a:lstStyle/>
          <a:p>
            <a:r>
              <a:rPr lang="en-US" sz="2900" dirty="0"/>
              <a:t>Structural realism:</a:t>
            </a:r>
          </a:p>
          <a:p>
            <a:pPr lvl="1"/>
            <a:r>
              <a:rPr lang="en-US" sz="2500" dirty="0"/>
              <a:t>Competitive anarchic international system</a:t>
            </a:r>
          </a:p>
          <a:p>
            <a:pPr lvl="1"/>
            <a:r>
              <a:rPr lang="en-US" sz="2500" dirty="0"/>
              <a:t>Disagreement among structural realists on foreign policy goals</a:t>
            </a:r>
          </a:p>
          <a:p>
            <a:r>
              <a:rPr lang="en-US" sz="2900" dirty="0"/>
              <a:t>System level liberalism:</a:t>
            </a:r>
          </a:p>
          <a:p>
            <a:pPr lvl="1"/>
            <a:r>
              <a:rPr lang="en-US" sz="2500" dirty="0"/>
              <a:t>Impact of interdependence over what states want</a:t>
            </a:r>
          </a:p>
          <a:p>
            <a:pPr lvl="1"/>
            <a:r>
              <a:rPr lang="en-US" sz="2500" dirty="0"/>
              <a:t>Effect of institution rich environments upon states foreign policy goals</a:t>
            </a:r>
          </a:p>
          <a:p>
            <a:r>
              <a:rPr lang="en-US" sz="2900" dirty="0"/>
              <a:t>Constructivist:</a:t>
            </a:r>
          </a:p>
          <a:p>
            <a:pPr lvl="1"/>
            <a:r>
              <a:rPr lang="en-US" sz="2500" dirty="0"/>
              <a:t>Broader conception of national preference</a:t>
            </a:r>
          </a:p>
          <a:p>
            <a:pPr lvl="1"/>
            <a:r>
              <a:rPr lang="en-US" sz="2500" dirty="0"/>
              <a:t>Ideas of cultures impact on want states want and on the foreign policy identity</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5EE75-34B2-43B2-BAC2-5C2F89AB89C1}"/>
              </a:ext>
            </a:extLst>
          </p:cNvPr>
          <p:cNvSpPr>
            <a:spLocks noGrp="1"/>
          </p:cNvSpPr>
          <p:nvPr>
            <p:ph type="title"/>
          </p:nvPr>
        </p:nvSpPr>
        <p:spPr/>
        <p:txBody>
          <a:bodyPr>
            <a:normAutofit/>
          </a:bodyPr>
          <a:lstStyle/>
          <a:p>
            <a:pPr algn="ctr"/>
            <a:r>
              <a:rPr lang="en-US" sz="5000" b="1" dirty="0"/>
              <a:t>Introduction to Geopolitics</a:t>
            </a:r>
          </a:p>
        </p:txBody>
      </p:sp>
      <p:sp>
        <p:nvSpPr>
          <p:cNvPr id="3" name="Content Placeholder 2">
            <a:extLst>
              <a:ext uri="{FF2B5EF4-FFF2-40B4-BE49-F238E27FC236}">
                <a16:creationId xmlns:a16="http://schemas.microsoft.com/office/drawing/2014/main" id="{62EEE6D5-2CB1-4BBD-9326-E314CA90F516}"/>
              </a:ext>
            </a:extLst>
          </p:cNvPr>
          <p:cNvSpPr>
            <a:spLocks noGrp="1"/>
          </p:cNvSpPr>
          <p:nvPr>
            <p:ph idx="1"/>
          </p:nvPr>
        </p:nvSpPr>
        <p:spPr/>
        <p:txBody>
          <a:bodyPr>
            <a:normAutofit/>
          </a:bodyPr>
          <a:lstStyle/>
          <a:p>
            <a:r>
              <a:rPr lang="en-US" sz="2500" dirty="0"/>
              <a:t>Geopolitics studies the relationship between geography and political power.</a:t>
            </a:r>
          </a:p>
          <a:p>
            <a:r>
              <a:rPr lang="en-US" sz="2500" dirty="0"/>
              <a:t>It focuses on how location, borders, and resources influence global politics.</a:t>
            </a:r>
          </a:p>
          <a:p>
            <a:r>
              <a:rPr lang="en-US" sz="2500" dirty="0"/>
              <a:t>Military strength and territorial control are central to geopolitics.</a:t>
            </a:r>
          </a:p>
          <a:p>
            <a:r>
              <a:rPr lang="en-US" sz="2500" dirty="0"/>
              <a:t>States use geography to enhance strategic advantages.</a:t>
            </a:r>
          </a:p>
          <a:p>
            <a:r>
              <a:rPr lang="en-US" sz="2500" dirty="0"/>
              <a:t>It emphasizes competition and conflict among nations.</a:t>
            </a:r>
          </a:p>
          <a:p>
            <a:r>
              <a:rPr lang="en-US" sz="2500" dirty="0"/>
              <a:t>Pakistan’s location makes it geopolitically significant.</a:t>
            </a:r>
          </a:p>
        </p:txBody>
      </p:sp>
    </p:spTree>
    <p:extLst>
      <p:ext uri="{BB962C8B-B14F-4D97-AF65-F5344CB8AC3E}">
        <p14:creationId xmlns:p14="http://schemas.microsoft.com/office/powerpoint/2010/main" val="1038362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DC871-E637-43AB-8F0E-31540EE41CD5}"/>
              </a:ext>
            </a:extLst>
          </p:cNvPr>
          <p:cNvSpPr>
            <a:spLocks noGrp="1"/>
          </p:cNvSpPr>
          <p:nvPr>
            <p:ph type="title"/>
          </p:nvPr>
        </p:nvSpPr>
        <p:spPr/>
        <p:txBody>
          <a:bodyPr>
            <a:normAutofit/>
          </a:bodyPr>
          <a:lstStyle/>
          <a:p>
            <a:pPr algn="ctr"/>
            <a:r>
              <a:rPr lang="en-US" sz="5000" b="1" dirty="0"/>
              <a:t>Understanding Geo-strategy</a:t>
            </a:r>
          </a:p>
        </p:txBody>
      </p:sp>
      <p:sp>
        <p:nvSpPr>
          <p:cNvPr id="3" name="Content Placeholder 2">
            <a:extLst>
              <a:ext uri="{FF2B5EF4-FFF2-40B4-BE49-F238E27FC236}">
                <a16:creationId xmlns:a16="http://schemas.microsoft.com/office/drawing/2014/main" id="{04E5A637-749E-4BF0-A9E1-A4D339A8AA43}"/>
              </a:ext>
            </a:extLst>
          </p:cNvPr>
          <p:cNvSpPr>
            <a:spLocks noGrp="1"/>
          </p:cNvSpPr>
          <p:nvPr>
            <p:ph idx="1"/>
          </p:nvPr>
        </p:nvSpPr>
        <p:spPr/>
        <p:txBody>
          <a:bodyPr>
            <a:normAutofit/>
          </a:bodyPr>
          <a:lstStyle/>
          <a:p>
            <a:r>
              <a:rPr lang="en-US" sz="2500" dirty="0"/>
              <a:t>Geo-strategy is the practical application of geopolitical ideas.</a:t>
            </a:r>
          </a:p>
          <a:p>
            <a:r>
              <a:rPr lang="en-US" sz="2500" dirty="0"/>
              <a:t>It involves planning military and security strategies based on geography.</a:t>
            </a:r>
          </a:p>
          <a:p>
            <a:r>
              <a:rPr lang="en-US" sz="2500" dirty="0"/>
              <a:t>States use geo-strategy to protect national interests.</a:t>
            </a:r>
          </a:p>
          <a:p>
            <a:r>
              <a:rPr lang="en-US" sz="2500" dirty="0"/>
              <a:t>Alliances and defense policies are part of geo-strategy.</a:t>
            </a:r>
          </a:p>
          <a:p>
            <a:r>
              <a:rPr lang="en-US" sz="2500" dirty="0"/>
              <a:t>It focuses on managing threats and ensuring stability.</a:t>
            </a:r>
          </a:p>
          <a:p>
            <a:r>
              <a:rPr lang="en-US" sz="2500" dirty="0"/>
              <a:t>Pakistan’s geo-strategy is influenced by regional conflicts.</a:t>
            </a:r>
          </a:p>
        </p:txBody>
      </p:sp>
    </p:spTree>
    <p:extLst>
      <p:ext uri="{BB962C8B-B14F-4D97-AF65-F5344CB8AC3E}">
        <p14:creationId xmlns:p14="http://schemas.microsoft.com/office/powerpoint/2010/main" val="1052483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B84E1-8145-45F2-B4B5-6557DEF1EBE0}"/>
              </a:ext>
            </a:extLst>
          </p:cNvPr>
          <p:cNvSpPr>
            <a:spLocks noGrp="1"/>
          </p:cNvSpPr>
          <p:nvPr>
            <p:ph type="title"/>
          </p:nvPr>
        </p:nvSpPr>
        <p:spPr/>
        <p:txBody>
          <a:bodyPr>
            <a:normAutofit/>
          </a:bodyPr>
          <a:lstStyle/>
          <a:p>
            <a:pPr algn="ctr"/>
            <a:r>
              <a:rPr lang="en-US" sz="5000" b="1" dirty="0"/>
              <a:t>Understanding Geo-economics</a:t>
            </a:r>
          </a:p>
        </p:txBody>
      </p:sp>
      <p:sp>
        <p:nvSpPr>
          <p:cNvPr id="3" name="Content Placeholder 2">
            <a:extLst>
              <a:ext uri="{FF2B5EF4-FFF2-40B4-BE49-F238E27FC236}">
                <a16:creationId xmlns:a16="http://schemas.microsoft.com/office/drawing/2014/main" id="{6CCC10E6-2A46-4B2C-816C-94B4F6950056}"/>
              </a:ext>
            </a:extLst>
          </p:cNvPr>
          <p:cNvSpPr>
            <a:spLocks noGrp="1"/>
          </p:cNvSpPr>
          <p:nvPr>
            <p:ph idx="1"/>
          </p:nvPr>
        </p:nvSpPr>
        <p:spPr/>
        <p:txBody>
          <a:bodyPr>
            <a:normAutofit/>
          </a:bodyPr>
          <a:lstStyle/>
          <a:p>
            <a:r>
              <a:rPr lang="en-US" sz="2500" dirty="0"/>
              <a:t>Geo-economics refers to the use of economic tools to achieve strategic goals.</a:t>
            </a:r>
          </a:p>
          <a:p>
            <a:r>
              <a:rPr lang="en-US" sz="2500" dirty="0"/>
              <a:t>It includes trade, investment, and economic cooperation.</a:t>
            </a:r>
          </a:p>
          <a:p>
            <a:r>
              <a:rPr lang="en-US" sz="2500" dirty="0"/>
              <a:t>States use economic influence instead of military force.</a:t>
            </a:r>
          </a:p>
          <a:p>
            <a:r>
              <a:rPr lang="en-US" sz="2500" dirty="0"/>
              <a:t>Economic interdependence promotes cooperation among countries.</a:t>
            </a:r>
          </a:p>
          <a:p>
            <a:r>
              <a:rPr lang="en-US" sz="2500" dirty="0"/>
              <a:t>It reflects a shift from hard power to soft power.</a:t>
            </a:r>
          </a:p>
          <a:p>
            <a:r>
              <a:rPr lang="en-US" sz="2500" dirty="0"/>
              <a:t>Pakistan is increasingly adopting geo-economic policies.</a:t>
            </a:r>
          </a:p>
        </p:txBody>
      </p:sp>
    </p:spTree>
    <p:extLst>
      <p:ext uri="{BB962C8B-B14F-4D97-AF65-F5344CB8AC3E}">
        <p14:creationId xmlns:p14="http://schemas.microsoft.com/office/powerpoint/2010/main" val="600616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E722A-B17B-496F-8795-B35D7531F51B}"/>
              </a:ext>
            </a:extLst>
          </p:cNvPr>
          <p:cNvSpPr>
            <a:spLocks noGrp="1"/>
          </p:cNvSpPr>
          <p:nvPr>
            <p:ph type="title"/>
          </p:nvPr>
        </p:nvSpPr>
        <p:spPr>
          <a:xfrm>
            <a:off x="229456" y="334302"/>
            <a:ext cx="11733088" cy="1325563"/>
          </a:xfrm>
        </p:spPr>
        <p:txBody>
          <a:bodyPr>
            <a:noAutofit/>
          </a:bodyPr>
          <a:lstStyle/>
          <a:p>
            <a:pPr algn="ctr"/>
            <a:r>
              <a:rPr lang="en-US" sz="5000" b="1" dirty="0"/>
              <a:t>Geopolitics vs Geo-strategy vs Geo-economics</a:t>
            </a:r>
          </a:p>
        </p:txBody>
      </p:sp>
      <p:sp>
        <p:nvSpPr>
          <p:cNvPr id="3" name="Content Placeholder 2">
            <a:extLst>
              <a:ext uri="{FF2B5EF4-FFF2-40B4-BE49-F238E27FC236}">
                <a16:creationId xmlns:a16="http://schemas.microsoft.com/office/drawing/2014/main" id="{3C149EC4-A5E4-4F82-A711-3B380EE495A5}"/>
              </a:ext>
            </a:extLst>
          </p:cNvPr>
          <p:cNvSpPr>
            <a:spLocks noGrp="1"/>
          </p:cNvSpPr>
          <p:nvPr>
            <p:ph idx="1"/>
          </p:nvPr>
        </p:nvSpPr>
        <p:spPr/>
        <p:txBody>
          <a:bodyPr>
            <a:normAutofit/>
          </a:bodyPr>
          <a:lstStyle/>
          <a:p>
            <a:r>
              <a:rPr lang="en-US" sz="2500" dirty="0"/>
              <a:t>Geopolitics focuses on geography (power)</a:t>
            </a:r>
          </a:p>
          <a:p>
            <a:r>
              <a:rPr lang="en-US" sz="2500" dirty="0"/>
              <a:t>Geo-strategy focuses on strategic planning.</a:t>
            </a:r>
          </a:p>
          <a:p>
            <a:r>
              <a:rPr lang="en-US" sz="2500" dirty="0"/>
              <a:t>Geo-economics focuses on economic tools and cooperation.</a:t>
            </a:r>
          </a:p>
          <a:p>
            <a:r>
              <a:rPr lang="en-US" sz="2500" dirty="0"/>
              <a:t>Geopolitics emphasizes conflict, while geo-economics emphasizes cooperation.</a:t>
            </a:r>
          </a:p>
          <a:p>
            <a:r>
              <a:rPr lang="en-US" sz="2500" dirty="0"/>
              <a:t>Geo-strategy bridges theory and practice in security matters.</a:t>
            </a:r>
          </a:p>
          <a:p>
            <a:r>
              <a:rPr lang="en-US" sz="2500" dirty="0"/>
              <a:t>All three are interconnected in shaping foreign policy.</a:t>
            </a:r>
          </a:p>
        </p:txBody>
      </p:sp>
    </p:spTree>
    <p:extLst>
      <p:ext uri="{BB962C8B-B14F-4D97-AF65-F5344CB8AC3E}">
        <p14:creationId xmlns:p14="http://schemas.microsoft.com/office/powerpoint/2010/main" val="3270813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FDD1-CD87-4D8D-A509-19226CD3DC30}"/>
              </a:ext>
            </a:extLst>
          </p:cNvPr>
          <p:cNvSpPr>
            <a:spLocks noGrp="1"/>
          </p:cNvSpPr>
          <p:nvPr>
            <p:ph type="title"/>
          </p:nvPr>
        </p:nvSpPr>
        <p:spPr/>
        <p:txBody>
          <a:bodyPr>
            <a:normAutofit/>
          </a:bodyPr>
          <a:lstStyle/>
          <a:p>
            <a:pPr algn="ctr"/>
            <a:r>
              <a:rPr lang="en-US" sz="5000" b="1" dirty="0"/>
              <a:t>Pakistan’s Geopolitical Importance</a:t>
            </a:r>
          </a:p>
        </p:txBody>
      </p:sp>
      <p:sp>
        <p:nvSpPr>
          <p:cNvPr id="3" name="Content Placeholder 2">
            <a:extLst>
              <a:ext uri="{FF2B5EF4-FFF2-40B4-BE49-F238E27FC236}">
                <a16:creationId xmlns:a16="http://schemas.microsoft.com/office/drawing/2014/main" id="{B59AE00B-BABF-4533-9BFE-A542AB2F57C9}"/>
              </a:ext>
            </a:extLst>
          </p:cNvPr>
          <p:cNvSpPr>
            <a:spLocks noGrp="1"/>
          </p:cNvSpPr>
          <p:nvPr>
            <p:ph idx="1"/>
          </p:nvPr>
        </p:nvSpPr>
        <p:spPr/>
        <p:txBody>
          <a:bodyPr>
            <a:normAutofit/>
          </a:bodyPr>
          <a:lstStyle/>
          <a:p>
            <a:r>
              <a:rPr lang="en-US" sz="2500" dirty="0"/>
              <a:t>Pakistan is located at the crossroads of South Asia, Central Asia, and the Middle East.</a:t>
            </a:r>
          </a:p>
          <a:p>
            <a:r>
              <a:rPr lang="en-US" sz="2500" dirty="0"/>
              <a:t>It connects major regions and trade routes.</a:t>
            </a:r>
          </a:p>
          <a:p>
            <a:r>
              <a:rPr lang="en-US" sz="2500" dirty="0"/>
              <a:t>Its proximity to China, India, and Afghanistan increases its importance.</a:t>
            </a:r>
          </a:p>
          <a:p>
            <a:r>
              <a:rPr lang="en-US" sz="2500" dirty="0"/>
              <a:t>Access to the Arabian Sea enhances strategic value.</a:t>
            </a:r>
          </a:p>
          <a:p>
            <a:r>
              <a:rPr lang="en-US" sz="2500" dirty="0"/>
              <a:t>It serves as a potential trade and energy corridor.</a:t>
            </a:r>
          </a:p>
          <a:p>
            <a:r>
              <a:rPr lang="en-US" sz="2500" dirty="0"/>
              <a:t>Its geography attracts global interest and competition.</a:t>
            </a:r>
          </a:p>
        </p:txBody>
      </p:sp>
    </p:spTree>
    <p:extLst>
      <p:ext uri="{BB962C8B-B14F-4D97-AF65-F5344CB8AC3E}">
        <p14:creationId xmlns:p14="http://schemas.microsoft.com/office/powerpoint/2010/main" val="954938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7B268-F381-4DF4-9CB2-F4ADC60D1665}"/>
              </a:ext>
            </a:extLst>
          </p:cNvPr>
          <p:cNvSpPr>
            <a:spLocks noGrp="1"/>
          </p:cNvSpPr>
          <p:nvPr>
            <p:ph type="title"/>
          </p:nvPr>
        </p:nvSpPr>
        <p:spPr/>
        <p:txBody>
          <a:bodyPr>
            <a:normAutofit/>
          </a:bodyPr>
          <a:lstStyle/>
          <a:p>
            <a:pPr algn="ctr"/>
            <a:r>
              <a:rPr lang="en-US" sz="5000" b="1" dirty="0"/>
              <a:t>Shift from Geopolitics to Geo-economics</a:t>
            </a:r>
          </a:p>
        </p:txBody>
      </p:sp>
      <p:sp>
        <p:nvSpPr>
          <p:cNvPr id="3" name="Content Placeholder 2">
            <a:extLst>
              <a:ext uri="{FF2B5EF4-FFF2-40B4-BE49-F238E27FC236}">
                <a16:creationId xmlns:a16="http://schemas.microsoft.com/office/drawing/2014/main" id="{87CE8709-82B8-40CF-90D6-BA817975D11F}"/>
              </a:ext>
            </a:extLst>
          </p:cNvPr>
          <p:cNvSpPr>
            <a:spLocks noGrp="1"/>
          </p:cNvSpPr>
          <p:nvPr>
            <p:ph idx="1"/>
          </p:nvPr>
        </p:nvSpPr>
        <p:spPr/>
        <p:txBody>
          <a:bodyPr>
            <a:normAutofit/>
          </a:bodyPr>
          <a:lstStyle/>
          <a:p>
            <a:r>
              <a:rPr lang="en-US" dirty="0"/>
              <a:t>Global trends show a shift toward economic cooperation.</a:t>
            </a:r>
          </a:p>
          <a:p>
            <a:r>
              <a:rPr lang="en-US" dirty="0"/>
              <a:t>Pakistan is moving toward economic priorities in foreign policy.</a:t>
            </a:r>
          </a:p>
          <a:p>
            <a:r>
              <a:rPr lang="en-US" dirty="0"/>
              <a:t>Economic security is now considered part of national security.</a:t>
            </a:r>
          </a:p>
          <a:p>
            <a:r>
              <a:rPr lang="en-US" dirty="0"/>
              <a:t>Initiatives like CPEC reflect this shift.</a:t>
            </a:r>
          </a:p>
          <a:p>
            <a:r>
              <a:rPr lang="en-US" dirty="0"/>
              <a:t>The aim is to reduce reliance on military strategies.</a:t>
            </a:r>
          </a:p>
          <a:p>
            <a:r>
              <a:rPr lang="en-US" dirty="0"/>
              <a:t>This shift requires strong economic reforms.</a:t>
            </a:r>
          </a:p>
        </p:txBody>
      </p:sp>
    </p:spTree>
    <p:extLst>
      <p:ext uri="{BB962C8B-B14F-4D97-AF65-F5344CB8AC3E}">
        <p14:creationId xmlns:p14="http://schemas.microsoft.com/office/powerpoint/2010/main" val="424562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D797B-B4D0-47D0-B936-A577498F8FD8}"/>
              </a:ext>
            </a:extLst>
          </p:cNvPr>
          <p:cNvSpPr>
            <a:spLocks noGrp="1"/>
          </p:cNvSpPr>
          <p:nvPr>
            <p:ph type="title"/>
          </p:nvPr>
        </p:nvSpPr>
        <p:spPr/>
        <p:txBody>
          <a:bodyPr>
            <a:normAutofit/>
          </a:bodyPr>
          <a:lstStyle/>
          <a:p>
            <a:pPr algn="ctr"/>
            <a:r>
              <a:rPr lang="en-US" sz="5000" b="1" dirty="0"/>
              <a:t>Challenges to Geo-economic Shift</a:t>
            </a:r>
          </a:p>
        </p:txBody>
      </p:sp>
      <p:sp>
        <p:nvSpPr>
          <p:cNvPr id="3" name="Content Placeholder 2">
            <a:extLst>
              <a:ext uri="{FF2B5EF4-FFF2-40B4-BE49-F238E27FC236}">
                <a16:creationId xmlns:a16="http://schemas.microsoft.com/office/drawing/2014/main" id="{8EED2134-FB71-4CC6-8290-6B25CBFE09C4}"/>
              </a:ext>
            </a:extLst>
          </p:cNvPr>
          <p:cNvSpPr>
            <a:spLocks noGrp="1"/>
          </p:cNvSpPr>
          <p:nvPr>
            <p:ph idx="1"/>
          </p:nvPr>
        </p:nvSpPr>
        <p:spPr/>
        <p:txBody>
          <a:bodyPr>
            <a:normAutofit/>
          </a:bodyPr>
          <a:lstStyle/>
          <a:p>
            <a:r>
              <a:rPr lang="en-US" sz="2500" dirty="0"/>
              <a:t>Political instability affects policy implementation.</a:t>
            </a:r>
          </a:p>
          <a:p>
            <a:r>
              <a:rPr lang="en-US" sz="2500" dirty="0"/>
              <a:t>Economic weakness limits opportunities.</a:t>
            </a:r>
          </a:p>
          <a:p>
            <a:r>
              <a:rPr lang="en-US" sz="2500" dirty="0"/>
              <a:t>Regional conflicts create security concerns.</a:t>
            </a:r>
          </a:p>
          <a:p>
            <a:r>
              <a:rPr lang="en-US" sz="2500" dirty="0"/>
              <a:t>Global power rivalry complicates decision-making.</a:t>
            </a:r>
          </a:p>
          <a:p>
            <a:r>
              <a:rPr lang="en-US" sz="2500" dirty="0"/>
              <a:t>Dependence on external loans creates pressure.</a:t>
            </a:r>
          </a:p>
          <a:p>
            <a:r>
              <a:rPr lang="en-US" sz="2500" dirty="0"/>
              <a:t>Lack of infrastructure hinders economic growth.</a:t>
            </a:r>
          </a:p>
        </p:txBody>
      </p:sp>
    </p:spTree>
    <p:extLst>
      <p:ext uri="{BB962C8B-B14F-4D97-AF65-F5344CB8AC3E}">
        <p14:creationId xmlns:p14="http://schemas.microsoft.com/office/powerpoint/2010/main" val="2758477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8AF52-1E9C-4B18-85A4-FFF2021BA5E9}"/>
              </a:ext>
            </a:extLst>
          </p:cNvPr>
          <p:cNvSpPr>
            <a:spLocks noGrp="1"/>
          </p:cNvSpPr>
          <p:nvPr>
            <p:ph type="title"/>
          </p:nvPr>
        </p:nvSpPr>
        <p:spPr/>
        <p:txBody>
          <a:bodyPr>
            <a:normAutofit/>
          </a:bodyPr>
          <a:lstStyle/>
          <a:p>
            <a:pPr algn="ctr"/>
            <a:r>
              <a:rPr lang="en-US" sz="5000" b="1" dirty="0"/>
              <a:t>Opportunities for Pakistan</a:t>
            </a:r>
          </a:p>
        </p:txBody>
      </p:sp>
      <p:sp>
        <p:nvSpPr>
          <p:cNvPr id="3" name="Content Placeholder 2">
            <a:extLst>
              <a:ext uri="{FF2B5EF4-FFF2-40B4-BE49-F238E27FC236}">
                <a16:creationId xmlns:a16="http://schemas.microsoft.com/office/drawing/2014/main" id="{7EFC4347-D1D9-4DBA-A039-C2CA397CF83A}"/>
              </a:ext>
            </a:extLst>
          </p:cNvPr>
          <p:cNvSpPr>
            <a:spLocks noGrp="1"/>
          </p:cNvSpPr>
          <p:nvPr>
            <p:ph idx="1"/>
          </p:nvPr>
        </p:nvSpPr>
        <p:spPr/>
        <p:txBody>
          <a:bodyPr>
            <a:normAutofit/>
          </a:bodyPr>
          <a:lstStyle/>
          <a:p>
            <a:r>
              <a:rPr lang="en-US" dirty="0"/>
              <a:t>CPEC provides opportunities for economic growth.</a:t>
            </a:r>
          </a:p>
          <a:p>
            <a:r>
              <a:rPr lang="en-US" dirty="0"/>
              <a:t>Regional connectivity can boost trade.</a:t>
            </a:r>
          </a:p>
          <a:p>
            <a:r>
              <a:rPr lang="en-US" dirty="0"/>
              <a:t>Strategic location can attract foreign investment.</a:t>
            </a:r>
          </a:p>
          <a:p>
            <a:r>
              <a:rPr lang="en-US" dirty="0"/>
              <a:t>Energy projects can resolve power shortages.</a:t>
            </a:r>
          </a:p>
          <a:p>
            <a:r>
              <a:rPr lang="en-US" dirty="0"/>
              <a:t>Economic partnerships can improve stability.</a:t>
            </a:r>
          </a:p>
          <a:p>
            <a:r>
              <a:rPr lang="en-US" dirty="0"/>
              <a:t>Development of ports like Gwadar can enhance trade.</a:t>
            </a:r>
          </a:p>
        </p:txBody>
      </p:sp>
    </p:spTree>
    <p:extLst>
      <p:ext uri="{BB962C8B-B14F-4D97-AF65-F5344CB8AC3E}">
        <p14:creationId xmlns:p14="http://schemas.microsoft.com/office/powerpoint/2010/main" val="3214843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53377-3CD4-48B1-983B-91634538C1C7}"/>
              </a:ext>
            </a:extLst>
          </p:cNvPr>
          <p:cNvSpPr>
            <a:spLocks noGrp="1"/>
          </p:cNvSpPr>
          <p:nvPr>
            <p:ph type="title"/>
          </p:nvPr>
        </p:nvSpPr>
        <p:spPr/>
        <p:txBody>
          <a:bodyPr>
            <a:normAutofit/>
          </a:bodyPr>
          <a:lstStyle/>
          <a:p>
            <a:pPr algn="ctr"/>
            <a:r>
              <a:rPr lang="en-US" sz="5000" b="1" dirty="0"/>
              <a:t>Conclusion</a:t>
            </a:r>
          </a:p>
        </p:txBody>
      </p:sp>
      <p:sp>
        <p:nvSpPr>
          <p:cNvPr id="3" name="Content Placeholder 2">
            <a:extLst>
              <a:ext uri="{FF2B5EF4-FFF2-40B4-BE49-F238E27FC236}">
                <a16:creationId xmlns:a16="http://schemas.microsoft.com/office/drawing/2014/main" id="{F2BBBC88-B490-48C4-8A71-8CAB0879A65E}"/>
              </a:ext>
            </a:extLst>
          </p:cNvPr>
          <p:cNvSpPr>
            <a:spLocks noGrp="1"/>
          </p:cNvSpPr>
          <p:nvPr>
            <p:ph idx="1"/>
          </p:nvPr>
        </p:nvSpPr>
        <p:spPr>
          <a:xfrm>
            <a:off x="663967" y="1690688"/>
            <a:ext cx="10864065" cy="4351338"/>
          </a:xfrm>
        </p:spPr>
        <p:txBody>
          <a:bodyPr>
            <a:noAutofit/>
          </a:bodyPr>
          <a:lstStyle/>
          <a:p>
            <a:r>
              <a:rPr lang="en-US" sz="2500" dirty="0"/>
              <a:t>Foreign policy is dynamic and evolves with global changes.</a:t>
            </a:r>
          </a:p>
          <a:p>
            <a:r>
              <a:rPr lang="en-US" sz="2500" dirty="0"/>
              <a:t>Pakistan’s policy is shifting toward geo-economics.</a:t>
            </a:r>
          </a:p>
          <a:p>
            <a:r>
              <a:rPr lang="en-US" sz="2500" dirty="0"/>
              <a:t>Balancing security and economic goals is essential.</a:t>
            </a:r>
          </a:p>
          <a:p>
            <a:r>
              <a:rPr lang="en-US" sz="2500" dirty="0"/>
              <a:t>Internal stability is key to successful foreign policy.</a:t>
            </a:r>
          </a:p>
          <a:p>
            <a:r>
              <a:rPr lang="en-US" sz="2500" dirty="0"/>
              <a:t>Strategic planning can enhance Pakistan’s global role.</a:t>
            </a:r>
          </a:p>
          <a:p>
            <a:r>
              <a:rPr lang="en-US" sz="2500" dirty="0"/>
              <a:t>Future success depends on effective implementation of policies.</a:t>
            </a:r>
          </a:p>
          <a:p>
            <a:r>
              <a:rPr lang="en-US" sz="2500" dirty="0"/>
              <a:t>Pakistan should adopt a balanced foreign policy approach.</a:t>
            </a:r>
          </a:p>
          <a:p>
            <a:r>
              <a:rPr lang="en-US" sz="2500" dirty="0"/>
              <a:t>Economic development should be prioritized over conflict.</a:t>
            </a:r>
          </a:p>
          <a:p>
            <a:r>
              <a:rPr lang="en-US" sz="2500" dirty="0"/>
              <a:t>Strengthening institutions is necessary for stability and can enhance global trust.</a:t>
            </a:r>
          </a:p>
          <a:p>
            <a:r>
              <a:rPr lang="en-US" sz="2500" dirty="0"/>
              <a:t>Diversity in trade partners reduces dependency on single stake holder.</a:t>
            </a:r>
          </a:p>
        </p:txBody>
      </p:sp>
    </p:spTree>
    <p:extLst>
      <p:ext uri="{BB962C8B-B14F-4D97-AF65-F5344CB8AC3E}">
        <p14:creationId xmlns:p14="http://schemas.microsoft.com/office/powerpoint/2010/main" val="813882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1868</Words>
  <Application>Microsoft Office PowerPoint</Application>
  <PresentationFormat>Widescreen</PresentationFormat>
  <Paragraphs>173</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Foreign Policy of Pakistan</vt:lpstr>
      <vt:lpstr>Introduction to Foreign Policy</vt:lpstr>
      <vt:lpstr>Understanding International Relations</vt:lpstr>
      <vt:lpstr>Understanding Foreign Relations</vt:lpstr>
      <vt:lpstr>Understanding Foreign Policy</vt:lpstr>
      <vt:lpstr>Key Differences  (IR vs Foreign Relations vs Foreign Policy)</vt:lpstr>
      <vt:lpstr>Objectives of Pakistan’s Foreign Policy</vt:lpstr>
      <vt:lpstr>Economic Objectives of Foreign Policy</vt:lpstr>
      <vt:lpstr>Ideological &amp; Political Objectives</vt:lpstr>
      <vt:lpstr>Internal Determinants of Foreign Policy</vt:lpstr>
      <vt:lpstr>External Determinants of Foreign Policy</vt:lpstr>
      <vt:lpstr>Pakistan’s Foreign Policy</vt:lpstr>
      <vt:lpstr>Guiding Principles of Pakistan’s Foreign Policy</vt:lpstr>
      <vt:lpstr>Foreign Policy Objectives</vt:lpstr>
      <vt:lpstr>Foreign Policy Factors</vt:lpstr>
      <vt:lpstr>Theories of IR</vt:lpstr>
      <vt:lpstr>Introduction to Geopolitics</vt:lpstr>
      <vt:lpstr>Understanding Geo-strategy</vt:lpstr>
      <vt:lpstr>Understanding Geo-economics</vt:lpstr>
      <vt:lpstr>Geopolitics vs Geo-strategy vs Geo-economics</vt:lpstr>
      <vt:lpstr>Pakistan’s Geopolitical Importance</vt:lpstr>
      <vt:lpstr>Shift from Geopolitics to Geo-economics</vt:lpstr>
      <vt:lpstr>Challenges to Geo-economic Shift</vt:lpstr>
      <vt:lpstr>Opportunities for Pakistan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Foreign Policy of Pakistan</dc:title>
  <dc:creator>Asefa Khilji</dc:creator>
  <cp:lastModifiedBy>Asefa Khilji</cp:lastModifiedBy>
  <cp:revision>7</cp:revision>
  <dcterms:created xsi:type="dcterms:W3CDTF">2026-03-30T19:04:49Z</dcterms:created>
  <dcterms:modified xsi:type="dcterms:W3CDTF">2026-04-21T11:15:30Z</dcterms:modified>
</cp:coreProperties>
</file>