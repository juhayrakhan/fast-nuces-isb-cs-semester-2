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30"/>
  </p:notesMasterIdLst>
  <p:sldIdLst>
    <p:sldId id="271" r:id="rId2"/>
    <p:sldId id="272" r:id="rId3"/>
    <p:sldId id="258" r:id="rId4"/>
    <p:sldId id="259" r:id="rId5"/>
    <p:sldId id="273" r:id="rId6"/>
    <p:sldId id="270" r:id="rId7"/>
    <p:sldId id="274" r:id="rId8"/>
    <p:sldId id="275" r:id="rId9"/>
    <p:sldId id="261" r:id="rId10"/>
    <p:sldId id="278" r:id="rId11"/>
    <p:sldId id="279" r:id="rId12"/>
    <p:sldId id="260" r:id="rId13"/>
    <p:sldId id="265" r:id="rId14"/>
    <p:sldId id="263" r:id="rId15"/>
    <p:sldId id="277" r:id="rId16"/>
    <p:sldId id="267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1" r:id="rId28"/>
    <p:sldId id="290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CCC8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69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5D6C59-5BEF-4EEB-BC20-75D5C5EC47E9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B64A241-087F-43F4-9929-C8A7056A1AD3}">
      <dgm:prSet custT="1"/>
      <dgm:spPr>
        <a:gradFill flip="none" rotWithShape="0">
          <a:gsLst>
            <a:gs pos="0">
              <a:srgbClr val="D2CCC8"/>
            </a:gs>
            <a:gs pos="100000">
              <a:schemeClr val="accent1">
                <a:tint val="23500"/>
                <a:satMod val="160000"/>
              </a:schemeClr>
            </a:gs>
          </a:gsLst>
          <a:lin ang="0" scaled="1"/>
          <a:tileRect/>
        </a:gradFill>
      </dgm:spPr>
      <dgm:t>
        <a:bodyPr/>
        <a:lstStyle/>
        <a:p>
          <a:r>
            <a:rPr lang="en-US" sz="1200" dirty="0">
              <a:solidFill>
                <a:schemeClr val="tx1"/>
              </a:solidFill>
            </a:rPr>
            <a:t>50% reduction of projected emissions by 2030, with a 15% reduction from the country’s own resources and a 35% reduction subjected to the provision of international grant finance</a:t>
          </a:r>
        </a:p>
      </dgm:t>
    </dgm:pt>
    <dgm:pt modelId="{CA3A7C2B-CB2D-4269-8378-BDC09F2FE5A0}" type="parTrans" cxnId="{320E4A52-7E57-4862-A2E5-9B02D8947069}">
      <dgm:prSet/>
      <dgm:spPr/>
      <dgm:t>
        <a:bodyPr/>
        <a:lstStyle/>
        <a:p>
          <a:endParaRPr lang="en-US"/>
        </a:p>
      </dgm:t>
    </dgm:pt>
    <dgm:pt modelId="{9955DD7C-C17D-4940-BA8F-27AF62A287B3}" type="sibTrans" cxnId="{320E4A52-7E57-4862-A2E5-9B02D8947069}">
      <dgm:prSet/>
      <dgm:spPr/>
      <dgm:t>
        <a:bodyPr/>
        <a:lstStyle/>
        <a:p>
          <a:endParaRPr lang="en-US"/>
        </a:p>
      </dgm:t>
    </dgm:pt>
    <dgm:pt modelId="{D3EB804B-B4DE-45D0-AA18-BAB28BABBF70}">
      <dgm:prSet custT="1"/>
      <dgm:spPr>
        <a:gradFill flip="none" rotWithShape="0">
          <a:gsLst>
            <a:gs pos="0">
              <a:schemeClr val="accent1">
                <a:tint val="66000"/>
                <a:satMod val="160000"/>
                <a:alpha val="20000"/>
              </a:schemeClr>
            </a:gs>
            <a:gs pos="100000">
              <a:srgbClr val="D2CCC8"/>
            </a:gs>
            <a:gs pos="100000">
              <a:schemeClr val="accent1">
                <a:tint val="23500"/>
                <a:satMod val="160000"/>
              </a:schemeClr>
            </a:gs>
          </a:gsLst>
          <a:lin ang="0" scaled="1"/>
          <a:tileRect/>
        </a:gradFill>
      </dgm:spPr>
      <dgm:t>
        <a:bodyPr/>
        <a:lstStyle/>
        <a:p>
          <a:r>
            <a:rPr lang="en-US" sz="1600" dirty="0">
              <a:solidFill>
                <a:schemeClr val="tx1"/>
              </a:solidFill>
            </a:rPr>
            <a:t>Pakistan aims to shift to 60% renewable energy, and 30% electric vehicles by 2030 and ban coal imports</a:t>
          </a:r>
        </a:p>
      </dgm:t>
    </dgm:pt>
    <dgm:pt modelId="{DCFAC518-1B8E-445B-A1B6-3F22A276A434}" type="parTrans" cxnId="{770B14CD-B344-434B-9B7C-B4ED42C0BAD9}">
      <dgm:prSet/>
      <dgm:spPr/>
      <dgm:t>
        <a:bodyPr/>
        <a:lstStyle/>
        <a:p>
          <a:endParaRPr lang="en-US"/>
        </a:p>
      </dgm:t>
    </dgm:pt>
    <dgm:pt modelId="{50EA4342-4D01-482C-B539-8462E911E82E}" type="sibTrans" cxnId="{770B14CD-B344-434B-9B7C-B4ED42C0BAD9}">
      <dgm:prSet/>
      <dgm:spPr/>
      <dgm:t>
        <a:bodyPr/>
        <a:lstStyle/>
        <a:p>
          <a:endParaRPr lang="en-US"/>
        </a:p>
      </dgm:t>
    </dgm:pt>
    <dgm:pt modelId="{C442B8A3-BA04-4EBA-B8FD-854B463B6C41}">
      <dgm:prSet custT="1"/>
      <dgm:spPr>
        <a:gradFill flip="none" rotWithShape="0">
          <a:gsLst>
            <a:gs pos="0">
              <a:schemeClr val="accent1">
                <a:tint val="66000"/>
                <a:satMod val="160000"/>
              </a:schemeClr>
            </a:gs>
            <a:gs pos="50000">
              <a:srgbClr val="D2CCC8"/>
            </a:gs>
            <a:gs pos="100000">
              <a:schemeClr val="accent1">
                <a:tint val="23500"/>
                <a:satMod val="160000"/>
              </a:schemeClr>
            </a:gs>
          </a:gsLst>
          <a:path path="circle">
            <a:fillToRect l="50000" t="50000" r="50000" b="50000"/>
          </a:path>
          <a:tileRect/>
        </a:gradFill>
      </dgm:spPr>
      <dgm:t>
        <a:bodyPr/>
        <a:lstStyle/>
        <a:p>
          <a:r>
            <a:rPr lang="en-US" sz="1800" dirty="0">
              <a:solidFill>
                <a:schemeClr val="tx1"/>
              </a:solidFill>
            </a:rPr>
            <a:t>Ten Billion Tree Tsunami program, will sequester 148 Mt CO2 by 2030 if implemented fully </a:t>
          </a:r>
        </a:p>
      </dgm:t>
    </dgm:pt>
    <dgm:pt modelId="{12901D64-99B6-4948-A7C1-A92B8F4BA8C4}" type="parTrans" cxnId="{B036C541-223E-4290-8B32-3D4419E4095C}">
      <dgm:prSet/>
      <dgm:spPr/>
      <dgm:t>
        <a:bodyPr/>
        <a:lstStyle/>
        <a:p>
          <a:endParaRPr lang="en-US"/>
        </a:p>
      </dgm:t>
    </dgm:pt>
    <dgm:pt modelId="{F3ED3841-E317-4DD9-BEA3-9483E735BA39}" type="sibTrans" cxnId="{B036C541-223E-4290-8B32-3D4419E4095C}">
      <dgm:prSet/>
      <dgm:spPr/>
      <dgm:t>
        <a:bodyPr/>
        <a:lstStyle/>
        <a:p>
          <a:endParaRPr lang="en-US"/>
        </a:p>
      </dgm:t>
    </dgm:pt>
    <dgm:pt modelId="{1C800574-908B-4C28-8CD7-454DBDF7AFA6}">
      <dgm:prSet custT="1"/>
      <dgm:spPr>
        <a:gradFill flip="none" rotWithShape="0">
          <a:gsLst>
            <a:gs pos="0">
              <a:schemeClr val="accent5">
                <a:hueOff val="1106248"/>
                <a:satOff val="12561"/>
                <a:lumOff val="11372"/>
                <a:tint val="66000"/>
                <a:satMod val="160000"/>
              </a:schemeClr>
            </a:gs>
            <a:gs pos="11000">
              <a:srgbClr val="D2CCC8">
                <a:alpha val="20000"/>
              </a:srgbClr>
            </a:gs>
          </a:gsLst>
          <a:lin ang="18900000" scaled="1"/>
          <a:tileRect/>
        </a:gradFill>
      </dgm:spPr>
      <dgm:t>
        <a:bodyPr/>
        <a:lstStyle/>
        <a:p>
          <a:r>
            <a:rPr lang="en-US" sz="1600" b="0" dirty="0">
              <a:solidFill>
                <a:schemeClr val="tx1"/>
              </a:solidFill>
            </a:rPr>
            <a:t>Transforming the Indus Basin with Climate Resilient Agriculture and Climate Smart Water Management </a:t>
          </a:r>
        </a:p>
      </dgm:t>
    </dgm:pt>
    <dgm:pt modelId="{2258976E-DB7E-4732-B0FF-1224832ADB8B}" type="parTrans" cxnId="{6A055388-4643-40F1-B775-20F6C82350BC}">
      <dgm:prSet/>
      <dgm:spPr/>
      <dgm:t>
        <a:bodyPr/>
        <a:lstStyle/>
        <a:p>
          <a:endParaRPr lang="en-US"/>
        </a:p>
      </dgm:t>
    </dgm:pt>
    <dgm:pt modelId="{B1ABD86E-6F10-4A9B-8073-45465B23C7F4}" type="sibTrans" cxnId="{6A055388-4643-40F1-B775-20F6C82350BC}">
      <dgm:prSet/>
      <dgm:spPr/>
      <dgm:t>
        <a:bodyPr/>
        <a:lstStyle/>
        <a:p>
          <a:endParaRPr lang="en-US"/>
        </a:p>
      </dgm:t>
    </dgm:pt>
    <dgm:pt modelId="{2398E62C-E9D5-4796-9938-612BC66D8376}" type="pres">
      <dgm:prSet presAssocID="{905D6C59-5BEF-4EEB-BC20-75D5C5EC47E9}" presName="diagram" presStyleCnt="0">
        <dgm:presLayoutVars>
          <dgm:dir/>
          <dgm:resizeHandles val="exact"/>
        </dgm:presLayoutVars>
      </dgm:prSet>
      <dgm:spPr/>
    </dgm:pt>
    <dgm:pt modelId="{221BD7E6-811C-4118-9156-BF5DE62E2FD6}" type="pres">
      <dgm:prSet presAssocID="{FB64A241-087F-43F4-9929-C8A7056A1AD3}" presName="node" presStyleLbl="node1" presStyleIdx="0" presStyleCnt="4">
        <dgm:presLayoutVars>
          <dgm:bulletEnabled val="1"/>
        </dgm:presLayoutVars>
      </dgm:prSet>
      <dgm:spPr/>
    </dgm:pt>
    <dgm:pt modelId="{1A7DAA99-26EC-4E43-9A2D-9A39983E224D}" type="pres">
      <dgm:prSet presAssocID="{9955DD7C-C17D-4940-BA8F-27AF62A287B3}" presName="sibTrans" presStyleCnt="0"/>
      <dgm:spPr/>
    </dgm:pt>
    <dgm:pt modelId="{B7AC379B-DB47-4C52-8516-81C0A2785AFB}" type="pres">
      <dgm:prSet presAssocID="{D3EB804B-B4DE-45D0-AA18-BAB28BABBF70}" presName="node" presStyleLbl="node1" presStyleIdx="1" presStyleCnt="4">
        <dgm:presLayoutVars>
          <dgm:bulletEnabled val="1"/>
        </dgm:presLayoutVars>
      </dgm:prSet>
      <dgm:spPr/>
    </dgm:pt>
    <dgm:pt modelId="{D0F1A9D1-1BE4-45FA-B989-11B89650FC88}" type="pres">
      <dgm:prSet presAssocID="{50EA4342-4D01-482C-B539-8462E911E82E}" presName="sibTrans" presStyleCnt="0"/>
      <dgm:spPr/>
    </dgm:pt>
    <dgm:pt modelId="{14992E6A-250D-48C0-A478-72B09572280E}" type="pres">
      <dgm:prSet presAssocID="{C442B8A3-BA04-4EBA-B8FD-854B463B6C41}" presName="node" presStyleLbl="node1" presStyleIdx="2" presStyleCnt="4">
        <dgm:presLayoutVars>
          <dgm:bulletEnabled val="1"/>
        </dgm:presLayoutVars>
      </dgm:prSet>
      <dgm:spPr/>
    </dgm:pt>
    <dgm:pt modelId="{9E372F80-3CDF-4B74-AC8F-0C8AB5954483}" type="pres">
      <dgm:prSet presAssocID="{F3ED3841-E317-4DD9-BEA3-9483E735BA39}" presName="sibTrans" presStyleCnt="0"/>
      <dgm:spPr/>
    </dgm:pt>
    <dgm:pt modelId="{A9C1AB7F-CE1E-425A-A835-DA4836EF22B7}" type="pres">
      <dgm:prSet presAssocID="{1C800574-908B-4C28-8CD7-454DBDF7AFA6}" presName="node" presStyleLbl="node1" presStyleIdx="3" presStyleCnt="4">
        <dgm:presLayoutVars>
          <dgm:bulletEnabled val="1"/>
        </dgm:presLayoutVars>
      </dgm:prSet>
      <dgm:spPr/>
    </dgm:pt>
  </dgm:ptLst>
  <dgm:cxnLst>
    <dgm:cxn modelId="{D7D5F931-1BD3-498F-BEDF-7A7B35BF8B5E}" type="presOf" srcId="{C442B8A3-BA04-4EBA-B8FD-854B463B6C41}" destId="{14992E6A-250D-48C0-A478-72B09572280E}" srcOrd="0" destOrd="0" presId="urn:microsoft.com/office/officeart/2005/8/layout/default"/>
    <dgm:cxn modelId="{B036C541-223E-4290-8B32-3D4419E4095C}" srcId="{905D6C59-5BEF-4EEB-BC20-75D5C5EC47E9}" destId="{C442B8A3-BA04-4EBA-B8FD-854B463B6C41}" srcOrd="2" destOrd="0" parTransId="{12901D64-99B6-4948-A7C1-A92B8F4BA8C4}" sibTransId="{F3ED3841-E317-4DD9-BEA3-9483E735BA39}"/>
    <dgm:cxn modelId="{320E4A52-7E57-4862-A2E5-9B02D8947069}" srcId="{905D6C59-5BEF-4EEB-BC20-75D5C5EC47E9}" destId="{FB64A241-087F-43F4-9929-C8A7056A1AD3}" srcOrd="0" destOrd="0" parTransId="{CA3A7C2B-CB2D-4269-8378-BDC09F2FE5A0}" sibTransId="{9955DD7C-C17D-4940-BA8F-27AF62A287B3}"/>
    <dgm:cxn modelId="{DA3C997B-67EB-4569-98C6-735B1DD45CEA}" type="presOf" srcId="{FB64A241-087F-43F4-9929-C8A7056A1AD3}" destId="{221BD7E6-811C-4118-9156-BF5DE62E2FD6}" srcOrd="0" destOrd="0" presId="urn:microsoft.com/office/officeart/2005/8/layout/default"/>
    <dgm:cxn modelId="{39F44484-3C3B-4BCC-96AE-C08CDC4E141E}" type="presOf" srcId="{1C800574-908B-4C28-8CD7-454DBDF7AFA6}" destId="{A9C1AB7F-CE1E-425A-A835-DA4836EF22B7}" srcOrd="0" destOrd="0" presId="urn:microsoft.com/office/officeart/2005/8/layout/default"/>
    <dgm:cxn modelId="{6A055388-4643-40F1-B775-20F6C82350BC}" srcId="{905D6C59-5BEF-4EEB-BC20-75D5C5EC47E9}" destId="{1C800574-908B-4C28-8CD7-454DBDF7AFA6}" srcOrd="3" destOrd="0" parTransId="{2258976E-DB7E-4732-B0FF-1224832ADB8B}" sibTransId="{B1ABD86E-6F10-4A9B-8073-45465B23C7F4}"/>
    <dgm:cxn modelId="{F8F5AF97-99FF-4C07-9851-406876203BB1}" type="presOf" srcId="{D3EB804B-B4DE-45D0-AA18-BAB28BABBF70}" destId="{B7AC379B-DB47-4C52-8516-81C0A2785AFB}" srcOrd="0" destOrd="0" presId="urn:microsoft.com/office/officeart/2005/8/layout/default"/>
    <dgm:cxn modelId="{2103DEBB-EF89-4080-9556-159BC3EAE47B}" type="presOf" srcId="{905D6C59-5BEF-4EEB-BC20-75D5C5EC47E9}" destId="{2398E62C-E9D5-4796-9938-612BC66D8376}" srcOrd="0" destOrd="0" presId="urn:microsoft.com/office/officeart/2005/8/layout/default"/>
    <dgm:cxn modelId="{770B14CD-B344-434B-9B7C-B4ED42C0BAD9}" srcId="{905D6C59-5BEF-4EEB-BC20-75D5C5EC47E9}" destId="{D3EB804B-B4DE-45D0-AA18-BAB28BABBF70}" srcOrd="1" destOrd="0" parTransId="{DCFAC518-1B8E-445B-A1B6-3F22A276A434}" sibTransId="{50EA4342-4D01-482C-B539-8462E911E82E}"/>
    <dgm:cxn modelId="{2A40FA39-90D5-4F5F-974D-60DE3F5E9F2A}" type="presParOf" srcId="{2398E62C-E9D5-4796-9938-612BC66D8376}" destId="{221BD7E6-811C-4118-9156-BF5DE62E2FD6}" srcOrd="0" destOrd="0" presId="urn:microsoft.com/office/officeart/2005/8/layout/default"/>
    <dgm:cxn modelId="{D477F970-5197-4F1C-A90C-BFC8992F4FFD}" type="presParOf" srcId="{2398E62C-E9D5-4796-9938-612BC66D8376}" destId="{1A7DAA99-26EC-4E43-9A2D-9A39983E224D}" srcOrd="1" destOrd="0" presId="urn:microsoft.com/office/officeart/2005/8/layout/default"/>
    <dgm:cxn modelId="{B666DFD0-CDEF-4192-A2D7-B8613B5789E5}" type="presParOf" srcId="{2398E62C-E9D5-4796-9938-612BC66D8376}" destId="{B7AC379B-DB47-4C52-8516-81C0A2785AFB}" srcOrd="2" destOrd="0" presId="urn:microsoft.com/office/officeart/2005/8/layout/default"/>
    <dgm:cxn modelId="{55C7B2D4-3EE1-46E5-8B9F-B69E81402887}" type="presParOf" srcId="{2398E62C-E9D5-4796-9938-612BC66D8376}" destId="{D0F1A9D1-1BE4-45FA-B989-11B89650FC88}" srcOrd="3" destOrd="0" presId="urn:microsoft.com/office/officeart/2005/8/layout/default"/>
    <dgm:cxn modelId="{6245274E-E476-45AD-B3BC-CA255B4BCEC7}" type="presParOf" srcId="{2398E62C-E9D5-4796-9938-612BC66D8376}" destId="{14992E6A-250D-48C0-A478-72B09572280E}" srcOrd="4" destOrd="0" presId="urn:microsoft.com/office/officeart/2005/8/layout/default"/>
    <dgm:cxn modelId="{BDC6F6D9-A80F-4F2E-948C-BCDED579C5B3}" type="presParOf" srcId="{2398E62C-E9D5-4796-9938-612BC66D8376}" destId="{9E372F80-3CDF-4B74-AC8F-0C8AB5954483}" srcOrd="5" destOrd="0" presId="urn:microsoft.com/office/officeart/2005/8/layout/default"/>
    <dgm:cxn modelId="{FD27C837-6A8F-41F9-8A5F-FCB1B7ED2429}" type="presParOf" srcId="{2398E62C-E9D5-4796-9938-612BC66D8376}" destId="{A9C1AB7F-CE1E-425A-A835-DA4836EF22B7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1BD7E6-811C-4118-9156-BF5DE62E2FD6}">
      <dsp:nvSpPr>
        <dsp:cNvPr id="0" name=""/>
        <dsp:cNvSpPr/>
      </dsp:nvSpPr>
      <dsp:spPr>
        <a:xfrm>
          <a:off x="436125" y="1533"/>
          <a:ext cx="2084858" cy="1250915"/>
        </a:xfrm>
        <a:prstGeom prst="rect">
          <a:avLst/>
        </a:prstGeom>
        <a:gradFill flip="none" rotWithShape="0">
          <a:gsLst>
            <a:gs pos="0">
              <a:srgbClr val="D2CCC8"/>
            </a:gs>
            <a:gs pos="100000">
              <a:schemeClr val="accent1">
                <a:tint val="23500"/>
                <a:satMod val="160000"/>
              </a:schemeClr>
            </a:gs>
          </a:gsLst>
          <a:lin ang="0" scaled="1"/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50% reduction of projected emissions by 2030, with a 15% reduction from the country’s own resources and a 35% reduction subjected to the provision of international grant finance</a:t>
          </a:r>
        </a:p>
      </dsp:txBody>
      <dsp:txXfrm>
        <a:off x="436125" y="1533"/>
        <a:ext cx="2084858" cy="1250915"/>
      </dsp:txXfrm>
    </dsp:sp>
    <dsp:sp modelId="{B7AC379B-DB47-4C52-8516-81C0A2785AFB}">
      <dsp:nvSpPr>
        <dsp:cNvPr id="0" name=""/>
        <dsp:cNvSpPr/>
      </dsp:nvSpPr>
      <dsp:spPr>
        <a:xfrm>
          <a:off x="2729470" y="1533"/>
          <a:ext cx="2084858" cy="1250915"/>
        </a:xfrm>
        <a:prstGeom prst="rect">
          <a:avLst/>
        </a:prstGeom>
        <a:gradFill flip="none" rotWithShape="0">
          <a:gsLst>
            <a:gs pos="0">
              <a:schemeClr val="accent1">
                <a:tint val="66000"/>
                <a:satMod val="160000"/>
                <a:alpha val="20000"/>
              </a:schemeClr>
            </a:gs>
            <a:gs pos="100000">
              <a:srgbClr val="D2CCC8"/>
            </a:gs>
            <a:gs pos="100000">
              <a:schemeClr val="accent1">
                <a:tint val="23500"/>
                <a:satMod val="160000"/>
              </a:schemeClr>
            </a:gs>
          </a:gsLst>
          <a:lin ang="0" scaled="1"/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Pakistan aims to shift to 60% renewable energy, and 30% electric vehicles by 2030 and ban coal imports</a:t>
          </a:r>
        </a:p>
      </dsp:txBody>
      <dsp:txXfrm>
        <a:off x="2729470" y="1533"/>
        <a:ext cx="2084858" cy="1250915"/>
      </dsp:txXfrm>
    </dsp:sp>
    <dsp:sp modelId="{14992E6A-250D-48C0-A478-72B09572280E}">
      <dsp:nvSpPr>
        <dsp:cNvPr id="0" name=""/>
        <dsp:cNvSpPr/>
      </dsp:nvSpPr>
      <dsp:spPr>
        <a:xfrm>
          <a:off x="5022815" y="1533"/>
          <a:ext cx="2084858" cy="1250915"/>
        </a:xfrm>
        <a:prstGeom prst="rect">
          <a:avLst/>
        </a:prstGeom>
        <a:gradFill flip="none" rotWithShape="0">
          <a:gsLst>
            <a:gs pos="0">
              <a:schemeClr val="accent1">
                <a:tint val="66000"/>
                <a:satMod val="160000"/>
              </a:schemeClr>
            </a:gs>
            <a:gs pos="50000">
              <a:srgbClr val="D2CCC8"/>
            </a:gs>
            <a:gs pos="100000">
              <a:schemeClr val="accent1">
                <a:tint val="23500"/>
                <a:satMod val="160000"/>
              </a:schemeClr>
            </a:gs>
          </a:gsLst>
          <a:path path="circle">
            <a:fillToRect l="50000" t="50000" r="50000" b="50000"/>
          </a:path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</a:rPr>
            <a:t>Ten Billion Tree Tsunami program, will sequester 148 Mt CO2 by 2030 if implemented fully </a:t>
          </a:r>
        </a:p>
      </dsp:txBody>
      <dsp:txXfrm>
        <a:off x="5022815" y="1533"/>
        <a:ext cx="2084858" cy="1250915"/>
      </dsp:txXfrm>
    </dsp:sp>
    <dsp:sp modelId="{A9C1AB7F-CE1E-425A-A835-DA4836EF22B7}">
      <dsp:nvSpPr>
        <dsp:cNvPr id="0" name=""/>
        <dsp:cNvSpPr/>
      </dsp:nvSpPr>
      <dsp:spPr>
        <a:xfrm>
          <a:off x="2729470" y="1460934"/>
          <a:ext cx="2084858" cy="1250915"/>
        </a:xfrm>
        <a:prstGeom prst="rect">
          <a:avLst/>
        </a:prstGeom>
        <a:gradFill flip="none" rotWithShape="0">
          <a:gsLst>
            <a:gs pos="0">
              <a:schemeClr val="accent5">
                <a:hueOff val="1106248"/>
                <a:satOff val="12561"/>
                <a:lumOff val="11372"/>
                <a:tint val="66000"/>
                <a:satMod val="160000"/>
              </a:schemeClr>
            </a:gs>
            <a:gs pos="11000">
              <a:srgbClr val="D2CCC8">
                <a:alpha val="20000"/>
              </a:srgbClr>
            </a:gs>
          </a:gsLst>
          <a:lin ang="18900000" scaled="1"/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>
              <a:solidFill>
                <a:schemeClr val="tx1"/>
              </a:solidFill>
            </a:rPr>
            <a:t>Transforming the Indus Basin with Climate Resilient Agriculture and Climate Smart Water Management </a:t>
          </a:r>
        </a:p>
      </dsp:txBody>
      <dsp:txXfrm>
        <a:off x="2729470" y="1460934"/>
        <a:ext cx="2084858" cy="12509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5531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2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22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664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30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394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905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625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350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998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792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529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5000"/>
            <a:lum/>
          </a:blip>
          <a:srcRect/>
          <a:stretch>
            <a:fillRect l="-18000" r="-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329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BB4A2-018A-4AE5-B97F-1B12A5590B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3429000"/>
            <a:ext cx="7772400" cy="2387600"/>
          </a:xfrm>
        </p:spPr>
        <p:txBody>
          <a:bodyPr>
            <a:normAutofit fontScale="90000"/>
          </a:bodyPr>
          <a:lstStyle/>
          <a:p>
            <a:r>
              <a:rPr lang="en-US" sz="9600" b="1" dirty="0"/>
              <a:t>PAKISTAN IN PURSUIT OF SOCIO-GLOBAL AGENDA – I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FE1F5C-305A-4D14-8CCA-DA253F1F4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835721"/>
            <a:ext cx="6858000" cy="480317"/>
          </a:xfrm>
        </p:spPr>
        <p:txBody>
          <a:bodyPr/>
          <a:lstStyle/>
          <a:p>
            <a:r>
              <a:rPr lang="en-US" b="1" dirty="0"/>
              <a:t>Hybrid Warfare &amp; Climate Change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821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F2A70-C13F-4517-8175-921A3565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10000" b="1" dirty="0"/>
              <a:t>PART I</a:t>
            </a:r>
            <a:endParaRPr lang="en-US" sz="10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3E34B-96EC-485A-A57E-B46D5062D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HYBRID WARFARE</a:t>
            </a:r>
            <a:endParaRPr lang="en-US" sz="5000" dirty="0"/>
          </a:p>
        </p:txBody>
      </p:sp>
    </p:spTree>
    <p:extLst>
      <p:ext uri="{BB962C8B-B14F-4D97-AF65-F5344CB8AC3E}">
        <p14:creationId xmlns:p14="http://schemas.microsoft.com/office/powerpoint/2010/main" val="2238206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24083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sz="5000" b="1" dirty="0"/>
              <a:t>Evolution of Warfare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325" y="1382232"/>
            <a:ext cx="8515350" cy="4848447"/>
          </a:xfrm>
        </p:spPr>
        <p:txBody>
          <a:bodyPr>
            <a:noAutofit/>
          </a:bodyPr>
          <a:lstStyle/>
          <a:p>
            <a:pPr>
              <a:defRPr sz="1800"/>
            </a:pPr>
            <a:r>
              <a:rPr sz="2500" dirty="0"/>
              <a:t>Historically, kinetic warfare was supported by diplomacy, propaganda, and intelligence.</a:t>
            </a:r>
            <a:endParaRPr lang="en-US" sz="2500" dirty="0"/>
          </a:p>
          <a:p>
            <a:pPr>
              <a:defRPr sz="1800"/>
            </a:pPr>
            <a:r>
              <a:rPr lang="en-US" sz="2500" dirty="0"/>
              <a:t>Traditionally, wars were fought through direct military confrontation, territorial invasion, and battlefield engagement.</a:t>
            </a:r>
          </a:p>
          <a:p>
            <a:pPr>
              <a:defRPr sz="1800"/>
            </a:pPr>
            <a:r>
              <a:rPr lang="en-US" sz="2500" dirty="0"/>
              <a:t>Clausewitz: 'War</a:t>
            </a:r>
            <a:r>
              <a:rPr sz="2500" i="1" dirty="0"/>
              <a:t> is the continuation of politics by other means’</a:t>
            </a:r>
          </a:p>
          <a:p>
            <a:pPr>
              <a:defRPr sz="1800"/>
            </a:pPr>
            <a:r>
              <a:rPr sz="2500" dirty="0"/>
              <a:t>Technological revolutions expanded war’s scope</a:t>
            </a:r>
            <a:r>
              <a:rPr lang="en-US" sz="2500" dirty="0"/>
              <a:t> </a:t>
            </a:r>
            <a:r>
              <a:rPr sz="2500" dirty="0"/>
              <a:t>from gunpowder to nuclear age.</a:t>
            </a:r>
          </a:p>
          <a:p>
            <a:pPr>
              <a:defRPr sz="1800"/>
            </a:pPr>
            <a:r>
              <a:rPr sz="2500" dirty="0"/>
              <a:t>Information and cyber technologies erased traditional battlefronts.</a:t>
            </a:r>
          </a:p>
          <a:p>
            <a:pPr>
              <a:defRPr sz="1800"/>
            </a:pPr>
            <a:r>
              <a:rPr sz="2500" dirty="0"/>
              <a:t>Modern warfare now targets both physical and cognitive domains.</a:t>
            </a:r>
          </a:p>
          <a:p>
            <a:pPr>
              <a:defRPr sz="1800"/>
            </a:pPr>
            <a:r>
              <a:rPr sz="2500" dirty="0"/>
              <a:t>Hybrid warfare represents the convergence of all these instruments of power.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95337"/>
            <a:ext cx="7886700" cy="1325563"/>
          </a:xfrm>
        </p:spPr>
        <p:txBody>
          <a:bodyPr>
            <a:noAutofit/>
          </a:bodyPr>
          <a:lstStyle/>
          <a:p>
            <a:pPr algn="ctr"/>
            <a:r>
              <a:rPr sz="5000" b="1" dirty="0"/>
              <a:t>Understanding Hybrid Warfare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53331"/>
            <a:ext cx="7886700" cy="4351338"/>
          </a:xfrm>
        </p:spPr>
        <p:txBody>
          <a:bodyPr>
            <a:noAutofit/>
          </a:bodyPr>
          <a:lstStyle/>
          <a:p>
            <a:pPr>
              <a:defRPr sz="1800"/>
            </a:pPr>
            <a:r>
              <a:rPr lang="en-US" sz="2500" dirty="0"/>
              <a:t>The concept of was extensively articulated by Frank Hoffman (2007), who described it as a blend of conventional and unconventional methods employed simultaneously to achieve strategic objectives.</a:t>
            </a:r>
          </a:p>
          <a:p>
            <a:pPr>
              <a:defRPr sz="1800"/>
            </a:pPr>
            <a:r>
              <a:rPr sz="2500" dirty="0"/>
              <a:t>Combines kinetic, cyber, psychological, and economic operations under one framework.</a:t>
            </a:r>
          </a:p>
          <a:p>
            <a:pPr>
              <a:defRPr sz="1800"/>
            </a:pPr>
            <a:r>
              <a:rPr sz="2500" dirty="0"/>
              <a:t>Aims to exploit adversary vulnerabilities at military, political, and societal levels.</a:t>
            </a:r>
          </a:p>
          <a:p>
            <a:pPr>
              <a:defRPr sz="1800"/>
            </a:pPr>
            <a:r>
              <a:rPr sz="2500" dirty="0"/>
              <a:t>Seeks to achieve political objectives without open war ‘winning without fighting’.</a:t>
            </a:r>
          </a:p>
          <a:p>
            <a:pPr>
              <a:defRPr sz="1800"/>
            </a:pPr>
            <a:r>
              <a:rPr sz="2500" dirty="0"/>
              <a:t>Operates across multiple domains</a:t>
            </a:r>
            <a:r>
              <a:rPr lang="en-US" sz="2500" dirty="0"/>
              <a:t>; </a:t>
            </a:r>
            <a:r>
              <a:rPr sz="2500" dirty="0"/>
              <a:t>land, sea, air, cyber, and information.</a:t>
            </a:r>
          </a:p>
          <a:p>
            <a:pPr>
              <a:defRPr sz="1800"/>
            </a:pPr>
            <a:r>
              <a:rPr sz="2500" dirty="0"/>
              <a:t>Blurs lines between war and peace; combatants and civilians; state and non-state actors.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55095-44C0-4DA1-A9BA-DA3E4AA50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000" b="1" dirty="0"/>
              <a:t>Theoretical Understanding of Hybrid Warfare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8D08E-94FE-4201-9A0B-D2BC13FA6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500" dirty="0"/>
              <a:t>Hybrid warfare involves the coordinated use of:</a:t>
            </a:r>
          </a:p>
          <a:p>
            <a:pPr lvl="1"/>
            <a:r>
              <a:rPr lang="en-US" sz="2500" dirty="0"/>
              <a:t>Regular military forces</a:t>
            </a:r>
          </a:p>
          <a:p>
            <a:pPr lvl="1"/>
            <a:r>
              <a:rPr lang="en-US" sz="2500" dirty="0"/>
              <a:t>Irregular armed groups</a:t>
            </a:r>
          </a:p>
          <a:p>
            <a:pPr lvl="1"/>
            <a:r>
              <a:rPr lang="en-US" sz="2500" dirty="0"/>
              <a:t>Cyber operations</a:t>
            </a:r>
          </a:p>
          <a:p>
            <a:pPr lvl="1"/>
            <a:r>
              <a:rPr lang="en-US" sz="2500" dirty="0"/>
              <a:t>Information manipulation</a:t>
            </a:r>
          </a:p>
          <a:p>
            <a:pPr lvl="1"/>
            <a:r>
              <a:rPr lang="en-US" sz="2500" dirty="0"/>
              <a:t>Economic coercion</a:t>
            </a:r>
          </a:p>
          <a:p>
            <a:pPr lvl="1"/>
            <a:r>
              <a:rPr lang="en-US" sz="2500" dirty="0"/>
              <a:t>Diplomatic pressure</a:t>
            </a:r>
          </a:p>
          <a:p>
            <a:r>
              <a:rPr lang="en-US" sz="2500" dirty="0"/>
              <a:t>Unlike traditional war, hybrid warfare is characterized by ambiguity and deniability, making attribution difficult and response complex.</a:t>
            </a:r>
          </a:p>
          <a:p>
            <a:r>
              <a:rPr lang="en-US" sz="2500" dirty="0"/>
              <a:t>Its primary objective is to weaken the adversary internally without triggering open conventional war.</a:t>
            </a:r>
          </a:p>
        </p:txBody>
      </p:sp>
    </p:spTree>
    <p:extLst>
      <p:ext uri="{BB962C8B-B14F-4D97-AF65-F5344CB8AC3E}">
        <p14:creationId xmlns:p14="http://schemas.microsoft.com/office/powerpoint/2010/main" val="1081049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FF0A4-58B5-40E9-97FA-931639CFA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7535"/>
            <a:ext cx="7886700" cy="1325563"/>
          </a:xfrm>
        </p:spPr>
        <p:txBody>
          <a:bodyPr>
            <a:noAutofit/>
          </a:bodyPr>
          <a:lstStyle/>
          <a:p>
            <a:pPr algn="ctr"/>
            <a:r>
              <a:rPr lang="en-US" sz="5000" b="1" dirty="0"/>
              <a:t>Transformation of Warfare in the 21st Century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FE75A-DE0E-4384-80AB-944FB8516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325" y="1605740"/>
            <a:ext cx="8515350" cy="4929776"/>
          </a:xfrm>
        </p:spPr>
        <p:txBody>
          <a:bodyPr>
            <a:noAutofit/>
          </a:bodyPr>
          <a:lstStyle/>
          <a:p>
            <a:r>
              <a:rPr lang="en-US" sz="2500" dirty="0"/>
              <a:t>The nature of warfare has undergone a fundamental transformation in the 21st century. </a:t>
            </a:r>
          </a:p>
          <a:p>
            <a:r>
              <a:rPr lang="en-US" sz="2500" dirty="0"/>
              <a:t>Technological advancements, globalization, and information revolution have redefined conflict dynamics.</a:t>
            </a:r>
          </a:p>
          <a:p>
            <a:r>
              <a:rPr lang="en-US" sz="2500" dirty="0"/>
              <a:t>Today, warfare is no longer confined to physical battlegrounds;</a:t>
            </a:r>
          </a:p>
          <a:p>
            <a:pPr lvl="1"/>
            <a:r>
              <a:rPr lang="en-US" sz="2500" dirty="0"/>
              <a:t>Cyber space</a:t>
            </a:r>
          </a:p>
          <a:p>
            <a:pPr lvl="1"/>
            <a:r>
              <a:rPr lang="en-US" sz="2500" dirty="0"/>
              <a:t>Information ecosystems</a:t>
            </a:r>
          </a:p>
          <a:p>
            <a:pPr lvl="1"/>
            <a:r>
              <a:rPr lang="en-US" sz="2500" dirty="0"/>
              <a:t>Financial systems</a:t>
            </a:r>
          </a:p>
          <a:p>
            <a:pPr lvl="1"/>
            <a:r>
              <a:rPr lang="en-US" sz="2500" dirty="0"/>
              <a:t>Diplomatic platforms</a:t>
            </a:r>
          </a:p>
          <a:p>
            <a:pPr lvl="1"/>
            <a:r>
              <a:rPr lang="en-US" sz="2500" dirty="0"/>
              <a:t>Psychological domains</a:t>
            </a:r>
          </a:p>
          <a:p>
            <a:r>
              <a:rPr lang="en-US" sz="2500" dirty="0"/>
              <a:t>Modern conflicts aim not at territorial conquest but at undermining the political stability, economic strength, and social cohesion of the target.</a:t>
            </a:r>
          </a:p>
        </p:txBody>
      </p:sp>
    </p:spTree>
    <p:extLst>
      <p:ext uri="{BB962C8B-B14F-4D97-AF65-F5344CB8AC3E}">
        <p14:creationId xmlns:p14="http://schemas.microsoft.com/office/powerpoint/2010/main" val="3886546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097FC-C67C-45C6-B286-80FBBC504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000" b="1" dirty="0"/>
              <a:t>Key Characteristics of Hybrid Warfare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FF4F9-B549-406B-BF4B-2A84AF328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129" y="1719412"/>
            <a:ext cx="8185741" cy="4351338"/>
          </a:xfrm>
        </p:spPr>
        <p:txBody>
          <a:bodyPr>
            <a:noAutofit/>
          </a:bodyPr>
          <a:lstStyle/>
          <a:p>
            <a:r>
              <a:rPr lang="en-US" sz="2500" dirty="0"/>
              <a:t>Hybrid warfare is marked by several defining characteristics:</a:t>
            </a:r>
          </a:p>
          <a:p>
            <a:pPr lvl="1"/>
            <a:r>
              <a:rPr lang="en-US" sz="2500" dirty="0"/>
              <a:t>Blurs the distinction between war and peace. Hostile actions may occur without formal declaration of war, creating strategic confusion.</a:t>
            </a:r>
          </a:p>
          <a:p>
            <a:pPr lvl="1"/>
            <a:r>
              <a:rPr lang="en-US" sz="2500" dirty="0"/>
              <a:t>Combines multiple domains of conflict simultaneously, including political, economic, informational, and cyber dimensions.</a:t>
            </a:r>
          </a:p>
          <a:p>
            <a:pPr lvl="1"/>
            <a:r>
              <a:rPr lang="en-US" sz="2500" dirty="0"/>
              <a:t>Targets the “</a:t>
            </a:r>
            <a:r>
              <a:rPr lang="en-US" sz="2500" dirty="0" err="1"/>
              <a:t>centre</a:t>
            </a:r>
            <a:r>
              <a:rPr lang="en-US" sz="2500" dirty="0"/>
              <a:t> of gravity” of a state (national unity, institutional credibility, and public confidence)</a:t>
            </a:r>
          </a:p>
          <a:p>
            <a:pPr lvl="1"/>
            <a:r>
              <a:rPr lang="en-US" sz="2500" dirty="0"/>
              <a:t>Uses non-state actors and proxy elements to maintain plausible deniability.</a:t>
            </a:r>
          </a:p>
          <a:p>
            <a:r>
              <a:rPr lang="en-US" sz="2500" dirty="0"/>
              <a:t>This makes hybrid warfare particularly dangerous for developing and politically sensitive states.</a:t>
            </a:r>
          </a:p>
        </p:txBody>
      </p:sp>
    </p:spTree>
    <p:extLst>
      <p:ext uri="{BB962C8B-B14F-4D97-AF65-F5344CB8AC3E}">
        <p14:creationId xmlns:p14="http://schemas.microsoft.com/office/powerpoint/2010/main" val="4277154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B6D30-6D2C-4EEB-A89D-08191E750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000" b="1" dirty="0"/>
              <a:t>Instruments and Mechanisms of Hybrid Warfare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0E455-3CCD-43E5-A852-9771214FB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Autofit/>
          </a:bodyPr>
          <a:lstStyle/>
          <a:p>
            <a:r>
              <a:rPr lang="en-US" sz="2500" dirty="0"/>
              <a:t>Cyber warfare may target financial institutions, government databases, and energy infrastructure.</a:t>
            </a:r>
          </a:p>
          <a:p>
            <a:r>
              <a:rPr lang="en-US" sz="2500" dirty="0"/>
              <a:t>Information warfare includes the spread of disinformation, fake news campaigns, and manipulation of public narratives through social media platforms.</a:t>
            </a:r>
          </a:p>
          <a:p>
            <a:r>
              <a:rPr lang="en-US" sz="2500" dirty="0"/>
              <a:t>Economic warfare may involve sanctions, financial blacklisting, or manipulation of international economic institutions.</a:t>
            </a:r>
          </a:p>
          <a:p>
            <a:r>
              <a:rPr lang="en-US" sz="2500" dirty="0"/>
              <a:t>Proxy warfare utilizes militant groups or separatist movements to create internal instability.</a:t>
            </a:r>
          </a:p>
          <a:p>
            <a:r>
              <a:rPr lang="en-US" sz="2500" dirty="0"/>
              <a:t>Together, these mechanisms aim to exhaust the target state politically and economically.</a:t>
            </a:r>
          </a:p>
        </p:txBody>
      </p:sp>
    </p:spTree>
    <p:extLst>
      <p:ext uri="{BB962C8B-B14F-4D97-AF65-F5344CB8AC3E}">
        <p14:creationId xmlns:p14="http://schemas.microsoft.com/office/powerpoint/2010/main" val="3373058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sz="5000" b="1" dirty="0"/>
              <a:t>Tools and Dimensions of Hybrid Warfare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79738"/>
            <a:ext cx="7886700" cy="4351338"/>
          </a:xfrm>
        </p:spPr>
        <p:txBody>
          <a:bodyPr>
            <a:noAutofit/>
          </a:bodyPr>
          <a:lstStyle/>
          <a:p>
            <a:pPr algn="just">
              <a:defRPr sz="1800"/>
            </a:pPr>
            <a:r>
              <a:rPr sz="2500" dirty="0"/>
              <a:t>Cyber operations</a:t>
            </a:r>
            <a:r>
              <a:rPr lang="en-US" sz="2500" dirty="0"/>
              <a:t>; </a:t>
            </a:r>
            <a:r>
              <a:rPr sz="2500" dirty="0"/>
              <a:t>hacking, espionage, data manipulation.</a:t>
            </a:r>
          </a:p>
          <a:p>
            <a:pPr algn="just">
              <a:defRPr sz="1800"/>
            </a:pPr>
            <a:r>
              <a:rPr sz="2500" dirty="0"/>
              <a:t>Disinformation and propaganda</a:t>
            </a:r>
            <a:r>
              <a:rPr lang="en-US" sz="2500" dirty="0"/>
              <a:t>; </a:t>
            </a:r>
            <a:r>
              <a:rPr sz="2500" dirty="0"/>
              <a:t>social media, fake news, rumor campaigns.</a:t>
            </a:r>
          </a:p>
          <a:p>
            <a:pPr algn="just">
              <a:defRPr sz="1800"/>
            </a:pPr>
            <a:r>
              <a:rPr sz="2500" dirty="0"/>
              <a:t>Economic coercion</a:t>
            </a:r>
            <a:r>
              <a:rPr lang="en-US" sz="2500" dirty="0"/>
              <a:t>; </a:t>
            </a:r>
            <a:r>
              <a:rPr sz="2500" dirty="0"/>
              <a:t>sanctions, market manipulation, financial isolation.</a:t>
            </a:r>
          </a:p>
          <a:p>
            <a:pPr algn="just">
              <a:defRPr sz="1800"/>
            </a:pPr>
            <a:r>
              <a:rPr sz="2500" dirty="0"/>
              <a:t>Political interference</a:t>
            </a:r>
            <a:r>
              <a:rPr lang="en-US" sz="2500" dirty="0"/>
              <a:t>; </a:t>
            </a:r>
            <a:r>
              <a:rPr sz="2500" dirty="0"/>
              <a:t>funding proxies, destabilizing narratives.</a:t>
            </a:r>
          </a:p>
          <a:p>
            <a:pPr algn="just">
              <a:defRPr sz="1800"/>
            </a:pPr>
            <a:r>
              <a:rPr sz="2500" dirty="0"/>
              <a:t>Psychological warfare</a:t>
            </a:r>
            <a:r>
              <a:rPr lang="en-US" sz="2500" dirty="0"/>
              <a:t>; </a:t>
            </a:r>
            <a:r>
              <a:rPr sz="2500" dirty="0"/>
              <a:t>eroding national confidence and leadership image.</a:t>
            </a:r>
          </a:p>
          <a:p>
            <a:pPr algn="just">
              <a:defRPr sz="1800"/>
            </a:pPr>
            <a:r>
              <a:rPr sz="2500" dirty="0"/>
              <a:t>Military components</a:t>
            </a:r>
            <a:r>
              <a:rPr lang="en-US" sz="2500" dirty="0"/>
              <a:t>; </a:t>
            </a:r>
            <a:r>
              <a:rPr sz="2500" dirty="0"/>
              <a:t>limited strikes, proxies, irregular warfare.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B6769-E332-497F-AC8F-C4C4FDFF3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4373"/>
            <a:ext cx="7886700" cy="1325563"/>
          </a:xfrm>
        </p:spPr>
        <p:txBody>
          <a:bodyPr>
            <a:noAutofit/>
          </a:bodyPr>
          <a:lstStyle/>
          <a:p>
            <a:pPr algn="ctr"/>
            <a:r>
              <a:rPr lang="en-US" sz="5000" b="1" dirty="0"/>
              <a:t>Social Media as a Strategic Battlefield / Weapon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9A042-4B58-479C-A4AE-DD302F9B2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325" y="1509937"/>
            <a:ext cx="8515350" cy="4816436"/>
          </a:xfrm>
        </p:spPr>
        <p:txBody>
          <a:bodyPr>
            <a:noAutofit/>
          </a:bodyPr>
          <a:lstStyle/>
          <a:p>
            <a:pPr algn="just">
              <a:defRPr sz="1800"/>
            </a:pPr>
            <a:r>
              <a:rPr lang="en-US" sz="2500" dirty="0"/>
              <a:t>Social media transforms information into a digital battlefield.</a:t>
            </a:r>
          </a:p>
          <a:p>
            <a:pPr algn="just">
              <a:defRPr sz="1800"/>
            </a:pPr>
            <a:r>
              <a:rPr lang="en-US" sz="2500" dirty="0"/>
              <a:t>Used for propaganda, misinformation, and opinion shaping.</a:t>
            </a:r>
          </a:p>
          <a:p>
            <a:pPr algn="just">
              <a:defRPr sz="1800"/>
            </a:pPr>
            <a:r>
              <a:rPr lang="en-US" sz="2500" dirty="0"/>
              <a:t>Platforms (Facebook and Twitter) amplify unverified content.</a:t>
            </a:r>
          </a:p>
          <a:p>
            <a:pPr algn="just">
              <a:defRPr sz="1800"/>
            </a:pPr>
            <a:r>
              <a:rPr lang="en-US" sz="2500" dirty="0"/>
              <a:t>Youth most vulnerable to misinformation and manipulation.</a:t>
            </a:r>
          </a:p>
          <a:p>
            <a:r>
              <a:rPr lang="en-US" sz="2500" dirty="0"/>
              <a:t>Rise of digital platforms created a new battleground in conflict.</a:t>
            </a:r>
          </a:p>
          <a:p>
            <a:r>
              <a:rPr lang="en-US" sz="2500" dirty="0"/>
              <a:t>The events of the Arab Spring demonstrated how digital mobilization can rapidly influence political developments.</a:t>
            </a:r>
          </a:p>
          <a:p>
            <a:r>
              <a:rPr lang="en-US" sz="2500" dirty="0"/>
              <a:t>Digital polarization can be exploited to:</a:t>
            </a:r>
          </a:p>
          <a:p>
            <a:pPr lvl="1"/>
            <a:r>
              <a:rPr lang="en-US" sz="2500" dirty="0"/>
              <a:t>Undermine trust in state institutions</a:t>
            </a:r>
          </a:p>
          <a:p>
            <a:pPr lvl="1"/>
            <a:r>
              <a:rPr lang="en-US" sz="2500" dirty="0"/>
              <a:t>Spread misinformation during crises</a:t>
            </a:r>
          </a:p>
          <a:p>
            <a:pPr lvl="1"/>
            <a:r>
              <a:rPr lang="en-US" sz="2500" dirty="0"/>
              <a:t>Influence political narratives</a:t>
            </a:r>
          </a:p>
          <a:p>
            <a:pPr lvl="1"/>
            <a:r>
              <a:rPr lang="en-US" sz="2500" dirty="0"/>
              <a:t>Create artificial perception of instability</a:t>
            </a:r>
          </a:p>
        </p:txBody>
      </p:sp>
    </p:spTree>
    <p:extLst>
      <p:ext uri="{BB962C8B-B14F-4D97-AF65-F5344CB8AC3E}">
        <p14:creationId xmlns:p14="http://schemas.microsoft.com/office/powerpoint/2010/main" val="2115985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5F4EA-5B04-4846-B813-302C58918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7535"/>
            <a:ext cx="7886700" cy="1325563"/>
          </a:xfrm>
        </p:spPr>
        <p:txBody>
          <a:bodyPr>
            <a:noAutofit/>
          </a:bodyPr>
          <a:lstStyle/>
          <a:p>
            <a:pPr algn="ctr"/>
            <a:r>
              <a:rPr lang="en-US" sz="5000" b="1" dirty="0"/>
              <a:t>Psychological &amp; Cognitive Dimensions; National Will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D8152-171F-4EE3-9A07-37462C656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823" y="1563098"/>
            <a:ext cx="8202354" cy="4802185"/>
          </a:xfrm>
        </p:spPr>
        <p:txBody>
          <a:bodyPr>
            <a:noAutofit/>
          </a:bodyPr>
          <a:lstStyle/>
          <a:p>
            <a:pPr>
              <a:defRPr sz="1800"/>
            </a:pPr>
            <a:r>
              <a:rPr lang="en-US" sz="2500" dirty="0"/>
              <a:t>Hybrid operations aim to weaken morale and national confidence.</a:t>
            </a:r>
          </a:p>
          <a:p>
            <a:pPr>
              <a:defRPr sz="1800"/>
            </a:pPr>
            <a:r>
              <a:rPr lang="en-US" sz="2500" dirty="0"/>
              <a:t>Algorithms amplify emotionally charged content, often prioritizing sensationalism over accuracy.</a:t>
            </a:r>
          </a:p>
          <a:p>
            <a:pPr>
              <a:defRPr sz="1800"/>
            </a:pPr>
            <a:r>
              <a:rPr lang="en-US" sz="2500" dirty="0"/>
              <a:t>Information manipulation shapes how citizens perceive their state, leadership, and future prospects (conditions them into distrust)</a:t>
            </a:r>
          </a:p>
          <a:p>
            <a:pPr>
              <a:defRPr sz="1800"/>
            </a:pPr>
            <a:r>
              <a:rPr lang="en-US" sz="2500" dirty="0"/>
              <a:t>Economic stress, political polarization, governance debates, and corruption discourses are exploited.</a:t>
            </a:r>
          </a:p>
          <a:p>
            <a:r>
              <a:rPr lang="en-US" sz="2500" dirty="0"/>
              <a:t>Fake news undermines legitimacy of institutions and leadership; governance becomes fragile.</a:t>
            </a:r>
          </a:p>
          <a:p>
            <a:r>
              <a:rPr lang="en-US" sz="2500" dirty="0"/>
              <a:t>By spreading doubt, fear, and confusion, adversaries attempt to weaken national resilience.</a:t>
            </a:r>
          </a:p>
        </p:txBody>
      </p:sp>
    </p:spTree>
    <p:extLst>
      <p:ext uri="{BB962C8B-B14F-4D97-AF65-F5344CB8AC3E}">
        <p14:creationId xmlns:p14="http://schemas.microsoft.com/office/powerpoint/2010/main" val="1984725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sz="5000" b="1" dirty="0"/>
              <a:t>Conceptual Ambiguities &amp;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defRPr sz="1800"/>
            </a:pPr>
            <a:r>
              <a:rPr sz="2500" dirty="0"/>
              <a:t>No consensus on who conducts hybrid warfare</a:t>
            </a:r>
            <a:r>
              <a:rPr lang="en-US" sz="2500" dirty="0"/>
              <a:t>; </a:t>
            </a:r>
            <a:r>
              <a:rPr sz="2500" dirty="0"/>
              <a:t>state, non-state, or both.</a:t>
            </a:r>
          </a:p>
          <a:p>
            <a:pPr algn="just">
              <a:defRPr sz="1800"/>
            </a:pPr>
            <a:r>
              <a:rPr sz="2500" dirty="0"/>
              <a:t>Ambiguity in identifying tactics: propaganda, cyber-attacks, economic coercion, etc.</a:t>
            </a:r>
          </a:p>
          <a:p>
            <a:pPr algn="just">
              <a:defRPr sz="1800"/>
            </a:pPr>
            <a:r>
              <a:rPr sz="2500" dirty="0"/>
              <a:t>Unclear timeframe</a:t>
            </a:r>
            <a:r>
              <a:rPr lang="en-US" sz="2500" dirty="0"/>
              <a:t>, </a:t>
            </a:r>
            <a:r>
              <a:rPr sz="2500" dirty="0"/>
              <a:t>continuous low-intensity conflict rather than defined wars.</a:t>
            </a:r>
          </a:p>
          <a:p>
            <a:pPr algn="just">
              <a:defRPr sz="1800"/>
            </a:pPr>
            <a:r>
              <a:rPr sz="2500" dirty="0"/>
              <a:t>Targets leadership, institutions, and public morale simultaneously.</a:t>
            </a:r>
          </a:p>
          <a:p>
            <a:pPr algn="just">
              <a:defRPr sz="1800"/>
            </a:pPr>
            <a:r>
              <a:rPr sz="2500" dirty="0"/>
              <a:t>Creates difficulty for deterrence and response due to lack of attribution.</a:t>
            </a:r>
          </a:p>
          <a:p>
            <a:pPr algn="just">
              <a:defRPr sz="1800"/>
            </a:pPr>
            <a:r>
              <a:rPr sz="2500" dirty="0"/>
              <a:t>Expands risk base</a:t>
            </a:r>
            <a:r>
              <a:rPr lang="en-US" sz="2500" dirty="0"/>
              <a:t> </a:t>
            </a:r>
            <a:r>
              <a:rPr sz="2500" dirty="0"/>
              <a:t>security threats now include non-kinetic and virtual domains.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sz="5000" b="1" dirty="0"/>
              <a:t>India’s Hybrid Strategy Against Pakistan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defRPr sz="1800"/>
            </a:pPr>
            <a:r>
              <a:rPr sz="2500" dirty="0"/>
              <a:t>India uses multiple instruments</a:t>
            </a:r>
            <a:r>
              <a:rPr lang="en-US" sz="2500" dirty="0"/>
              <a:t>; </a:t>
            </a:r>
            <a:r>
              <a:rPr sz="2500" dirty="0"/>
              <a:t>diplomatic isolation, media narratives, and cyber influence.</a:t>
            </a:r>
          </a:p>
          <a:p>
            <a:pPr algn="just">
              <a:defRPr sz="1800"/>
            </a:pPr>
            <a:r>
              <a:rPr sz="2500" dirty="0"/>
              <a:t>Propaganda films and claims of ‘surgical strikes’ bolster Indian morale and discredit Pakistan.</a:t>
            </a:r>
          </a:p>
          <a:p>
            <a:pPr algn="just">
              <a:defRPr sz="1800"/>
            </a:pPr>
            <a:r>
              <a:rPr sz="2500" dirty="0"/>
              <a:t>Information operations label Pakistan as ‘sponsor of terrorism.’</a:t>
            </a:r>
          </a:p>
          <a:p>
            <a:pPr algn="just">
              <a:defRPr sz="1800"/>
            </a:pPr>
            <a:r>
              <a:rPr sz="2500" dirty="0"/>
              <a:t>Economic and political coercion aims to undermine Pakistan’s credibility internationally.</a:t>
            </a:r>
          </a:p>
          <a:p>
            <a:pPr algn="just">
              <a:defRPr sz="1800"/>
            </a:pPr>
            <a:r>
              <a:rPr sz="2500" dirty="0"/>
              <a:t>Support for separatist narratives and disinformation on human rights.</a:t>
            </a:r>
          </a:p>
          <a:p>
            <a:pPr algn="just">
              <a:defRPr sz="1800"/>
            </a:pPr>
            <a:r>
              <a:rPr sz="2500" dirty="0"/>
              <a:t>Goal: weaken Pakistan’s national will and international standing without open war.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sz="5000" b="1" dirty="0"/>
              <a:t>Cyber Attacks </a:t>
            </a:r>
            <a:r>
              <a:rPr lang="en-US" sz="5000" b="1" dirty="0"/>
              <a:t>&amp;</a:t>
            </a:r>
            <a:r>
              <a:rPr sz="5000" b="1" dirty="0"/>
              <a:t> Technological Threats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defRPr sz="1800"/>
            </a:pPr>
            <a:r>
              <a:rPr lang="en-US" sz="2500" dirty="0"/>
              <a:t>Cyber warfare targets national databases, financial systems, and infrastructure.</a:t>
            </a:r>
          </a:p>
          <a:p>
            <a:pPr algn="just">
              <a:defRPr sz="1800"/>
            </a:pPr>
            <a:r>
              <a:rPr lang="en-US" sz="2500" dirty="0"/>
              <a:t>Pakistan’s 2018 banking breach; compromised accounts and national data.</a:t>
            </a:r>
          </a:p>
          <a:p>
            <a:pPr algn="just">
              <a:defRPr sz="1800"/>
            </a:pPr>
            <a:r>
              <a:rPr lang="en-US" sz="2500" dirty="0"/>
              <a:t>Digital dependency increases exposure to hybrid threats.</a:t>
            </a:r>
          </a:p>
          <a:p>
            <a:pPr algn="just">
              <a:defRPr sz="1800"/>
            </a:pPr>
            <a:r>
              <a:rPr lang="en-US" sz="2500" dirty="0"/>
              <a:t>Cyber espionage and sabotage blur lines between intelligence and aggression.</a:t>
            </a:r>
          </a:p>
          <a:p>
            <a:pPr algn="just">
              <a:defRPr sz="1800"/>
            </a:pPr>
            <a:r>
              <a:rPr lang="en-US" sz="2500" dirty="0"/>
              <a:t>Need for indigenous cybersecurity architecture and data protection.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94BBC-4199-408B-BB5C-234090290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59489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sz="5000" b="1" dirty="0"/>
              <a:t>Challenges Faced by Pakistan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F5F10-E93B-4D1E-A9DF-38F202C54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04" y="1350334"/>
            <a:ext cx="8377792" cy="4710223"/>
          </a:xfrm>
        </p:spPr>
        <p:txBody>
          <a:bodyPr>
            <a:normAutofit fontScale="25000" lnSpcReduction="20000"/>
          </a:bodyPr>
          <a:lstStyle/>
          <a:p>
            <a:pPr algn="just">
              <a:defRPr sz="1800"/>
            </a:pPr>
            <a:r>
              <a:rPr lang="en-US" sz="10000" dirty="0"/>
              <a:t>Limited understanding among policymakers of hybrid threats’ complexity.</a:t>
            </a:r>
          </a:p>
          <a:p>
            <a:pPr algn="just">
              <a:defRPr sz="1800"/>
            </a:pPr>
            <a:r>
              <a:rPr lang="en-US" sz="10000" dirty="0"/>
              <a:t>Reactive, militarized security posture focused on territorial defense.</a:t>
            </a:r>
          </a:p>
          <a:p>
            <a:pPr algn="just">
              <a:defRPr sz="1800"/>
            </a:pPr>
            <a:r>
              <a:rPr lang="en-US" sz="10000" dirty="0"/>
              <a:t>Vulnerable digital infrastructure and poor cyber hygiene.</a:t>
            </a:r>
          </a:p>
          <a:p>
            <a:pPr algn="just">
              <a:defRPr sz="1800"/>
            </a:pPr>
            <a:r>
              <a:rPr lang="en-US" sz="10000" dirty="0"/>
              <a:t>In Pakistan, 35 million active social media users (2018); 92% use Facebook.</a:t>
            </a:r>
          </a:p>
          <a:p>
            <a:pPr algn="just">
              <a:defRPr sz="1800"/>
            </a:pPr>
            <a:r>
              <a:rPr lang="en-US" sz="10000" dirty="0"/>
              <a:t>Socio-political polarization exploited via misinformation.</a:t>
            </a:r>
          </a:p>
          <a:p>
            <a:pPr algn="just">
              <a:defRPr sz="1800"/>
            </a:pPr>
            <a:r>
              <a:rPr lang="en-US" sz="10000" dirty="0"/>
              <a:t>Low public awareness of psychological warfare.</a:t>
            </a:r>
          </a:p>
          <a:p>
            <a:r>
              <a:rPr lang="en-US" sz="10000" dirty="0"/>
              <a:t>International forums are sometimes used to exert pressure through reputational damage.</a:t>
            </a:r>
          </a:p>
          <a:p>
            <a:r>
              <a:rPr lang="en-US" sz="10000" dirty="0"/>
              <a:t>The ultimate aim of such strategies is not immediate military defeat but long-term internal weakening. </a:t>
            </a:r>
          </a:p>
          <a:p>
            <a:r>
              <a:rPr lang="en-US" sz="10000" dirty="0"/>
              <a:t>Narrative campaigns attempt to portray Pakistan as politically unstable, economically fragile, or diplomatically isolated.</a:t>
            </a:r>
          </a:p>
        </p:txBody>
      </p:sp>
    </p:spTree>
    <p:extLst>
      <p:ext uri="{BB962C8B-B14F-4D97-AF65-F5344CB8AC3E}">
        <p14:creationId xmlns:p14="http://schemas.microsoft.com/office/powerpoint/2010/main" val="666357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sz="5000" b="1" dirty="0"/>
              <a:t>Policy Options for Pakistan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899" y="1008782"/>
            <a:ext cx="8250201" cy="4351338"/>
          </a:xfrm>
        </p:spPr>
        <p:txBody>
          <a:bodyPr>
            <a:noAutofit/>
          </a:bodyPr>
          <a:lstStyle/>
          <a:p>
            <a:pPr>
              <a:defRPr sz="1800"/>
            </a:pPr>
            <a:r>
              <a:rPr lang="en-US" sz="2500" dirty="0"/>
              <a:t>Hybrid warfare targets minds, not borders; victory depends on resilience.</a:t>
            </a:r>
          </a:p>
          <a:p>
            <a:pPr>
              <a:defRPr sz="1800"/>
            </a:pPr>
            <a:r>
              <a:rPr lang="en-US" sz="2500" dirty="0"/>
              <a:t>Strong, unified nations are immune to psychological and informational subversion.</a:t>
            </a:r>
          </a:p>
          <a:p>
            <a:pPr>
              <a:defRPr sz="1800"/>
            </a:pPr>
            <a:r>
              <a:rPr lang="en-US" sz="2500" dirty="0"/>
              <a:t>Faith in leadership and institutions deters enemy propaganda.</a:t>
            </a:r>
          </a:p>
          <a:p>
            <a:pPr>
              <a:defRPr sz="1800"/>
            </a:pPr>
            <a:r>
              <a:rPr lang="en-US" sz="2500" dirty="0"/>
              <a:t>National unity, credible information, and welfare policies ensure psychological security.</a:t>
            </a:r>
          </a:p>
          <a:p>
            <a:pPr>
              <a:defRPr sz="1800"/>
            </a:pPr>
            <a:r>
              <a:rPr sz="2500" dirty="0"/>
              <a:t>Recognize hybrid warfare as a national security priority.</a:t>
            </a:r>
          </a:p>
          <a:p>
            <a:pPr>
              <a:defRPr sz="1800"/>
            </a:pPr>
            <a:r>
              <a:rPr sz="2500" dirty="0"/>
              <a:t>Develop a unified national narrative to counter disinformation.</a:t>
            </a:r>
          </a:p>
          <a:p>
            <a:pPr>
              <a:defRPr sz="1800"/>
            </a:pPr>
            <a:r>
              <a:rPr sz="2500" dirty="0"/>
              <a:t>Enhance cybersecurity laws and build indigenous technological capacity.</a:t>
            </a:r>
          </a:p>
          <a:p>
            <a:pPr>
              <a:defRPr sz="1800"/>
            </a:pPr>
            <a:r>
              <a:rPr sz="2500" dirty="0"/>
              <a:t>Invest in youth training for digital literacy and cyber defense.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6FFF1-1117-425D-AD33-FFC616B7F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000" b="1" dirty="0"/>
              <a:t>Strategic Response and Policy Measures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F715D-72A5-4E95-A1E9-C2B732426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274" y="1690801"/>
            <a:ext cx="8899451" cy="4699478"/>
          </a:xfrm>
        </p:spPr>
        <p:txBody>
          <a:bodyPr>
            <a:noAutofit/>
          </a:bodyPr>
          <a:lstStyle/>
          <a:p>
            <a:r>
              <a:rPr lang="en-US" sz="2500" dirty="0"/>
              <a:t>To effectively counter hybrid warfare, Pakistan requires a comprehensive and coordinated approach;</a:t>
            </a:r>
          </a:p>
          <a:p>
            <a:pPr lvl="1"/>
            <a:r>
              <a:rPr lang="en-US" sz="2500" dirty="0"/>
              <a:t>Development of a national hybrid warfare doctrine</a:t>
            </a:r>
          </a:p>
          <a:p>
            <a:pPr lvl="1"/>
            <a:r>
              <a:rPr lang="en-US" sz="2500" dirty="0"/>
              <a:t>Strengthening cyber security architecture</a:t>
            </a:r>
          </a:p>
          <a:p>
            <a:pPr lvl="1"/>
            <a:r>
              <a:rPr lang="en-US" sz="2500" dirty="0"/>
              <a:t>Media literacy programs for citizens</a:t>
            </a:r>
          </a:p>
          <a:p>
            <a:pPr lvl="1"/>
            <a:r>
              <a:rPr lang="en-US" sz="2500" dirty="0"/>
              <a:t>Strategic diplomatic engagement</a:t>
            </a:r>
          </a:p>
          <a:p>
            <a:r>
              <a:rPr lang="en-US" sz="2500" dirty="0"/>
              <a:t>Hybrid threats demand a whole-of-nation response involving civil society, academia and policymakers.</a:t>
            </a:r>
          </a:p>
          <a:p>
            <a:pPr>
              <a:defRPr sz="1800"/>
            </a:pPr>
            <a:r>
              <a:rPr lang="en-US" sz="2500" dirty="0"/>
              <a:t>Promote responsible journalism and media ethics to prevent fake news.</a:t>
            </a:r>
          </a:p>
          <a:p>
            <a:pPr>
              <a:defRPr sz="1800"/>
            </a:pPr>
            <a:r>
              <a:rPr lang="en-US" sz="2500" dirty="0"/>
              <a:t>Develop local software, servers, and encryption technologies.</a:t>
            </a:r>
          </a:p>
          <a:p>
            <a:pPr>
              <a:defRPr sz="1800"/>
            </a:pPr>
            <a:r>
              <a:rPr lang="en-US" sz="2500" dirty="0"/>
              <a:t>Launch nationwide awareness campaigns on information security.</a:t>
            </a:r>
          </a:p>
        </p:txBody>
      </p:sp>
    </p:spTree>
    <p:extLst>
      <p:ext uri="{BB962C8B-B14F-4D97-AF65-F5344CB8AC3E}">
        <p14:creationId xmlns:p14="http://schemas.microsoft.com/office/powerpoint/2010/main" val="15215131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C79335-1C6E-4166-AE5B-86E9F581C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10000" dirty="0"/>
              <a:t>PART 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D49DC-9BEC-4366-AAF9-B9C1892B4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dirty="0"/>
              <a:t>CLIMATE CHANGE &amp; PAKISTAN</a:t>
            </a:r>
          </a:p>
        </p:txBody>
      </p:sp>
    </p:spTree>
    <p:extLst>
      <p:ext uri="{BB962C8B-B14F-4D97-AF65-F5344CB8AC3E}">
        <p14:creationId xmlns:p14="http://schemas.microsoft.com/office/powerpoint/2010/main" val="24293698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BE526-1820-4C28-9294-872A88377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000" b="1" dirty="0"/>
              <a:t>Climate Change as a Global Strategic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C353F-8280-414E-950F-2A5CA95AD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Climate change has evolved from an environmental concern into a global security challenge.</a:t>
            </a:r>
          </a:p>
          <a:p>
            <a:r>
              <a:rPr lang="en-US" sz="2500" dirty="0"/>
              <a:t>It affects economic development, food security, public health, and geopolitical stability.</a:t>
            </a:r>
          </a:p>
          <a:p>
            <a:r>
              <a:rPr lang="en-US" sz="2500" dirty="0"/>
              <a:t>Pakistan contributes less than 1% to global greenhouse gas emissions, yet remains among the most climate-vulnerable countries in the world.</a:t>
            </a:r>
          </a:p>
          <a:p>
            <a:r>
              <a:rPr lang="en-US" sz="2500" dirty="0"/>
              <a:t>This imbalance highlights the issue of climate injustice within the global system.</a:t>
            </a:r>
          </a:p>
        </p:txBody>
      </p:sp>
    </p:spTree>
    <p:extLst>
      <p:ext uri="{BB962C8B-B14F-4D97-AF65-F5344CB8AC3E}">
        <p14:creationId xmlns:p14="http://schemas.microsoft.com/office/powerpoint/2010/main" val="31803922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8E668-D41B-43B5-9F2F-E91312E44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000" b="1" dirty="0"/>
              <a:t>Pakistan’s Geographic Vulnerability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FE8EE-91A0-46E8-A13E-E2864C580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500" dirty="0"/>
              <a:t>Pakistan’s diverse geography intensifies its exposure to climate risks.</a:t>
            </a:r>
          </a:p>
          <a:p>
            <a:r>
              <a:rPr lang="en-US" sz="2500" dirty="0"/>
              <a:t>The northern regions contain some of the largest glacial reserves outside the polar regions.</a:t>
            </a:r>
          </a:p>
          <a:p>
            <a:r>
              <a:rPr lang="en-US" sz="2500" dirty="0"/>
              <a:t>Accelerated glacier melting increases the risk of glacial lake outburst floods.</a:t>
            </a:r>
          </a:p>
          <a:p>
            <a:r>
              <a:rPr lang="en-US" sz="2500" dirty="0"/>
              <a:t>The Indus River system, which supports agriculture and livelihoods, is highly sensitive to changing precipitation patterns.</a:t>
            </a:r>
          </a:p>
          <a:p>
            <a:r>
              <a:rPr lang="en-US" sz="2500" dirty="0"/>
              <a:t>Coastal regions, particularly in Sindh, face sea-level rise and saline intrusion.</a:t>
            </a:r>
          </a:p>
        </p:txBody>
      </p:sp>
    </p:spTree>
    <p:extLst>
      <p:ext uri="{BB962C8B-B14F-4D97-AF65-F5344CB8AC3E}">
        <p14:creationId xmlns:p14="http://schemas.microsoft.com/office/powerpoint/2010/main" val="33215957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D72A6-D689-4B8D-8A78-B19939EF7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000" b="1" dirty="0"/>
              <a:t>Major Climate Impacts on Pakistan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F6604-F576-461E-8761-99985CE1A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500" dirty="0"/>
              <a:t>Pakistan has experienced repeated climate shocks including:</a:t>
            </a:r>
          </a:p>
          <a:p>
            <a:pPr lvl="1"/>
            <a:r>
              <a:rPr lang="en-US" sz="2500" dirty="0"/>
              <a:t>Severe floods that damage infrastructure, displace populations, and reduce agricultural output.</a:t>
            </a:r>
          </a:p>
          <a:p>
            <a:pPr lvl="1"/>
            <a:r>
              <a:rPr lang="en-US" sz="2500" dirty="0"/>
              <a:t>Prolonged droughts that affect water availability and livestock survival.</a:t>
            </a:r>
          </a:p>
          <a:p>
            <a:pPr lvl="1"/>
            <a:r>
              <a:rPr lang="en-US" sz="2500" dirty="0"/>
              <a:t>Extreme heat waves that increase mortality rates and strain urban infrastructure.</a:t>
            </a:r>
          </a:p>
          <a:p>
            <a:pPr lvl="1"/>
            <a:r>
              <a:rPr lang="en-US" sz="2500" dirty="0"/>
              <a:t>Irregular monsoon patterns that disrupt crop cycles.</a:t>
            </a:r>
          </a:p>
          <a:p>
            <a:r>
              <a:rPr lang="en-US" sz="2500" dirty="0"/>
              <a:t>These events collectively slow economic growth and deepen poverty.</a:t>
            </a:r>
          </a:p>
        </p:txBody>
      </p:sp>
    </p:spTree>
    <p:extLst>
      <p:ext uri="{BB962C8B-B14F-4D97-AF65-F5344CB8AC3E}">
        <p14:creationId xmlns:p14="http://schemas.microsoft.com/office/powerpoint/2010/main" val="26545187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418DA-0531-4230-945E-0118B6394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000" b="1" dirty="0"/>
              <a:t>Climate Change &amp; Agriculture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B808B-E2B3-4DBC-A0B1-9084ED0B1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Autofit/>
          </a:bodyPr>
          <a:lstStyle/>
          <a:p>
            <a:r>
              <a:rPr lang="en-US" sz="2500" dirty="0"/>
              <a:t>Agriculture remains a backbone of Pakistan’s economy, employing a significant portion of the population.</a:t>
            </a:r>
          </a:p>
          <a:p>
            <a:r>
              <a:rPr lang="en-US" sz="2500" dirty="0"/>
              <a:t>Climate variability directly affects crop productivity through:</a:t>
            </a:r>
          </a:p>
          <a:p>
            <a:pPr lvl="1"/>
            <a:r>
              <a:rPr lang="en-US" sz="2500" dirty="0"/>
              <a:t>Water shortages</a:t>
            </a:r>
          </a:p>
          <a:p>
            <a:pPr lvl="1"/>
            <a:r>
              <a:rPr lang="en-US" sz="2500" dirty="0"/>
              <a:t>Temperature fluctuations</a:t>
            </a:r>
          </a:p>
          <a:p>
            <a:pPr lvl="1"/>
            <a:r>
              <a:rPr lang="en-US" sz="2500" dirty="0"/>
              <a:t>Pest proliferation</a:t>
            </a:r>
          </a:p>
          <a:p>
            <a:pPr lvl="1"/>
            <a:r>
              <a:rPr lang="en-US" sz="2500" dirty="0"/>
              <a:t>Soil degradation</a:t>
            </a:r>
          </a:p>
          <a:p>
            <a:r>
              <a:rPr lang="en-US" sz="2500" dirty="0"/>
              <a:t>Reduced agricultural output threatens food security and increases rural-urban migration.</a:t>
            </a:r>
          </a:p>
          <a:p>
            <a:r>
              <a:rPr lang="en-US" sz="2500" dirty="0"/>
              <a:t>Food insecurity can translate into broader social instability.</a:t>
            </a:r>
          </a:p>
        </p:txBody>
      </p:sp>
    </p:spTree>
    <p:extLst>
      <p:ext uri="{BB962C8B-B14F-4D97-AF65-F5344CB8AC3E}">
        <p14:creationId xmlns:p14="http://schemas.microsoft.com/office/powerpoint/2010/main" val="6588172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7044B-9EEA-4269-B7B8-0862B9BD0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000" b="1" dirty="0"/>
              <a:t>Economic and Developmental Consequences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1C3A7-98A2-4891-A1B0-5C130383F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Climate disasters result in substantial economic losses.</a:t>
            </a:r>
          </a:p>
          <a:p>
            <a:r>
              <a:rPr lang="en-US" sz="2500" dirty="0"/>
              <a:t>Reconstruction costs divert resources away from development priorities.</a:t>
            </a:r>
          </a:p>
          <a:p>
            <a:r>
              <a:rPr lang="en-US" sz="2500" dirty="0"/>
              <a:t>Energy shortages caused by water variability affect industrial productivity.</a:t>
            </a:r>
          </a:p>
          <a:p>
            <a:r>
              <a:rPr lang="en-US" sz="2500" dirty="0"/>
              <a:t>Investor confidence may decline in the face of repeated environmental crises.</a:t>
            </a:r>
          </a:p>
          <a:p>
            <a:r>
              <a:rPr lang="en-US" sz="2500" dirty="0"/>
              <a:t>Thus, climate change presents both immediate and long-term developmental challenges.</a:t>
            </a:r>
          </a:p>
        </p:txBody>
      </p:sp>
    </p:spTree>
    <p:extLst>
      <p:ext uri="{BB962C8B-B14F-4D97-AF65-F5344CB8AC3E}">
        <p14:creationId xmlns:p14="http://schemas.microsoft.com/office/powerpoint/2010/main" val="36049563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BF100-8C46-486D-84AF-3FCE56A19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000" b="1" dirty="0"/>
              <a:t>Climate Change as a Non-Traditional Security Threat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5AAF6-6AEB-458F-8628-62DB5DA26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Climate change intensifies resource competition, particularly over water.</a:t>
            </a:r>
          </a:p>
          <a:p>
            <a:r>
              <a:rPr lang="en-US" sz="2500" dirty="0"/>
              <a:t>Internal displacement caused by floods and drought increases urban congestion.</a:t>
            </a:r>
          </a:p>
          <a:p>
            <a:r>
              <a:rPr lang="en-US" sz="2500" dirty="0"/>
              <a:t>Socio-economic stress may exacerbate political grievances.</a:t>
            </a:r>
          </a:p>
          <a:p>
            <a:r>
              <a:rPr lang="en-US" sz="2500" dirty="0"/>
              <a:t>Therefore, climate change is increasingly recognized as a non-traditional security threat with potential geopolitical implications.</a:t>
            </a:r>
          </a:p>
        </p:txBody>
      </p:sp>
    </p:spTree>
    <p:extLst>
      <p:ext uri="{BB962C8B-B14F-4D97-AF65-F5344CB8AC3E}">
        <p14:creationId xmlns:p14="http://schemas.microsoft.com/office/powerpoint/2010/main" val="42851135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337EB-027E-4AE3-A5FE-BB66BB9F4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000" b="1" dirty="0"/>
              <a:t>Pakistan’s Policy and Global Commitments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3CFFB-AEAA-4082-9DD2-8A850564C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Pakistan has undertaken various initiatives to align with global sustainability frameworks.</a:t>
            </a:r>
          </a:p>
          <a:p>
            <a:r>
              <a:rPr lang="en-US" sz="2500" dirty="0"/>
              <a:t>These include:</a:t>
            </a:r>
          </a:p>
          <a:p>
            <a:pPr lvl="1"/>
            <a:r>
              <a:rPr lang="en-US" sz="2500" dirty="0"/>
              <a:t>National climate adaptation policies</a:t>
            </a:r>
          </a:p>
          <a:p>
            <a:pPr lvl="1"/>
            <a:r>
              <a:rPr lang="en-US" sz="2500" dirty="0"/>
              <a:t>Reforestation campaigns</a:t>
            </a:r>
          </a:p>
          <a:p>
            <a:pPr lvl="1"/>
            <a:r>
              <a:rPr lang="en-US" sz="2500" dirty="0"/>
              <a:t>Promotion of renewable energy</a:t>
            </a:r>
          </a:p>
          <a:p>
            <a:pPr lvl="1"/>
            <a:r>
              <a:rPr lang="en-US" sz="2500" dirty="0"/>
              <a:t>Disaster risk management reforms</a:t>
            </a:r>
          </a:p>
          <a:p>
            <a:pPr lvl="1"/>
            <a:r>
              <a:rPr lang="en-US" sz="2500" dirty="0"/>
              <a:t>International climate diplomacy</a:t>
            </a:r>
          </a:p>
          <a:p>
            <a:r>
              <a:rPr lang="en-US" sz="2500" dirty="0"/>
              <a:t>Such measures position Pakistan as a responsible actor within the global environmental agenda.</a:t>
            </a:r>
          </a:p>
        </p:txBody>
      </p:sp>
    </p:spTree>
    <p:extLst>
      <p:ext uri="{BB962C8B-B14F-4D97-AF65-F5344CB8AC3E}">
        <p14:creationId xmlns:p14="http://schemas.microsoft.com/office/powerpoint/2010/main" val="16805444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F6E2B-350D-401E-B3AB-B97386F3E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000" b="1" dirty="0"/>
              <a:t>Way Forward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11CD9-684E-4CD4-98C3-A20202B7E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sz="2500" dirty="0"/>
              <a:t>To effectively address climate change, Pakistan must:</a:t>
            </a:r>
          </a:p>
          <a:p>
            <a:pPr lvl="1"/>
            <a:r>
              <a:rPr lang="en-US" sz="2500" dirty="0"/>
              <a:t>Invest in climate-resilient infrastructure</a:t>
            </a:r>
          </a:p>
          <a:p>
            <a:pPr lvl="1"/>
            <a:r>
              <a:rPr lang="en-US" sz="2500" dirty="0"/>
              <a:t>Modernize irrigation systems</a:t>
            </a:r>
          </a:p>
          <a:p>
            <a:pPr lvl="1"/>
            <a:r>
              <a:rPr lang="en-US" sz="2500" dirty="0"/>
              <a:t>Promote green energy transition</a:t>
            </a:r>
          </a:p>
          <a:p>
            <a:pPr lvl="1"/>
            <a:r>
              <a:rPr lang="en-US" sz="2500" dirty="0"/>
              <a:t>Strengthen early warning systems</a:t>
            </a:r>
          </a:p>
          <a:p>
            <a:pPr lvl="1"/>
            <a:r>
              <a:rPr lang="en-US" sz="2500" dirty="0"/>
              <a:t>Enhance regional cooperation on water management</a:t>
            </a:r>
          </a:p>
          <a:p>
            <a:r>
              <a:rPr lang="en-US" sz="2500" dirty="0"/>
              <a:t>Sustainable development must be integrated into national planning frameworks.</a:t>
            </a:r>
          </a:p>
        </p:txBody>
      </p:sp>
    </p:spTree>
    <p:extLst>
      <p:ext uri="{BB962C8B-B14F-4D97-AF65-F5344CB8AC3E}">
        <p14:creationId xmlns:p14="http://schemas.microsoft.com/office/powerpoint/2010/main" val="21232340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221A7-67FF-A5DB-C84E-0EB26DFEB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Challenges To Achieve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601B1F9-21CB-C983-0884-328E2AF614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2499400"/>
              </p:ext>
            </p:extLst>
          </p:nvPr>
        </p:nvGraphicFramePr>
        <p:xfrm>
          <a:off x="802481" y="2646293"/>
          <a:ext cx="7543800" cy="27133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224047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717D7-3694-431D-A2B5-C656AD2A2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3439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sz="5000" b="1" dirty="0"/>
              <a:t>Integrated Perspective</a:t>
            </a:r>
            <a:endParaRPr lang="en-US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50688-9249-4AE3-94EB-4143A5FC4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42853"/>
            <a:ext cx="7886700" cy="4351338"/>
          </a:xfrm>
        </p:spPr>
        <p:txBody>
          <a:bodyPr>
            <a:noAutofit/>
          </a:bodyPr>
          <a:lstStyle/>
          <a:p>
            <a:r>
              <a:rPr lang="en-US" sz="2500" dirty="0"/>
              <a:t>Both hybrid warfare and climate change represent complex, multidimensional challenges.</a:t>
            </a:r>
          </a:p>
          <a:p>
            <a:r>
              <a:rPr lang="en-US" sz="2500" dirty="0"/>
              <a:t>Hybrid warfare targets national cohesion and perception.</a:t>
            </a:r>
          </a:p>
          <a:p>
            <a:r>
              <a:rPr lang="en-US" sz="2500" dirty="0"/>
              <a:t>Climate change threatens physical infrastructure and economic stability.</a:t>
            </a:r>
          </a:p>
          <a:p>
            <a:r>
              <a:rPr lang="en-US" sz="2500" dirty="0"/>
              <a:t>Together, they demand:</a:t>
            </a:r>
          </a:p>
          <a:p>
            <a:pPr lvl="1"/>
            <a:r>
              <a:rPr lang="en-US" sz="2500" dirty="0"/>
              <a:t>Strategic foresight</a:t>
            </a:r>
          </a:p>
          <a:p>
            <a:pPr lvl="1"/>
            <a:r>
              <a:rPr lang="en-US" sz="2500" dirty="0"/>
              <a:t>Institutional resilience</a:t>
            </a:r>
          </a:p>
          <a:p>
            <a:pPr lvl="1"/>
            <a:r>
              <a:rPr lang="en-US" sz="2500" dirty="0"/>
              <a:t>National unity</a:t>
            </a:r>
          </a:p>
          <a:p>
            <a:pPr lvl="1"/>
            <a:r>
              <a:rPr lang="en-US" sz="2500" dirty="0"/>
              <a:t>Policy innovation</a:t>
            </a:r>
          </a:p>
          <a:p>
            <a:r>
              <a:rPr lang="en-US" sz="2500" dirty="0"/>
              <a:t>Pakistan’s pursuit of a socio-global agenda depends on strengthening internal stability while engaging constructively in global governance frameworks.</a:t>
            </a:r>
          </a:p>
        </p:txBody>
      </p:sp>
    </p:spTree>
    <p:extLst>
      <p:ext uri="{BB962C8B-B14F-4D97-AF65-F5344CB8AC3E}">
        <p14:creationId xmlns:p14="http://schemas.microsoft.com/office/powerpoint/2010/main" val="888436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1038</TotalTime>
  <Words>1907</Words>
  <Application>Microsoft Office PowerPoint</Application>
  <PresentationFormat>On-screen Show (4:3)</PresentationFormat>
  <Paragraphs>199</Paragraphs>
  <Slides>28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Office Theme</vt:lpstr>
      <vt:lpstr>PAKISTAN IN PURSUIT OF SOCIO-GLOBAL AGENDA – I</vt:lpstr>
      <vt:lpstr>PART I</vt:lpstr>
      <vt:lpstr>Evolution of Warfare</vt:lpstr>
      <vt:lpstr>Understanding Hybrid Warfare</vt:lpstr>
      <vt:lpstr>Theoretical Understanding of Hybrid Warfare</vt:lpstr>
      <vt:lpstr>Transformation of Warfare in the 21st Century</vt:lpstr>
      <vt:lpstr>Key Characteristics of Hybrid Warfare</vt:lpstr>
      <vt:lpstr>Instruments and Mechanisms of Hybrid Warfare</vt:lpstr>
      <vt:lpstr>Tools and Dimensions of Hybrid Warfare</vt:lpstr>
      <vt:lpstr>Social Media as a Strategic Battlefield / Weapon</vt:lpstr>
      <vt:lpstr>Psychological &amp; Cognitive Dimensions; National Will</vt:lpstr>
      <vt:lpstr>Conceptual Ambiguities &amp; Definitions</vt:lpstr>
      <vt:lpstr>India’s Hybrid Strategy Against Pakistan</vt:lpstr>
      <vt:lpstr>Cyber Attacks &amp; Technological Threats</vt:lpstr>
      <vt:lpstr>Challenges Faced by Pakistan</vt:lpstr>
      <vt:lpstr>Policy Options for Pakistan</vt:lpstr>
      <vt:lpstr>Strategic Response and Policy Measures</vt:lpstr>
      <vt:lpstr>PART II</vt:lpstr>
      <vt:lpstr>Climate Change as a Global Strategic Challenge</vt:lpstr>
      <vt:lpstr>Pakistan’s Geographic Vulnerability</vt:lpstr>
      <vt:lpstr>Major Climate Impacts on Pakistan</vt:lpstr>
      <vt:lpstr>Climate Change &amp; Agriculture</vt:lpstr>
      <vt:lpstr>Economic and Developmental Consequences</vt:lpstr>
      <vt:lpstr>Climate Change as a Non-Traditional Security Threat</vt:lpstr>
      <vt:lpstr>Pakistan’s Policy and Global Commitments</vt:lpstr>
      <vt:lpstr>Way Forward</vt:lpstr>
      <vt:lpstr>Challenges To Achieve</vt:lpstr>
      <vt:lpstr>Integrated Perspective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Warfare</dc:title>
  <dc:subject/>
  <dc:creator/>
  <cp:keywords/>
  <dc:description>generated using python-pptx</dc:description>
  <cp:lastModifiedBy>Asefa Khilji</cp:lastModifiedBy>
  <cp:revision>25</cp:revision>
  <dcterms:created xsi:type="dcterms:W3CDTF">2013-01-27T09:14:16Z</dcterms:created>
  <dcterms:modified xsi:type="dcterms:W3CDTF">2026-02-28T05:43:37Z</dcterms:modified>
  <cp:category/>
</cp:coreProperties>
</file>