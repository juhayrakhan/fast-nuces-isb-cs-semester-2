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9" r:id="rId4"/>
    <p:sldId id="268" r:id="rId5"/>
    <p:sldId id="257" r:id="rId6"/>
    <p:sldId id="270" r:id="rId7"/>
    <p:sldId id="258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59" r:id="rId18"/>
    <p:sldId id="280" r:id="rId19"/>
    <p:sldId id="281" r:id="rId20"/>
    <p:sldId id="282" r:id="rId21"/>
    <p:sldId id="284" r:id="rId22"/>
    <p:sldId id="28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5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4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3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8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1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2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5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9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7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33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8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3AB95-2B4C-4D68-A5E4-BD904073B59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E96D0-21A9-4B57-BB77-1F39F5B2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5FB-2C44-4B50-8008-59DC9BC203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0000" dirty="0"/>
              <a:t>Economy of Pakistan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AAFC6-A45C-425D-A166-74AB728B7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History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119225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2C1E-8B0F-47EF-9ACE-9E36455E4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Introduction to Pakistan’s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85E6-B3E3-4A6A-B078-3C9C2A14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87503"/>
          </a:xfrm>
        </p:spPr>
        <p:txBody>
          <a:bodyPr>
            <a:noAutofit/>
          </a:bodyPr>
          <a:lstStyle/>
          <a:p>
            <a:r>
              <a:rPr lang="en-US" sz="2500" dirty="0"/>
              <a:t>Evolved through multiple phases since independence in 1947, reflecting the country’s political developments, policy choices, and global economic influences.</a:t>
            </a:r>
          </a:p>
          <a:p>
            <a:r>
              <a:rPr lang="en-US" sz="2500" dirty="0"/>
              <a:t>The structure of the economy has gradually shifted from being predominantly agricultural to a more diversified economy that includes agriculture, industry, and services sectors.</a:t>
            </a:r>
          </a:p>
          <a:p>
            <a:r>
              <a:rPr lang="en-US" sz="2500" dirty="0"/>
              <a:t>Economic development in Pakistan has often been influenced by state-led planning, foreign aid, and international economic institutions.</a:t>
            </a:r>
          </a:p>
          <a:p>
            <a:r>
              <a:rPr lang="en-US" sz="2500" dirty="0"/>
              <a:t>Throughout its history, Pakistan has experienced periods of rapid economic growth as well as economic stagnation and crises.</a:t>
            </a:r>
          </a:p>
          <a:p>
            <a:r>
              <a:rPr lang="en-US" sz="2500" dirty="0"/>
              <a:t>Structural issues (industrial base, population growth, and unequal distribution of resources) have shaped the trajectory of economic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278114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F63C7-C5B2-4AED-BCCC-04935BFE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Historical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811319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D9F2-102B-4070-AF7E-61773597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Economic Conditions at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4CB3-0EC7-4624-9ACA-3F9328D5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At independence, Pakistan inherited an extremely fragile economic structure with limited financial and industrial resources.</a:t>
            </a:r>
          </a:p>
          <a:p>
            <a:r>
              <a:rPr lang="en-US" sz="2500" dirty="0"/>
              <a:t>Most industrial centers, manufacturing facilities, and financial institutions were located in India, leaving Pakistan with a very weak industrial base.</a:t>
            </a:r>
          </a:p>
          <a:p>
            <a:r>
              <a:rPr lang="en-US" sz="2500" dirty="0"/>
              <a:t>The country possessed very limited foreign exchange reserves, which restricted its ability to import machinery, technology, and industrial inputs.</a:t>
            </a:r>
          </a:p>
          <a:p>
            <a:r>
              <a:rPr lang="en-US" sz="2500" dirty="0"/>
              <a:t>Agriculture was the dominant economic activity, employing population but characterized by traditional farming techniques and low productivity.</a:t>
            </a:r>
          </a:p>
          <a:p>
            <a:r>
              <a:rPr lang="en-US" sz="2500" dirty="0"/>
              <a:t>Infrastructure (transportation networks, roads, railways, and communication systems) was underdeveloped and insufficient for economic growth.</a:t>
            </a:r>
          </a:p>
          <a:p>
            <a:r>
              <a:rPr lang="en-US" sz="2500" dirty="0"/>
              <a:t>The literacy rate was extremely low and human capital development was limited, constraining the country’s development of modern economic institutions.</a:t>
            </a:r>
          </a:p>
        </p:txBody>
      </p:sp>
    </p:spTree>
    <p:extLst>
      <p:ext uri="{BB962C8B-B14F-4D97-AF65-F5344CB8AC3E}">
        <p14:creationId xmlns:p14="http://schemas.microsoft.com/office/powerpoint/2010/main" val="57806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D8C4-FEA4-418A-B1AB-99FA94E6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Economic Inheritance at Independence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A01B-ED87-4C56-A6A1-F52436338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Pakistan inherited an </a:t>
            </a:r>
            <a:r>
              <a:rPr lang="en-US" sz="2500" b="1" dirty="0"/>
              <a:t>agrarian economy</a:t>
            </a:r>
            <a:r>
              <a:rPr lang="en-US" sz="2500" dirty="0"/>
              <a:t> with minimal industry, limited infrastructure, and no central banking system.</a:t>
            </a:r>
          </a:p>
          <a:p>
            <a:pPr lvl="0"/>
            <a:r>
              <a:rPr lang="en-US" sz="2500" dirty="0"/>
              <a:t>Received only </a:t>
            </a:r>
            <a:r>
              <a:rPr lang="en-US" sz="2500" b="1" dirty="0"/>
              <a:t>34 industrial units out of over 900</a:t>
            </a:r>
            <a:r>
              <a:rPr lang="en-US" sz="2500" dirty="0"/>
              <a:t> in undivided India, leaving the country dependent on imports for manufactured goods.</a:t>
            </a:r>
          </a:p>
          <a:p>
            <a:pPr lvl="0"/>
            <a:r>
              <a:rPr lang="en-US" sz="2500" dirty="0"/>
              <a:t>Banking, trade, and insurance sectors were dominated by Indian firms, creating a severe liquidity crisis.</a:t>
            </a:r>
          </a:p>
          <a:p>
            <a:pPr lvl="0"/>
            <a:r>
              <a:rPr lang="en-US" sz="2500" dirty="0"/>
              <a:t>Refugee influx, loss of skilled workforce, and resource shortages placed heavy pressure on the new administration.</a:t>
            </a:r>
          </a:p>
          <a:p>
            <a:pPr lvl="0"/>
            <a:r>
              <a:rPr lang="en-US" sz="2500" dirty="0"/>
              <a:t>The partition of assets with India delayed institutional functioning and complicated early economic management.</a:t>
            </a:r>
          </a:p>
          <a:p>
            <a:pPr lvl="0"/>
            <a:r>
              <a:rPr lang="en-US" sz="2500" dirty="0"/>
              <a:t>Despite these challenges, Pakistan displayed </a:t>
            </a:r>
            <a:r>
              <a:rPr lang="en-US" sz="2500" b="1" dirty="0"/>
              <a:t>resilience and administrative determination</a:t>
            </a:r>
            <a:r>
              <a:rPr lang="en-US" sz="2500" dirty="0"/>
              <a:t> in building a new economic structure.</a:t>
            </a:r>
          </a:p>
        </p:txBody>
      </p:sp>
    </p:spTree>
    <p:extLst>
      <p:ext uri="{BB962C8B-B14F-4D97-AF65-F5344CB8AC3E}">
        <p14:creationId xmlns:p14="http://schemas.microsoft.com/office/powerpoint/2010/main" val="72764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FFD9-475A-43E3-8A6F-F6478E4E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Early Economic Planning &amp;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B2924-5D68-4914-A428-2FC02F071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704"/>
            <a:ext cx="10515600" cy="4713471"/>
          </a:xfrm>
        </p:spPr>
        <p:txBody>
          <a:bodyPr>
            <a:noAutofit/>
          </a:bodyPr>
          <a:lstStyle/>
          <a:p>
            <a:r>
              <a:rPr lang="en-US" sz="2500" dirty="0"/>
              <a:t>In the early years, the government recognized the need for state-led economic planning to stabilize and develop the national economy.</a:t>
            </a:r>
          </a:p>
          <a:p>
            <a:r>
              <a:rPr lang="en-US" sz="2500" dirty="0"/>
              <a:t>First Five-Year Plan in 1955, which aimed to improve agricultural productivity, expand industrial development, and strengthen infrastructure.</a:t>
            </a:r>
          </a:p>
          <a:p>
            <a:r>
              <a:rPr lang="en-US" sz="2500" dirty="0"/>
              <a:t>Adopted an import substitution industrialization strategy, encouraging domestic industries to produce goods that were previously imported.</a:t>
            </a:r>
          </a:p>
          <a:p>
            <a:r>
              <a:rPr lang="en-US" sz="2500" dirty="0"/>
              <a:t>Industrialization was promoted through government incentives, protective tariffs, and investment in key sectors such as textiles and manufacturing.</a:t>
            </a:r>
          </a:p>
          <a:p>
            <a:r>
              <a:rPr lang="en-US" sz="2500" dirty="0"/>
              <a:t>Economic planning also focused on developing irrigation systems, expanding cultivated land, and modernizing agriculture.</a:t>
            </a:r>
          </a:p>
          <a:p>
            <a:r>
              <a:rPr lang="en-US" sz="2500" dirty="0"/>
              <a:t>Despite these initiatives, the country remained dependent on foreign aid and international financial assistance to finance development projects.</a:t>
            </a:r>
          </a:p>
        </p:txBody>
      </p:sp>
    </p:spTree>
    <p:extLst>
      <p:ext uri="{BB962C8B-B14F-4D97-AF65-F5344CB8AC3E}">
        <p14:creationId xmlns:p14="http://schemas.microsoft.com/office/powerpoint/2010/main" val="52166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87BF-36D7-474D-BA7A-53EBE59E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First Phase: 1947–1958 (Reconstruction and Planning)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A37F-93D0-4D3A-97D3-42EA3D009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en-US" sz="2500" dirty="0"/>
              <a:t>Focus on </a:t>
            </a:r>
            <a:r>
              <a:rPr lang="en-US" sz="2500" b="1" dirty="0"/>
              <a:t>institution-building</a:t>
            </a:r>
            <a:r>
              <a:rPr lang="en-US" sz="2500" dirty="0"/>
              <a:t>, with the creation of the </a:t>
            </a:r>
            <a:r>
              <a:rPr lang="en-US" sz="2500" b="1" dirty="0"/>
              <a:t>State Bank of Pakistan (1948)</a:t>
            </a:r>
            <a:r>
              <a:rPr lang="en-US" sz="2500" dirty="0"/>
              <a:t>, </a:t>
            </a:r>
            <a:r>
              <a:rPr lang="en-US" sz="2500" b="1" dirty="0"/>
              <a:t>Planning Board (1953)</a:t>
            </a:r>
            <a:r>
              <a:rPr lang="en-US" sz="2500" dirty="0"/>
              <a:t>, and </a:t>
            </a:r>
            <a:r>
              <a:rPr lang="en-US" sz="2500" b="1" dirty="0"/>
              <a:t>Pakistan Industrial Development Corporation (PIDC)</a:t>
            </a:r>
            <a:r>
              <a:rPr lang="en-US" sz="2500" dirty="0"/>
              <a:t>.</a:t>
            </a:r>
          </a:p>
          <a:p>
            <a:pPr lvl="0"/>
            <a:r>
              <a:rPr lang="en-US" sz="2500" dirty="0"/>
              <a:t>Introduction of </a:t>
            </a:r>
            <a:r>
              <a:rPr lang="en-US" sz="2500" b="1" dirty="0"/>
              <a:t>import-substitution industrialization</a:t>
            </a:r>
            <a:r>
              <a:rPr lang="en-US" sz="2500" dirty="0"/>
              <a:t> to promote self-reliance in consumer goods and light manufacturing.</a:t>
            </a:r>
          </a:p>
          <a:p>
            <a:pPr lvl="0"/>
            <a:r>
              <a:rPr lang="en-US" sz="2500" dirty="0"/>
              <a:t>The </a:t>
            </a:r>
            <a:r>
              <a:rPr lang="en-US" sz="2500" b="1" dirty="0"/>
              <a:t>First Five-Year Plan (1955–60)</a:t>
            </a:r>
            <a:r>
              <a:rPr lang="en-US" sz="2500" dirty="0"/>
              <a:t> laid the groundwork for development, though political instability hindered full implementation.</a:t>
            </a:r>
          </a:p>
          <a:p>
            <a:pPr lvl="0"/>
            <a:r>
              <a:rPr lang="en-US" sz="2500" dirty="0"/>
              <a:t>Agricultural production remained dominant but largely traditional, limiting productivity gains.</a:t>
            </a:r>
          </a:p>
          <a:p>
            <a:pPr lvl="0"/>
            <a:r>
              <a:rPr lang="en-US" sz="2500" dirty="0"/>
              <a:t>Early aid and trade partnerships with the </a:t>
            </a:r>
            <a:r>
              <a:rPr lang="en-US" sz="2500" b="1" dirty="0"/>
              <a:t>United States and Commonwealth countries</a:t>
            </a:r>
            <a:r>
              <a:rPr lang="en-US" sz="2500" dirty="0"/>
              <a:t> helped stabilize finances.</a:t>
            </a:r>
          </a:p>
          <a:p>
            <a:pPr lvl="0"/>
            <a:r>
              <a:rPr lang="en-US" sz="2500" dirty="0"/>
              <a:t>This period established Pakistan’s foundation for industrial and fiscal policy development.</a:t>
            </a:r>
          </a:p>
        </p:txBody>
      </p:sp>
    </p:spTree>
    <p:extLst>
      <p:ext uri="{BB962C8B-B14F-4D97-AF65-F5344CB8AC3E}">
        <p14:creationId xmlns:p14="http://schemas.microsoft.com/office/powerpoint/2010/main" val="203726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D467-0345-429C-BEA9-1679B0F4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Types of Economy in Pakistan</a:t>
            </a:r>
          </a:p>
        </p:txBody>
      </p:sp>
    </p:spTree>
    <p:extLst>
      <p:ext uri="{BB962C8B-B14F-4D97-AF65-F5344CB8AC3E}">
        <p14:creationId xmlns:p14="http://schemas.microsoft.com/office/powerpoint/2010/main" val="132305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E5F4D0-EAFA-402B-B1B7-C1FE2746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Structure of Pakistan’s Economy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3BC47-6524-4C28-A59F-D762FD481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US" sz="2500" dirty="0"/>
              <a:t>Broadly categorized into three major sectors: agriculture, industry, and services, each contributing differently to national income and employment.</a:t>
            </a:r>
          </a:p>
          <a:p>
            <a:r>
              <a:rPr lang="en-US" sz="2500" dirty="0"/>
              <a:t>The agricultural sector historically formed the foundation of economic activity, particularly during the early decades after independence.</a:t>
            </a:r>
          </a:p>
          <a:p>
            <a:r>
              <a:rPr lang="en-US" sz="2500" dirty="0"/>
              <a:t>Industrial development gradually expanded during the 1960s and later decades, contributing to manufacturing output and export earnings.</a:t>
            </a:r>
          </a:p>
          <a:p>
            <a:r>
              <a:rPr lang="en-US" sz="2500" dirty="0"/>
              <a:t>The services sector has become the largest contributor to the national economy in recent decades, reflecting structural economic transformation.</a:t>
            </a:r>
          </a:p>
          <a:p>
            <a:r>
              <a:rPr lang="en-US" sz="2500" dirty="0"/>
              <a:t>These sectors collectively determine Pakistan’s Gross Domestic Product (GDP), employment patterns, and economic growth trends.</a:t>
            </a:r>
          </a:p>
          <a:p>
            <a:r>
              <a:rPr lang="en-US" sz="2500" dirty="0"/>
              <a:t>Understanding these sectors helps explain how Pakistan’s economy has evolved from a traditional agrarian system to a more diversified economic structure.</a:t>
            </a:r>
          </a:p>
        </p:txBody>
      </p:sp>
    </p:spTree>
    <p:extLst>
      <p:ext uri="{BB962C8B-B14F-4D97-AF65-F5344CB8AC3E}">
        <p14:creationId xmlns:p14="http://schemas.microsoft.com/office/powerpoint/2010/main" val="220095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5227-D086-465C-9B9A-0BE5B711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Agricultural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5758-D839-4E82-BAE0-0D2732D9B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US" sz="2500" dirty="0"/>
              <a:t>Agriculture has historically been the backbone of Pakistan’s economy, providing employment to a large share of the population and contributing significantly to national income.</a:t>
            </a:r>
          </a:p>
          <a:p>
            <a:r>
              <a:rPr lang="en-US" sz="2500" dirty="0"/>
              <a:t>At the time of independence, agriculture contributed nearly half of the country’s economic output, reflecting the rural nature of society.</a:t>
            </a:r>
          </a:p>
          <a:p>
            <a:r>
              <a:rPr lang="en-US" sz="2500" dirty="0"/>
              <a:t>Major crops produced in Pakistan include wheat, rice, cotton, sugarcane, and maize, which serve both domestic consumption and export markets.</a:t>
            </a:r>
          </a:p>
          <a:p>
            <a:r>
              <a:rPr lang="en-US" sz="2500" dirty="0"/>
              <a:t>The sector also includes livestock, fisheries, and forestry, which contribute substantially to agricultural output and rural livelihoods.</a:t>
            </a:r>
          </a:p>
          <a:p>
            <a:r>
              <a:rPr lang="en-US" sz="2500" dirty="0"/>
              <a:t>Agricultural development has been supported by the Indus Basin irrigation system, one of the largest irrigation networks in the world.</a:t>
            </a:r>
          </a:p>
          <a:p>
            <a:r>
              <a:rPr lang="en-US" sz="2500" dirty="0"/>
              <a:t>Despite its importance, agriculture faces challenges such as water scarcity, outdated farming methods, climate change, and unequal land distribution.</a:t>
            </a:r>
          </a:p>
        </p:txBody>
      </p:sp>
    </p:spTree>
    <p:extLst>
      <p:ext uri="{BB962C8B-B14F-4D97-AF65-F5344CB8AC3E}">
        <p14:creationId xmlns:p14="http://schemas.microsoft.com/office/powerpoint/2010/main" val="55530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BBC0-270D-4C60-939F-AE742F08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Industrial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6B8A-67D7-468D-947F-E57B24A4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Industrialization in Pakistan developed gradually as the government sought to reduce dependence on imported manufactured goods.</a:t>
            </a:r>
          </a:p>
          <a:p>
            <a:r>
              <a:rPr lang="en-US" sz="2500" dirty="0"/>
              <a:t>The industrial sector includes textiles, cement, chemicals, fertilizers, steel, automobiles, and consumer goods manufacturing.</a:t>
            </a:r>
          </a:p>
          <a:p>
            <a:r>
              <a:rPr lang="en-US" sz="2500" dirty="0"/>
              <a:t>The textile industry has emerged as the largest manufacturing sector and the primary contributor to export earnings.</a:t>
            </a:r>
          </a:p>
          <a:p>
            <a:r>
              <a:rPr lang="en-US" sz="2500" dirty="0"/>
              <a:t>Industrial growth was particularly strong during the 1960s when economic policies encouraged private sector investment and industrial expansion.</a:t>
            </a:r>
          </a:p>
          <a:p>
            <a:r>
              <a:rPr lang="en-US" sz="2500" dirty="0"/>
              <a:t>Manufacturing industries contribute significantly to employment generation, urbanization, and technological advancement.</a:t>
            </a:r>
          </a:p>
          <a:p>
            <a:r>
              <a:rPr lang="en-US" sz="2500" dirty="0"/>
              <a:t>However, the industrial sector continues to face constraints such as energy shortages, outdated technology, and limited export diversification.</a:t>
            </a:r>
          </a:p>
        </p:txBody>
      </p:sp>
    </p:spTree>
    <p:extLst>
      <p:ext uri="{BB962C8B-B14F-4D97-AF65-F5344CB8AC3E}">
        <p14:creationId xmlns:p14="http://schemas.microsoft.com/office/powerpoint/2010/main" val="89119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DBE2-C5B4-4D03-B05B-80E226B1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Service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203A-97CC-491F-AF9E-F50C6AFC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Over time, the services sector has become the largest contributor to Pakistan’s GDP, reflecting structural changes in the economy.</a:t>
            </a:r>
          </a:p>
          <a:p>
            <a:r>
              <a:rPr lang="en-US" sz="2500" dirty="0"/>
              <a:t>This sector includes banking, telecommunications, education, healthcare, transportation, tourism, and retail trade.</a:t>
            </a:r>
          </a:p>
          <a:p>
            <a:r>
              <a:rPr lang="en-US" sz="2500" dirty="0"/>
              <a:t>Financial institutions and banking services play a critical role in mobilizing capital and facilitating investment in economic activities.</a:t>
            </a:r>
          </a:p>
          <a:p>
            <a:r>
              <a:rPr lang="en-US" sz="2500" dirty="0"/>
              <a:t>Rapid expansion in telecommunications and digital services has contributed to economic modernization and connectivity.</a:t>
            </a:r>
          </a:p>
          <a:p>
            <a:r>
              <a:rPr lang="en-US" sz="2500" dirty="0"/>
              <a:t>The services sector also supports other sectors by providing logistics, financial services, and information technology infrastructure.</a:t>
            </a:r>
          </a:p>
          <a:p>
            <a:r>
              <a:rPr lang="en-US" sz="2500" dirty="0"/>
              <a:t>Growth in the services sector demonstrates the gradual transformation of Pakistan’s economy toward knowledge-based and service-oriented activities.</a:t>
            </a:r>
          </a:p>
        </p:txBody>
      </p:sp>
    </p:spTree>
    <p:extLst>
      <p:ext uri="{BB962C8B-B14F-4D97-AF65-F5344CB8AC3E}">
        <p14:creationId xmlns:p14="http://schemas.microsoft.com/office/powerpoint/2010/main" val="17809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9AB092-A2BB-486D-9994-A4F7132D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Dependent Development</a:t>
            </a:r>
          </a:p>
        </p:txBody>
      </p:sp>
    </p:spTree>
    <p:extLst>
      <p:ext uri="{BB962C8B-B14F-4D97-AF65-F5344CB8AC3E}">
        <p14:creationId xmlns:p14="http://schemas.microsoft.com/office/powerpoint/2010/main" val="238701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19E1B-1B1D-4434-9BA2-2776F7CC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Concept of Dependent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304AC-F254-4577-90B8-10DC531B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Dependent development refers to a pattern of economic growth in which developing countries rely heavily on external financial assistance, foreign investment, and global markets.</a:t>
            </a:r>
          </a:p>
          <a:p>
            <a:r>
              <a:rPr lang="en-US" sz="2500" dirty="0"/>
              <a:t>Dependency theory: which argues that economic relationships between developed and developing countries create unequal development outcomes.</a:t>
            </a:r>
          </a:p>
          <a:p>
            <a:r>
              <a:rPr lang="en-US" sz="2500" dirty="0"/>
              <a:t>In Pakistan, economic development strategies often depended on foreign aid, loans, and technical assistance from international institutions.</a:t>
            </a:r>
          </a:p>
          <a:p>
            <a:r>
              <a:rPr lang="en-US" sz="2500" dirty="0"/>
              <a:t>International organizations such as the IMF and World Bank influenced economic policy reforms and development strategies.</a:t>
            </a:r>
          </a:p>
          <a:p>
            <a:r>
              <a:rPr lang="en-US" sz="2500" dirty="0"/>
              <a:t>Structural adjustment programs required governments to implement policies such as privatization, trade liberalization, and reduction of subsidies.</a:t>
            </a:r>
          </a:p>
          <a:p>
            <a:r>
              <a:rPr lang="en-US" sz="2500" dirty="0"/>
              <a:t>While these reforms aimed to stabilize the economy, they also increased economic vulnerability to external pressures and global financial fluctuations.</a:t>
            </a:r>
          </a:p>
        </p:txBody>
      </p:sp>
    </p:spTree>
    <p:extLst>
      <p:ext uri="{BB962C8B-B14F-4D97-AF65-F5344CB8AC3E}">
        <p14:creationId xmlns:p14="http://schemas.microsoft.com/office/powerpoint/2010/main" val="1816681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F0C7-E5C1-4FF4-944A-2F84D85E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Consequences of Dependent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7C67-E2AF-4FBF-A189-2DF7D702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Heavy reliance on foreign aid and loans contributed to the growth of external debt and fiscal pressure on the national economy.</a:t>
            </a:r>
          </a:p>
          <a:p>
            <a:r>
              <a:rPr lang="en-US" sz="2500" dirty="0"/>
              <a:t>Economic policy decisions were sometimes influenced by conditions imposed by international financial institutions.</a:t>
            </a:r>
          </a:p>
          <a:p>
            <a:r>
              <a:rPr lang="en-US" sz="2500" dirty="0"/>
              <a:t>Currency devaluation policies often led to higher inflation and increased cost of living for the population.</a:t>
            </a:r>
          </a:p>
          <a:p>
            <a:r>
              <a:rPr lang="en-US" sz="2500" dirty="0"/>
              <a:t>Dependence on foreign technology and imports limited the development of indigenous industrial capabilities.</a:t>
            </a:r>
          </a:p>
          <a:p>
            <a:r>
              <a:rPr lang="en-US" sz="2500" dirty="0"/>
              <a:t>Economic growth often occurred in uneven cycles, with periods of rapid expansion followed by economic crises.</a:t>
            </a:r>
          </a:p>
          <a:p>
            <a:r>
              <a:rPr lang="en-US" sz="2500" dirty="0"/>
              <a:t>As a result, Pakistan’s economic development has frequently been described as externally influenced rather than fully self-sustained.</a:t>
            </a:r>
          </a:p>
        </p:txBody>
      </p:sp>
    </p:spTree>
    <p:extLst>
      <p:ext uri="{BB962C8B-B14F-4D97-AF65-F5344CB8AC3E}">
        <p14:creationId xmlns:p14="http://schemas.microsoft.com/office/powerpoint/2010/main" val="336424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D3C3-A18A-46AD-8C8A-F733D2F0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Green Revolution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2536374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D2BF-CF2C-4E45-903E-B38029FB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Second Phase: 1958–1971 </a:t>
            </a:r>
            <a:br>
              <a:rPr lang="en-US" sz="5000" b="1" dirty="0"/>
            </a:br>
            <a:r>
              <a:rPr lang="en-US" sz="5000" b="1" dirty="0"/>
              <a:t>(Planning and Growth)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50CD-EEF9-42B1-BAF4-554B586CE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Under </a:t>
            </a:r>
            <a:r>
              <a:rPr lang="en-US" sz="2500" b="1" dirty="0" err="1"/>
              <a:t>Ayub</a:t>
            </a:r>
            <a:r>
              <a:rPr lang="en-US" sz="2500" b="1" dirty="0"/>
              <a:t> Khan’s regime</a:t>
            </a:r>
            <a:r>
              <a:rPr lang="en-US" sz="2500" dirty="0"/>
              <a:t>, Pakistan entered a period of </a:t>
            </a:r>
            <a:r>
              <a:rPr lang="en-US" sz="2500" b="1" dirty="0"/>
              <a:t>state-led economic planning and high growth</a:t>
            </a:r>
            <a:r>
              <a:rPr lang="en-US" sz="2500" dirty="0"/>
              <a:t>, with GDP growth averaging </a:t>
            </a:r>
            <a:r>
              <a:rPr lang="en-US" sz="2500" b="1" dirty="0"/>
              <a:t>6–7% annually</a:t>
            </a:r>
            <a:r>
              <a:rPr lang="en-US" sz="2500" dirty="0"/>
              <a:t>.</a:t>
            </a:r>
          </a:p>
          <a:p>
            <a:pPr lvl="0"/>
            <a:r>
              <a:rPr lang="en-US" sz="2500" dirty="0"/>
              <a:t>Implementation of the </a:t>
            </a:r>
            <a:r>
              <a:rPr lang="en-US" sz="2500" b="1" dirty="0"/>
              <a:t>Second and Third Five-Year Plans</a:t>
            </a:r>
            <a:r>
              <a:rPr lang="en-US" sz="2500" dirty="0"/>
              <a:t> prioritized industrialization, irrigation projects, and export promotion.</a:t>
            </a:r>
          </a:p>
          <a:p>
            <a:pPr lvl="0"/>
            <a:r>
              <a:rPr lang="en-US" sz="2500" dirty="0"/>
              <a:t>The </a:t>
            </a:r>
            <a:r>
              <a:rPr lang="en-US" sz="2500" b="1" dirty="0"/>
              <a:t>Green Revolution</a:t>
            </a:r>
            <a:r>
              <a:rPr lang="en-US" sz="2500" dirty="0"/>
              <a:t> introduced modern agricultural techniques, fertilizers, and high-yield crop varieties.</a:t>
            </a:r>
          </a:p>
          <a:p>
            <a:pPr lvl="0"/>
            <a:r>
              <a:rPr lang="en-US" sz="2500" dirty="0"/>
              <a:t>Industrial centers such as </a:t>
            </a:r>
            <a:r>
              <a:rPr lang="en-US" sz="2500" b="1" dirty="0"/>
              <a:t>Karachi, Faisalabad, and Lahore</a:t>
            </a:r>
            <a:r>
              <a:rPr lang="en-US" sz="2500" dirty="0"/>
              <a:t> expanded rapidly, supported by private investment and state incentives.</a:t>
            </a:r>
          </a:p>
          <a:p>
            <a:pPr lvl="0"/>
            <a:r>
              <a:rPr lang="en-US" sz="2500" dirty="0"/>
              <a:t>However, </a:t>
            </a:r>
            <a:r>
              <a:rPr lang="en-US" sz="2500" b="1" dirty="0"/>
              <a:t>income inequality and regional imbalance</a:t>
            </a:r>
            <a:r>
              <a:rPr lang="en-US" sz="2500" dirty="0"/>
              <a:t> grew between East and West Pakistan.</a:t>
            </a:r>
          </a:p>
          <a:p>
            <a:pPr lvl="0"/>
            <a:r>
              <a:rPr lang="en-US" sz="2500" dirty="0"/>
              <a:t>Despite achievements, the perception of economic disparity became a factor in the </a:t>
            </a:r>
            <a:r>
              <a:rPr lang="en-US" sz="2500" b="1" dirty="0"/>
              <a:t>political divide of 1971</a:t>
            </a:r>
            <a:r>
              <a:rPr lang="en-US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269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0E6C-E1BD-4C91-80B2-7A581AD8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Green Revolution in the 1960s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E2A3-9F71-4A33-AE6D-790B8DE3B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The Green Revolution refers to the introduction of modern agricultural technology and scientific farming practices in Pakistan during the 1960s.</a:t>
            </a:r>
          </a:p>
          <a:p>
            <a:r>
              <a:rPr lang="en-US" sz="2500" dirty="0"/>
              <a:t>This period coincided with Pakistan’s broader economic expansion, often referred to as the “Golden Decade” of economic growth.</a:t>
            </a:r>
          </a:p>
          <a:p>
            <a:r>
              <a:rPr lang="en-US" sz="2500" dirty="0"/>
              <a:t>Government policies encouraged farmers to adopt high-yield variety (HYV) seeds, chemical fertilizers, and improved irrigation techniques.</a:t>
            </a:r>
          </a:p>
          <a:p>
            <a:r>
              <a:rPr lang="en-US" sz="2500" dirty="0"/>
              <a:t>Agricultural research institutions and extension services were established to disseminate modern farming knowledge and techniques.</a:t>
            </a:r>
          </a:p>
          <a:p>
            <a:r>
              <a:rPr lang="en-US" sz="2500" dirty="0"/>
              <a:t>Investments were made in irrigation infrastructure, including tube wells and water management systems, to increase cultivated land.</a:t>
            </a:r>
          </a:p>
          <a:p>
            <a:r>
              <a:rPr lang="en-US" sz="2500" dirty="0"/>
              <a:t>These measures significantly increased agricultural productivity and supported overall economic growth.</a:t>
            </a:r>
          </a:p>
        </p:txBody>
      </p:sp>
    </p:spTree>
    <p:extLst>
      <p:ext uri="{BB962C8B-B14F-4D97-AF65-F5344CB8AC3E}">
        <p14:creationId xmlns:p14="http://schemas.microsoft.com/office/powerpoint/2010/main" val="1422153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9A1B-918F-4B16-A3A1-C75278EF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Features of the Green Revolution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DD54-14EC-4236-BE4B-895A9789E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Introduction of high-yield seed varieties allowed farmers to produce greater quantities of wheat and rice.</a:t>
            </a:r>
          </a:p>
          <a:p>
            <a:r>
              <a:rPr lang="en-US" sz="2500" dirty="0"/>
              <a:t>Increased use of chemical fertilizers and pesticides improved soil productivity and crop protection.</a:t>
            </a:r>
          </a:p>
          <a:p>
            <a:r>
              <a:rPr lang="en-US" sz="2500" dirty="0"/>
              <a:t>Expansion of mechanized farming equipment such as tractors and harvesters improved efficiency in agricultural production.</a:t>
            </a:r>
          </a:p>
          <a:p>
            <a:r>
              <a:rPr lang="en-US" sz="2500" dirty="0"/>
              <a:t>Development of irrigation infrastructure and tube wells ensured reliable water supply for crops.</a:t>
            </a:r>
          </a:p>
          <a:p>
            <a:r>
              <a:rPr lang="en-US" sz="2500" dirty="0"/>
              <a:t>Government policies provided subsidies, agricultural credit, and support services to encourage adoption of new technologies.</a:t>
            </a:r>
          </a:p>
          <a:p>
            <a:r>
              <a:rPr lang="en-US" sz="2500" dirty="0"/>
              <a:t>These innovations collectively transformed agriculture from traditional subsistence farming to more commercial and productive farming systems.</a:t>
            </a:r>
          </a:p>
        </p:txBody>
      </p:sp>
    </p:spTree>
    <p:extLst>
      <p:ext uri="{BB962C8B-B14F-4D97-AF65-F5344CB8AC3E}">
        <p14:creationId xmlns:p14="http://schemas.microsoft.com/office/powerpoint/2010/main" val="314570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E3F2-1DAB-4A56-8447-7398435D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Impact of the Green Revolution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40E4-10A3-45BB-956B-3AF8EA5B4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The Green Revolution significantly increased crop yields and food production in Pakistan, reducing the risk of food shortages.</a:t>
            </a:r>
          </a:p>
          <a:p>
            <a:r>
              <a:rPr lang="en-US" sz="2500" dirty="0"/>
              <a:t>Higher agricultural productivity contributed to rapid economic growth during the 1960s.</a:t>
            </a:r>
          </a:p>
          <a:p>
            <a:r>
              <a:rPr lang="en-US" sz="2500" dirty="0"/>
              <a:t>Farmers who adopted new technologies experienced higher incomes and improved economic opportunities.</a:t>
            </a:r>
          </a:p>
          <a:p>
            <a:r>
              <a:rPr lang="en-US" sz="2500" dirty="0"/>
              <a:t>However, the benefits were distributed unevenly, with large landowners benefiting more than small farmers.</a:t>
            </a:r>
          </a:p>
          <a:p>
            <a:r>
              <a:rPr lang="en-US" sz="2500" dirty="0"/>
              <a:t>Mechanization reduced the demand for manual agricultural labor, leading to rural unemployment and migration to cities.</a:t>
            </a:r>
          </a:p>
          <a:p>
            <a:r>
              <a:rPr lang="en-US" sz="2500" dirty="0"/>
              <a:t>Consequently, while the Green Revolution strengthened agricultural output, it also widened socio-economic inequalities in rural society.</a:t>
            </a:r>
          </a:p>
        </p:txBody>
      </p:sp>
    </p:spTree>
    <p:extLst>
      <p:ext uri="{BB962C8B-B14F-4D97-AF65-F5344CB8AC3E}">
        <p14:creationId xmlns:p14="http://schemas.microsoft.com/office/powerpoint/2010/main" val="2493356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B97E94-3E54-4245-BA4B-60A11FB4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Structural Challenges of Pakistan’s Economy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D053-AB59-4A13-94AD-B6E68BCB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Pakistan’s economy faces persistent structural challenges such as political instability and inconsistent economic policies.</a:t>
            </a:r>
          </a:p>
          <a:p>
            <a:r>
              <a:rPr lang="en-US" sz="2500" dirty="0"/>
              <a:t>The country has historically experienced low tax collection relative to GDP, limiting government revenue for development projects.</a:t>
            </a:r>
          </a:p>
          <a:p>
            <a:r>
              <a:rPr lang="en-US" sz="2500" dirty="0"/>
              <a:t>High fiscal deficits and increasing public debt place pressure on the national budget and economic stability.</a:t>
            </a:r>
          </a:p>
          <a:p>
            <a:r>
              <a:rPr lang="en-US" sz="2500" dirty="0"/>
              <a:t>Energy shortages and weak infrastructure continue to hinder industrial productivity and economic competitiveness.</a:t>
            </a:r>
          </a:p>
          <a:p>
            <a:r>
              <a:rPr lang="en-US" sz="2500" dirty="0"/>
              <a:t>Rapid population growth creates additional pressure on employment opportunities, housing, and public services.</a:t>
            </a:r>
          </a:p>
          <a:p>
            <a:r>
              <a:rPr lang="en-US" sz="2500" dirty="0"/>
              <a:t>These structural challenges highlight the need for long-term economic reforms and institutional strengthening.</a:t>
            </a:r>
          </a:p>
        </p:txBody>
      </p:sp>
    </p:spTree>
    <p:extLst>
      <p:ext uri="{BB962C8B-B14F-4D97-AF65-F5344CB8AC3E}">
        <p14:creationId xmlns:p14="http://schemas.microsoft.com/office/powerpoint/2010/main" val="467288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B5425C-D259-42D7-B6D2-B3458B9B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712340-DBD8-4ABB-B608-34CE1F9E4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Economic trajectory since independence has been shaped by structural constraints, development strategies, and global economic influences.</a:t>
            </a:r>
          </a:p>
          <a:p>
            <a:r>
              <a:rPr lang="en-US" sz="2500" dirty="0"/>
              <a:t>The country has gradually transformed from a predominantly agricultural economy to a more diversified economy with industrial and service sectors.</a:t>
            </a:r>
          </a:p>
          <a:p>
            <a:r>
              <a:rPr lang="en-US" sz="2500" dirty="0"/>
              <a:t>The Green Revolution of the 1960s played a critical role in modernizing agriculture and boosting economic growth.</a:t>
            </a:r>
          </a:p>
          <a:p>
            <a:r>
              <a:rPr lang="en-US" sz="2500" dirty="0"/>
              <a:t>Patterns of dependent development and reliance on foreign assistance created long-term economic vulnerabilities.</a:t>
            </a:r>
          </a:p>
          <a:p>
            <a:r>
              <a:rPr lang="en-US" sz="2500" dirty="0"/>
              <a:t>Persistent structural challenges such as inequality, weak institutions, and limited human capital continue to affect economic performance.</a:t>
            </a:r>
          </a:p>
          <a:p>
            <a:r>
              <a:rPr lang="en-US" sz="2500" dirty="0"/>
              <a:t>Sustainable economic development in Pakistan requires effective governance, technological innovation, and investment in education and human development. </a:t>
            </a:r>
          </a:p>
        </p:txBody>
      </p:sp>
    </p:spTree>
    <p:extLst>
      <p:ext uri="{BB962C8B-B14F-4D97-AF65-F5344CB8AC3E}">
        <p14:creationId xmlns:p14="http://schemas.microsoft.com/office/powerpoint/2010/main" val="387250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2001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Economy of Pakistan</vt:lpstr>
      <vt:lpstr>Introduction to Pakistan’s Economy</vt:lpstr>
      <vt:lpstr>Historical Background</vt:lpstr>
      <vt:lpstr>Economic Conditions at Independence</vt:lpstr>
      <vt:lpstr>Economic Inheritance at Independence</vt:lpstr>
      <vt:lpstr>Early Economic Planning &amp; Policy</vt:lpstr>
      <vt:lpstr>The First Phase: 1947–1958 (Reconstruction and Planning)</vt:lpstr>
      <vt:lpstr>Types of Economy in Pakistan</vt:lpstr>
      <vt:lpstr>Structure of Pakistan’s Economy</vt:lpstr>
      <vt:lpstr>Agricultural Economy</vt:lpstr>
      <vt:lpstr>Industrial Economy</vt:lpstr>
      <vt:lpstr>Service Economy</vt:lpstr>
      <vt:lpstr>Dependent Development</vt:lpstr>
      <vt:lpstr>Concept of Dependent Development</vt:lpstr>
      <vt:lpstr>Consequences of Dependent Development</vt:lpstr>
      <vt:lpstr>Green Revolution</vt:lpstr>
      <vt:lpstr>The Second Phase: 1958–1971  (Planning and Growth)</vt:lpstr>
      <vt:lpstr>Green Revolution in the 1960s</vt:lpstr>
      <vt:lpstr>Features of the Green Revolution</vt:lpstr>
      <vt:lpstr>Impact of the Green Revolution</vt:lpstr>
      <vt:lpstr>Structural Challenges of Pakistan’s Economy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Economy of Pakistan</dc:title>
  <dc:creator>Asefa Zareen Khilji</dc:creator>
  <cp:lastModifiedBy>Asefa Khilji</cp:lastModifiedBy>
  <cp:revision>9</cp:revision>
  <dcterms:created xsi:type="dcterms:W3CDTF">2025-10-12T18:54:20Z</dcterms:created>
  <dcterms:modified xsi:type="dcterms:W3CDTF">2026-03-12T04:26:53Z</dcterms:modified>
</cp:coreProperties>
</file>