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3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67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3" name="Google Shape;16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3CE7F2B6-7778-36DD-49EE-0FFB5552B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>
            <a:extLst>
              <a:ext uri="{FF2B5EF4-FFF2-40B4-BE49-F238E27FC236}">
                <a16:creationId xmlns:a16="http://schemas.microsoft.com/office/drawing/2014/main" id="{89C742CF-FE16-BCB9-C6FF-56E50DC965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1:notes">
            <a:extLst>
              <a:ext uri="{FF2B5EF4-FFF2-40B4-BE49-F238E27FC236}">
                <a16:creationId xmlns:a16="http://schemas.microsoft.com/office/drawing/2014/main" id="{0DCFB60A-330A-11BE-045C-42157FC981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11:notes">
            <a:extLst>
              <a:ext uri="{FF2B5EF4-FFF2-40B4-BE49-F238E27FC236}">
                <a16:creationId xmlns:a16="http://schemas.microsoft.com/office/drawing/2014/main" id="{3C733641-3E46-56BB-CB07-05008E46C8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33049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BF1A71B5-A466-F78D-2369-B9F825B64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>
            <a:extLst>
              <a:ext uri="{FF2B5EF4-FFF2-40B4-BE49-F238E27FC236}">
                <a16:creationId xmlns:a16="http://schemas.microsoft.com/office/drawing/2014/main" id="{33BD57BF-4039-873A-4DBE-9157D07578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1:notes">
            <a:extLst>
              <a:ext uri="{FF2B5EF4-FFF2-40B4-BE49-F238E27FC236}">
                <a16:creationId xmlns:a16="http://schemas.microsoft.com/office/drawing/2014/main" id="{5C2F1EFE-D24C-EE68-E2C1-8BA9B56CD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11:notes">
            <a:extLst>
              <a:ext uri="{FF2B5EF4-FFF2-40B4-BE49-F238E27FC236}">
                <a16:creationId xmlns:a16="http://schemas.microsoft.com/office/drawing/2014/main" id="{3BD6FCDF-BA91-E3B2-4EE5-0408E27A07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0980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8FD57CE1-C800-4765-E316-05DFEB72E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>
            <a:extLst>
              <a:ext uri="{FF2B5EF4-FFF2-40B4-BE49-F238E27FC236}">
                <a16:creationId xmlns:a16="http://schemas.microsoft.com/office/drawing/2014/main" id="{940C5C1F-2F69-55FA-1CDE-B8A9676BF1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1:notes">
            <a:extLst>
              <a:ext uri="{FF2B5EF4-FFF2-40B4-BE49-F238E27FC236}">
                <a16:creationId xmlns:a16="http://schemas.microsoft.com/office/drawing/2014/main" id="{14EEF70A-3CDC-DA2D-9B88-63317F43DE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11:notes">
            <a:extLst>
              <a:ext uri="{FF2B5EF4-FFF2-40B4-BE49-F238E27FC236}">
                <a16:creationId xmlns:a16="http://schemas.microsoft.com/office/drawing/2014/main" id="{7C2E7537-AD0A-8DAC-B16B-BDB370F446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47157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C313937A-01FD-3C3A-B3F6-1C8399020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>
            <a:extLst>
              <a:ext uri="{FF2B5EF4-FFF2-40B4-BE49-F238E27FC236}">
                <a16:creationId xmlns:a16="http://schemas.microsoft.com/office/drawing/2014/main" id="{C575189D-F8EA-BC74-C2C2-C23D6F603A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1:notes">
            <a:extLst>
              <a:ext uri="{FF2B5EF4-FFF2-40B4-BE49-F238E27FC236}">
                <a16:creationId xmlns:a16="http://schemas.microsoft.com/office/drawing/2014/main" id="{221F2F52-57B1-7784-569F-231D31901E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11:notes">
            <a:extLst>
              <a:ext uri="{FF2B5EF4-FFF2-40B4-BE49-F238E27FC236}">
                <a16:creationId xmlns:a16="http://schemas.microsoft.com/office/drawing/2014/main" id="{572B1098-4E57-EF30-75DB-87A187F30B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4569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7CEAF65B-DD20-16B2-17F9-5F88F7870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>
            <a:extLst>
              <a:ext uri="{FF2B5EF4-FFF2-40B4-BE49-F238E27FC236}">
                <a16:creationId xmlns:a16="http://schemas.microsoft.com/office/drawing/2014/main" id="{BF8CAC9F-A0D0-B719-C4AB-5711DF1645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1:notes">
            <a:extLst>
              <a:ext uri="{FF2B5EF4-FFF2-40B4-BE49-F238E27FC236}">
                <a16:creationId xmlns:a16="http://schemas.microsoft.com/office/drawing/2014/main" id="{67C9D64E-1C85-F68C-E14C-BFABB7C0B0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11:notes">
            <a:extLst>
              <a:ext uri="{FF2B5EF4-FFF2-40B4-BE49-F238E27FC236}">
                <a16:creationId xmlns:a16="http://schemas.microsoft.com/office/drawing/2014/main" id="{285309B3-5326-52DD-828A-B66E6CF506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00504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Only">
  <p:cSld name="1_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 flipH="1">
            <a:off x="0" y="0"/>
            <a:ext cx="12192001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1386629" y="825687"/>
            <a:ext cx="9643772" cy="5201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8287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eiryo"/>
              <a:buNone/>
              <a:defRPr sz="480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" name="Google Shape;22;p2"/>
          <p:cNvSpPr/>
          <p:nvPr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" name="Google Shape;23;p2"/>
          <p:cNvSpPr/>
          <p:nvPr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3">
  <p:cSld name="Content 3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lt1">
              <a:alpha val="74509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787178" y="1361923"/>
            <a:ext cx="6623040" cy="1421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body" idx="1"/>
          </p:nvPr>
        </p:nvSpPr>
        <p:spPr>
          <a:xfrm>
            <a:off x="787399" y="2916772"/>
            <a:ext cx="6622819" cy="2852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0"/>
            </a:lvl1pPr>
            <a:lvl2pPr marL="914400" lvl="1" indent="-2286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marL="1371600" lvl="2" indent="-3175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/>
            </a:lvl3pPr>
            <a:lvl4pPr marL="1828800" lvl="3" indent="-3175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lt1">
              <a:alpha val="74509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7" name="Google Shape;37;p3"/>
          <p:cNvSpPr txBox="1">
            <a:spLocks noGrp="1"/>
          </p:cNvSpPr>
          <p:nvPr>
            <p:ph type="ftr" idx="11"/>
          </p:nvPr>
        </p:nvSpPr>
        <p:spPr>
          <a:xfrm>
            <a:off x="787178" y="6309360"/>
            <a:ext cx="662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dt" idx="10"/>
          </p:nvPr>
        </p:nvSpPr>
        <p:spPr>
          <a:xfrm>
            <a:off x="8379537" y="6309360"/>
            <a:ext cx="18855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2">
  <p:cSld name="Two Content 2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lt1">
              <a:alpha val="74509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1535371" y="962423"/>
            <a:ext cx="10013710" cy="121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8287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eiryo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1542563" y="2590800"/>
            <a:ext cx="6441412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0"/>
            </a:lvl1pPr>
            <a:lvl2pPr marL="914400" lvl="1" indent="-2286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3pPr>
            <a:lvl4pPr marL="1828800" lvl="3" indent="-3429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2"/>
          </p:nvPr>
        </p:nvSpPr>
        <p:spPr>
          <a:xfrm>
            <a:off x="8197362" y="2590800"/>
            <a:ext cx="3522849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>
            <a:lvl1pPr marL="457200" lvl="0" indent="-3429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▪"/>
              <a:defRPr sz="1800" b="0"/>
            </a:lvl1pPr>
            <a:lvl2pPr marL="914400" lvl="1" indent="-2286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3pPr>
            <a:lvl4pPr marL="1828800" lvl="3" indent="-3429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0" name="Google Shape;50;p4"/>
          <p:cNvSpPr/>
          <p:nvPr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1" name="Google Shape;51;p4"/>
          <p:cNvSpPr txBox="1">
            <a:spLocks noGrp="1"/>
          </p:cNvSpPr>
          <p:nvPr>
            <p:ph type="ftr" idx="11"/>
          </p:nvPr>
        </p:nvSpPr>
        <p:spPr>
          <a:xfrm>
            <a:off x="1535371" y="6309360"/>
            <a:ext cx="50495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dt" idx="10"/>
          </p:nvPr>
        </p:nvSpPr>
        <p:spPr>
          <a:xfrm>
            <a:off x="6678168" y="63093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2 Content 3">
  <p:cSld name="Title and 2 Content 3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lt1">
              <a:alpha val="74509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8" name="Google Shape;58;p5"/>
          <p:cNvSpPr txBox="1">
            <a:spLocks noGrp="1"/>
          </p:cNvSpPr>
          <p:nvPr>
            <p:ph type="title"/>
          </p:nvPr>
        </p:nvSpPr>
        <p:spPr>
          <a:xfrm>
            <a:off x="1535372" y="4873752"/>
            <a:ext cx="10013709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8287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eiryo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body" idx="1"/>
          </p:nvPr>
        </p:nvSpPr>
        <p:spPr>
          <a:xfrm>
            <a:off x="1542563" y="502269"/>
            <a:ext cx="4753581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0"/>
            </a:lvl1pPr>
            <a:lvl2pPr marL="914400" lvl="1" indent="-2286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3pPr>
            <a:lvl4pPr marL="1828800" lvl="3" indent="-3429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body" idx="2"/>
          </p:nvPr>
        </p:nvSpPr>
        <p:spPr>
          <a:xfrm>
            <a:off x="6966630" y="502269"/>
            <a:ext cx="4753581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0"/>
            </a:lvl1pPr>
            <a:lvl2pPr marL="914400" lvl="1" indent="-2286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3pPr>
            <a:lvl4pPr marL="1828800" lvl="3" indent="-3429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25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2" name="Google Shape;62;p5"/>
          <p:cNvSpPr/>
          <p:nvPr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3" name="Google Shape;63;p5"/>
          <p:cNvSpPr txBox="1">
            <a:spLocks noGrp="1"/>
          </p:cNvSpPr>
          <p:nvPr>
            <p:ph type="ftr" idx="11"/>
          </p:nvPr>
        </p:nvSpPr>
        <p:spPr>
          <a:xfrm>
            <a:off x="1535372" y="6309360"/>
            <a:ext cx="49465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dt" idx="10"/>
          </p:nvPr>
        </p:nvSpPr>
        <p:spPr>
          <a:xfrm>
            <a:off x="6678168" y="63093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lt1">
              <a:alpha val="74509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456113" y="31750"/>
            <a:ext cx="0" cy="1588"/>
          </a:xfrm>
          <a:custGeom>
            <a:avLst/>
            <a:gdLst/>
            <a:ahLst/>
            <a:cxnLst/>
            <a:rect l="l" t="t" r="r" b="b"/>
            <a:pathLst>
              <a:path w="2" h="2" extrusionOk="0">
                <a:moveTo>
                  <a:pt x="0" y="0"/>
                </a:moveTo>
                <a:lnTo>
                  <a:pt x="0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9525" cap="flat" cmpd="sng">
            <a:solidFill>
              <a:srgbClr val="30466D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6"/>
          <p:cNvSpPr txBox="1"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000"/>
              <a:buFont typeface="Meiryo"/>
              <a:buNone/>
              <a:defRPr sz="6000" b="0" cap="none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lvl="0" algn="l">
              <a:lnSpc>
                <a:spcPct val="150000"/>
              </a:lnSpc>
              <a:spcBef>
                <a:spcPts val="93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 b="0" cap="none">
                <a:solidFill>
                  <a:srgbClr val="262626"/>
                </a:solidFill>
              </a:defRPr>
            </a:lvl1pPr>
            <a:lvl2pPr lvl="1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600"/>
              <a:buNone/>
              <a:defRPr sz="1600"/>
            </a:lvl6pPr>
            <a:lvl7pPr lvl="6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600"/>
              <a:buNone/>
              <a:defRPr sz="1600"/>
            </a:lvl7pPr>
            <a:lvl8pPr lvl="7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600"/>
              <a:buNone/>
              <a:defRPr sz="1600"/>
            </a:lvl8pPr>
            <a:lvl9pPr lvl="8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1" name="Google Shape;71;p6"/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2" name="Google Shape;72;p6"/>
          <p:cNvSpPr txBox="1">
            <a:spLocks noGrp="1"/>
          </p:cNvSpPr>
          <p:nvPr>
            <p:ph type="dt" idx="10"/>
          </p:nvPr>
        </p:nvSpPr>
        <p:spPr>
          <a:xfrm>
            <a:off x="8197353" y="6309360"/>
            <a:ext cx="215113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"/>
          <p:cNvSpPr txBox="1">
            <a:spLocks noGrp="1"/>
          </p:cNvSpPr>
          <p:nvPr>
            <p:ph type="ftr" idx="11"/>
          </p:nvPr>
        </p:nvSpPr>
        <p:spPr>
          <a:xfrm>
            <a:off x="855388" y="6309360"/>
            <a:ext cx="60076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 txBox="1"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dt" idx="10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ftr" idx="11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lt1">
              <a:alpha val="74509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3" name="Google Shape;83;p8"/>
          <p:cNvSpPr txBox="1"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Meiryo"/>
              <a:buNone/>
              <a:defRPr sz="4400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>
            <a:lvl1pPr marL="457200" lvl="0" indent="-22860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 b="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dt" idx="10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ftr" idx="11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body" idx="1"/>
          </p:nvPr>
        </p:nvSpPr>
        <p:spPr>
          <a:xfrm>
            <a:off x="5376670" y="705114"/>
            <a:ext cx="6172412" cy="2403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92" name="Google Shape;92;p9"/>
          <p:cNvSpPr txBox="1">
            <a:spLocks noGrp="1"/>
          </p:cNvSpPr>
          <p:nvPr>
            <p:ph type="body" idx="2"/>
          </p:nvPr>
        </p:nvSpPr>
        <p:spPr>
          <a:xfrm>
            <a:off x="5376670" y="3749040"/>
            <a:ext cx="6172411" cy="23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93" name="Google Shape;93;p9"/>
          <p:cNvSpPr txBox="1">
            <a:spLocks noGrp="1"/>
          </p:cNvSpPr>
          <p:nvPr>
            <p:ph type="dt" idx="10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ftr" idx="11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 txBox="1"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>
            <a:lvl1pPr marL="457200" lvl="0" indent="-22860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b="1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9" name="Google Shape;99;p10"/>
          <p:cNvSpPr txBox="1">
            <a:spLocks noGrp="1"/>
          </p:cNvSpPr>
          <p:nvPr>
            <p:ph type="body" idx="2"/>
          </p:nvPr>
        </p:nvSpPr>
        <p:spPr>
          <a:xfrm>
            <a:off x="5376668" y="1116199"/>
            <a:ext cx="6166422" cy="206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0" name="Google Shape;100;p10"/>
          <p:cNvSpPr txBox="1">
            <a:spLocks noGrp="1"/>
          </p:cNvSpPr>
          <p:nvPr>
            <p:ph type="body" idx="3"/>
          </p:nvPr>
        </p:nvSpPr>
        <p:spPr>
          <a:xfrm>
            <a:off x="5376668" y="3623098"/>
            <a:ext cx="616642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>
            <a:lvl1pPr marL="457200" lvl="0" indent="-228600" algn="l">
              <a:lnSpc>
                <a:spcPct val="99000"/>
              </a:lnSpc>
              <a:spcBef>
                <a:spcPts val="93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b="1" cap="none">
                <a:solidFill>
                  <a:schemeClr val="accen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914400" lvl="1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1" name="Google Shape;101;p10"/>
          <p:cNvSpPr txBox="1">
            <a:spLocks noGrp="1"/>
          </p:cNvSpPr>
          <p:nvPr>
            <p:ph type="body" idx="4"/>
          </p:nvPr>
        </p:nvSpPr>
        <p:spPr>
          <a:xfrm>
            <a:off x="5376670" y="4102370"/>
            <a:ext cx="6166419" cy="206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2" name="Google Shape;102;p10"/>
          <p:cNvSpPr txBox="1">
            <a:spLocks noGrp="1"/>
          </p:cNvSpPr>
          <p:nvPr>
            <p:ph type="dt" idx="10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0"/>
          <p:cNvSpPr txBox="1">
            <a:spLocks noGrp="1"/>
          </p:cNvSpPr>
          <p:nvPr>
            <p:ph type="ftr" idx="11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0"/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 txBox="1"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1"/>
          <p:cNvSpPr txBox="1">
            <a:spLocks noGrp="1"/>
          </p:cNvSpPr>
          <p:nvPr>
            <p:ph type="dt" idx="10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1"/>
          <p:cNvSpPr txBox="1">
            <a:spLocks noGrp="1"/>
          </p:cNvSpPr>
          <p:nvPr>
            <p:ph type="ftr" idx="11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1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11"/>
          <p:cNvSpPr/>
          <p:nvPr/>
        </p:nvSpPr>
        <p:spPr>
          <a:xfrm flipH="1">
            <a:off x="0" y="0"/>
            <a:ext cx="12192001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5" name="Google Shape;115;p11"/>
          <p:cNvSpPr/>
          <p:nvPr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6" name="Google Shape;116;p11"/>
          <p:cNvSpPr/>
          <p:nvPr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 txBox="1">
            <a:spLocks noGrp="1"/>
          </p:cNvSpPr>
          <p:nvPr>
            <p:ph type="dt" idx="10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2"/>
          <p:cNvSpPr txBox="1">
            <a:spLocks noGrp="1"/>
          </p:cNvSpPr>
          <p:nvPr>
            <p:ph type="ftr" idx="11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lt1">
              <a:alpha val="74509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body" idx="1"/>
          </p:nvPr>
        </p:nvSpPr>
        <p:spPr>
          <a:xfrm>
            <a:off x="638818" y="640078"/>
            <a:ext cx="6969693" cy="5455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1pPr>
            <a:lvl2pPr marL="914400" lvl="1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330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Char char="–"/>
              <a:defRPr sz="1600"/>
            </a:lvl3pPr>
            <a:lvl4pPr marL="1828800" lvl="3" indent="-3175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 sz="1400"/>
            </a:lvl4pPr>
            <a:lvl5pPr marL="2286000" lvl="4" indent="-3175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 sz="1400"/>
            </a:lvl5pPr>
            <a:lvl6pPr marL="2743200" lvl="5" indent="-3175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400"/>
              <a:buChar char="–"/>
              <a:defRPr sz="1400"/>
            </a:lvl6pPr>
            <a:lvl7pPr marL="3200400" lvl="6" indent="-3175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400"/>
              <a:buChar char="–"/>
              <a:defRPr sz="1400"/>
            </a:lvl7pPr>
            <a:lvl8pPr marL="3657600" lvl="7" indent="-3175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400"/>
              <a:buChar char="–"/>
              <a:defRPr sz="1400"/>
            </a:lvl8pPr>
            <a:lvl9pPr marL="4114800" lvl="8" indent="-3175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400"/>
              <a:buChar char="–"/>
              <a:defRPr sz="1400"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2"/>
          </p:nvPr>
        </p:nvSpPr>
        <p:spPr>
          <a:xfrm>
            <a:off x="8753015" y="3223803"/>
            <a:ext cx="2796066" cy="287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0"/>
            </a:lvl1pPr>
            <a:lvl2pPr marL="914400" lvl="1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9" name="Google Shape;129;p13"/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0" name="Google Shape;130;p13"/>
          <p:cNvSpPr txBox="1">
            <a:spLocks noGrp="1"/>
          </p:cNvSpPr>
          <p:nvPr>
            <p:ph type="dt" idx="10"/>
          </p:nvPr>
        </p:nvSpPr>
        <p:spPr>
          <a:xfrm>
            <a:off x="8753015" y="6309360"/>
            <a:ext cx="173420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ftr" idx="11"/>
          </p:nvPr>
        </p:nvSpPr>
        <p:spPr>
          <a:xfrm>
            <a:off x="638818" y="6309360"/>
            <a:ext cx="699386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Meiryo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4"/>
          <p:cNvSpPr>
            <a:spLocks noGrp="1"/>
          </p:cNvSpPr>
          <p:nvPr>
            <p:ph type="pic" idx="2"/>
          </p:nvPr>
        </p:nvSpPr>
        <p:spPr>
          <a:xfrm>
            <a:off x="0" y="0"/>
            <a:ext cx="8248592" cy="6857999"/>
          </a:xfrm>
          <a:prstGeom prst="rect">
            <a:avLst/>
          </a:prstGeom>
          <a:solidFill>
            <a:srgbClr val="D2D6D2"/>
          </a:solidFill>
          <a:ln>
            <a:noFill/>
          </a:ln>
        </p:spPr>
      </p:sp>
      <p:sp>
        <p:nvSpPr>
          <p:cNvPr id="136" name="Google Shape;136;p14"/>
          <p:cNvSpPr txBox="1">
            <a:spLocks noGrp="1"/>
          </p:cNvSpPr>
          <p:nvPr>
            <p:ph type="body" idx="1"/>
          </p:nvPr>
        </p:nvSpPr>
        <p:spPr>
          <a:xfrm>
            <a:off x="8834996" y="3429000"/>
            <a:ext cx="2714085" cy="2508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0"/>
            </a:lvl1pPr>
            <a:lvl2pPr marL="914400" lvl="1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7" name="Google Shape;137;p14"/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8" name="Google Shape;138;p14"/>
          <p:cNvSpPr txBox="1">
            <a:spLocks noGrp="1"/>
          </p:cNvSpPr>
          <p:nvPr>
            <p:ph type="dt" idx="10"/>
          </p:nvPr>
        </p:nvSpPr>
        <p:spPr>
          <a:xfrm>
            <a:off x="8834997" y="63093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4"/>
          <p:cNvSpPr txBox="1">
            <a:spLocks noGrp="1"/>
          </p:cNvSpPr>
          <p:nvPr>
            <p:ph type="ftr" idx="11"/>
          </p:nvPr>
        </p:nvSpPr>
        <p:spPr>
          <a:xfrm>
            <a:off x="640080" y="6309360"/>
            <a:ext cx="49465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5"/>
          <p:cNvSpPr txBox="1">
            <a:spLocks noGrp="1"/>
          </p:cNvSpPr>
          <p:nvPr>
            <p:ph type="body" idx="1"/>
          </p:nvPr>
        </p:nvSpPr>
        <p:spPr>
          <a:xfrm rot="5400000">
            <a:off x="5864129" y="217655"/>
            <a:ext cx="5197497" cy="617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dt" idx="10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ftr" idx="11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>
            <a:spLocks noGrp="1"/>
          </p:cNvSpPr>
          <p:nvPr>
            <p:ph type="title"/>
          </p:nvPr>
        </p:nvSpPr>
        <p:spPr>
          <a:xfrm rot="5400000">
            <a:off x="7393812" y="2391190"/>
            <a:ext cx="5339932" cy="1571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1"/>
          </p:nvPr>
        </p:nvSpPr>
        <p:spPr>
          <a:xfrm rot="5400000">
            <a:off x="3252190" y="205883"/>
            <a:ext cx="5322596" cy="5959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dt" idx="10"/>
          </p:nvPr>
        </p:nvSpPr>
        <p:spPr>
          <a:xfrm>
            <a:off x="9277965" y="6296615"/>
            <a:ext cx="25059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ftr" idx="11"/>
          </p:nvPr>
        </p:nvSpPr>
        <p:spPr>
          <a:xfrm>
            <a:off x="2933699" y="6296615"/>
            <a:ext cx="59595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ldNum" idx="12"/>
          </p:nvPr>
        </p:nvSpPr>
        <p:spPr>
          <a:xfrm rot="5400000">
            <a:off x="8734643" y="2853201"/>
            <a:ext cx="5383267" cy="60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3" name="Google Shape;153;p16" title="Rule Line"/>
          <p:cNvCxnSpPr/>
          <p:nvPr/>
        </p:nvCxnSpPr>
        <p:spPr>
          <a:xfrm>
            <a:off x="9111582" y="571502"/>
            <a:ext cx="0" cy="5275467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lt1">
              <a:alpha val="74509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Meiryo"/>
              <a:buNone/>
              <a:defRPr sz="3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marL="457200" marR="0" lvl="0" indent="-228600" algn="l" rtl="0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orbel"/>
              <a:buNone/>
              <a:defRPr sz="18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914400" marR="0" lvl="1" indent="-228600" algn="l" rtl="0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orbel"/>
              <a:buNone/>
              <a:defRPr sz="16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1371600" marR="0" lvl="2" indent="-317500" algn="l" rtl="0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sz="1400" b="0" i="1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1828800" marR="0" lvl="3" indent="-317500" algn="l" rtl="0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sz="14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2286000" marR="0" lvl="4" indent="-317500" algn="l" rtl="0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sz="1400" b="0" i="1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2743200" marR="0" lvl="5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400"/>
              <a:buFont typeface="Corbel"/>
              <a:buChar char="–"/>
              <a:defRPr sz="1400" b="0" i="0" u="none" strike="noStrike" cap="none">
                <a:solidFill>
                  <a:srgbClr val="657C95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3200400" marR="0" lvl="6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400"/>
              <a:buFont typeface="Corbel"/>
              <a:buChar char="–"/>
              <a:defRPr sz="1400" b="0" i="1" u="none" strike="noStrike" cap="none">
                <a:solidFill>
                  <a:srgbClr val="657C95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3657600" marR="0" lvl="7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400"/>
              <a:buFont typeface="Corbel"/>
              <a:buChar char="–"/>
              <a:defRPr sz="1400" b="0" i="0" u="none" strike="noStrike" cap="none">
                <a:solidFill>
                  <a:srgbClr val="657C95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4114800" marR="0" lvl="8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57C95"/>
              </a:buClr>
              <a:buSzPts val="1400"/>
              <a:buFont typeface="Corbel"/>
              <a:buChar char="–"/>
              <a:defRPr sz="1400" b="0" i="1" u="none" strike="noStrike" cap="none">
                <a:solidFill>
                  <a:srgbClr val="657C95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"/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ctrTitle"/>
          </p:nvPr>
        </p:nvSpPr>
        <p:spPr>
          <a:xfrm>
            <a:off x="1274114" y="953278"/>
            <a:ext cx="9643772" cy="5201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eiryo"/>
              <a:buNone/>
            </a:pPr>
            <a:r>
              <a:rPr lang="en-US"/>
              <a:t>SUBJECT- VERB AGREEMENT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499730" y="1500146"/>
            <a:ext cx="7250730" cy="2067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Meiryo"/>
              <a:buNone/>
            </a:pPr>
            <a:r>
              <a:rPr lang="en-US" sz="3600" u="sng"/>
              <a:t>In any sentence, the subject and verb must agree.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59219" y="3934047"/>
            <a:ext cx="725073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They (plural) go to school every day.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He (singular) goes to school every day.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1535371" y="962423"/>
            <a:ext cx="10013710" cy="121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82875" rIns="1097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eiryo"/>
              <a:buNone/>
            </a:pPr>
            <a:r>
              <a:rPr lang="en-US" sz="4400"/>
              <a:t>Plurals</a:t>
            </a:r>
            <a:endParaRPr/>
          </a:p>
        </p:txBody>
      </p:sp>
      <p:sp>
        <p:nvSpPr>
          <p:cNvPr id="174" name="Google Shape;174;p19"/>
          <p:cNvSpPr txBox="1">
            <a:spLocks noGrp="1"/>
          </p:cNvSpPr>
          <p:nvPr>
            <p:ph type="body" idx="1"/>
          </p:nvPr>
        </p:nvSpPr>
        <p:spPr>
          <a:xfrm>
            <a:off x="1542563" y="2590800"/>
            <a:ext cx="10131986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sz="2000" b="1" dirty="0"/>
              <a:t>Third-person nouns:</a:t>
            </a:r>
            <a:endParaRPr dirty="0"/>
          </a:p>
          <a:p>
            <a:pPr marL="0" lvl="0" indent="0" algn="l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sz="2000" dirty="0"/>
              <a:t>In the </a:t>
            </a:r>
            <a:r>
              <a:rPr lang="en-US" sz="2000" b="1" dirty="0"/>
              <a:t>present tense, </a:t>
            </a:r>
            <a:r>
              <a:rPr lang="en-US" sz="2000" dirty="0"/>
              <a:t>the subject and verb agree oppositely:</a:t>
            </a:r>
            <a:endParaRPr dirty="0"/>
          </a:p>
          <a:p>
            <a:pPr marL="342900" lvl="0" indent="-342900" algn="l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lang="en-US" sz="2000" dirty="0"/>
              <a:t>Plural subjects (ending with –s/ es) do not take ‘s’ with their verbs.</a:t>
            </a:r>
            <a:endParaRPr dirty="0"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sz="2000" i="1" dirty="0"/>
              <a:t>The </a:t>
            </a:r>
            <a:r>
              <a:rPr lang="en-US" sz="2000" b="1" i="1" dirty="0">
                <a:solidFill>
                  <a:srgbClr val="00B050"/>
                </a:solidFill>
              </a:rPr>
              <a:t>rooms</a:t>
            </a:r>
            <a:r>
              <a:rPr lang="en-US" sz="2000" i="1" dirty="0"/>
              <a:t> </a:t>
            </a:r>
            <a:r>
              <a:rPr lang="en-US" sz="2000" b="1" i="1" dirty="0">
                <a:solidFill>
                  <a:srgbClr val="FF0000"/>
                </a:solidFill>
              </a:rPr>
              <a:t>look</a:t>
            </a:r>
            <a:r>
              <a:rPr lang="en-US" sz="2000" i="1" dirty="0"/>
              <a:t> clean.</a:t>
            </a:r>
            <a:endParaRPr dirty="0"/>
          </a:p>
          <a:p>
            <a:pPr marL="342900" lvl="0" indent="-342900" algn="l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lang="en-US" sz="2000" dirty="0"/>
              <a:t>Singular subjects (without –s/es) take ‘s/</a:t>
            </a:r>
            <a:r>
              <a:rPr lang="en-US" sz="2000" dirty="0" err="1"/>
              <a:t>es’</a:t>
            </a:r>
            <a:r>
              <a:rPr lang="en-US" sz="2000" dirty="0"/>
              <a:t> with their verbs.</a:t>
            </a:r>
            <a:endParaRPr dirty="0"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sz="2000" i="1" dirty="0"/>
              <a:t>The </a:t>
            </a:r>
            <a:r>
              <a:rPr lang="en-US" sz="2000" b="1" i="1" dirty="0">
                <a:solidFill>
                  <a:srgbClr val="00B050"/>
                </a:solidFill>
              </a:rPr>
              <a:t>room</a:t>
            </a:r>
            <a:r>
              <a:rPr lang="en-US" sz="2000" i="1" dirty="0"/>
              <a:t> </a:t>
            </a:r>
            <a:r>
              <a:rPr lang="en-US" sz="2000" b="1" i="1" dirty="0">
                <a:solidFill>
                  <a:srgbClr val="FF0000"/>
                </a:solidFill>
              </a:rPr>
              <a:t>looks </a:t>
            </a:r>
            <a:r>
              <a:rPr lang="en-US" sz="2000" i="1" dirty="0"/>
              <a:t>clean. </a:t>
            </a:r>
            <a:endParaRPr dirty="0"/>
          </a:p>
        </p:txBody>
      </p:sp>
      <p:sp>
        <p:nvSpPr>
          <p:cNvPr id="175" name="Google Shape;175;p19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>
            <a:spLocks noGrp="1"/>
          </p:cNvSpPr>
          <p:nvPr>
            <p:ph type="title"/>
          </p:nvPr>
        </p:nvSpPr>
        <p:spPr>
          <a:xfrm>
            <a:off x="1535371" y="962423"/>
            <a:ext cx="10013710" cy="121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82875" rIns="1097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eiryo"/>
              <a:buNone/>
            </a:pPr>
            <a:r>
              <a:rPr lang="en-US" sz="4400"/>
              <a:t>Plurals</a:t>
            </a:r>
            <a:endParaRPr/>
          </a:p>
        </p:txBody>
      </p:sp>
      <p:sp>
        <p:nvSpPr>
          <p:cNvPr id="182" name="Google Shape;182;p20"/>
          <p:cNvSpPr txBox="1">
            <a:spLocks noGrp="1"/>
          </p:cNvSpPr>
          <p:nvPr>
            <p:ph type="body" idx="1"/>
          </p:nvPr>
        </p:nvSpPr>
        <p:spPr>
          <a:xfrm>
            <a:off x="1542563" y="2590800"/>
            <a:ext cx="10131986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sz="2000" b="1"/>
              <a:t>First and Second person nouns:</a:t>
            </a:r>
            <a:endParaRPr/>
          </a:p>
          <a:p>
            <a:pPr marL="285750" lvl="0" indent="-285750" algn="l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lang="en-US" sz="2000"/>
              <a:t>I and You despite being singular take plural verb forms (without s/ es).</a:t>
            </a:r>
            <a:endParaRPr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lang="en-US" sz="2000" b="1" i="1">
                <a:solidFill>
                  <a:srgbClr val="00B050"/>
                </a:solidFill>
              </a:rPr>
              <a:t>I</a:t>
            </a:r>
            <a:r>
              <a:rPr lang="en-US" sz="2000" b="1" i="1"/>
              <a:t> </a:t>
            </a:r>
            <a:r>
              <a:rPr lang="en-US" sz="2000" b="1" i="1">
                <a:solidFill>
                  <a:srgbClr val="FF0000"/>
                </a:solidFill>
              </a:rPr>
              <a:t>like</a:t>
            </a:r>
            <a:r>
              <a:rPr lang="en-US" sz="2000" b="1" i="1"/>
              <a:t> </a:t>
            </a:r>
            <a:r>
              <a:rPr lang="en-US" sz="2000" i="1"/>
              <a:t>to read a book. </a:t>
            </a:r>
            <a:endParaRPr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lang="en-US" sz="2000" b="1" i="1">
                <a:solidFill>
                  <a:srgbClr val="00B050"/>
                </a:solidFill>
              </a:rPr>
              <a:t>You</a:t>
            </a:r>
            <a:r>
              <a:rPr lang="en-US" sz="2000" b="1" i="1"/>
              <a:t> </a:t>
            </a:r>
            <a:r>
              <a:rPr lang="en-US" sz="2000" b="1" i="1">
                <a:solidFill>
                  <a:srgbClr val="FF0000"/>
                </a:solidFill>
              </a:rPr>
              <a:t>like</a:t>
            </a:r>
            <a:r>
              <a:rPr lang="en-US" sz="2000" b="1" i="1"/>
              <a:t> </a:t>
            </a:r>
            <a:r>
              <a:rPr lang="en-US" sz="2000" i="1"/>
              <a:t>to talk a lot. </a:t>
            </a:r>
            <a:endParaRPr/>
          </a:p>
        </p:txBody>
      </p:sp>
      <p:sp>
        <p:nvSpPr>
          <p:cNvPr id="183" name="Google Shape;183;p20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>
            <a:spLocks noGrp="1"/>
          </p:cNvSpPr>
          <p:nvPr>
            <p:ph type="title"/>
          </p:nvPr>
        </p:nvSpPr>
        <p:spPr>
          <a:xfrm>
            <a:off x="1535371" y="962423"/>
            <a:ext cx="10013710" cy="121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82875" rIns="1097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eiryo"/>
              <a:buNone/>
            </a:pPr>
            <a:r>
              <a:rPr lang="en-US" sz="4400"/>
              <a:t>Auxiliary Verbs </a:t>
            </a:r>
            <a:endParaRPr/>
          </a:p>
        </p:txBody>
      </p:sp>
      <p:sp>
        <p:nvSpPr>
          <p:cNvPr id="190" name="Google Shape;190;p21"/>
          <p:cNvSpPr txBox="1">
            <a:spLocks noGrp="1"/>
          </p:cNvSpPr>
          <p:nvPr>
            <p:ph type="body" idx="1"/>
          </p:nvPr>
        </p:nvSpPr>
        <p:spPr>
          <a:xfrm>
            <a:off x="1542563" y="2590800"/>
            <a:ext cx="10131986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sz="2000"/>
              <a:t>In sentences with auxiliary verbs (helping verbs, to be), they become the agreeing verbs as opposed to the main verb. </a:t>
            </a:r>
            <a:endParaRPr/>
          </a:p>
          <a:p>
            <a:pPr marL="0" lvl="0" indent="0" algn="l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sz="2000"/>
              <a:t>Subject-verb agreement is then carried out as per the tense and voice of the sentence.</a:t>
            </a:r>
            <a:endParaRPr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sz="2000" i="1"/>
              <a:t>The </a:t>
            </a:r>
            <a:r>
              <a:rPr lang="en-US" sz="2000" b="1" i="1">
                <a:solidFill>
                  <a:srgbClr val="00B050"/>
                </a:solidFill>
              </a:rPr>
              <a:t>students</a:t>
            </a:r>
            <a:r>
              <a:rPr lang="en-US" sz="2000" b="1" i="1"/>
              <a:t> </a:t>
            </a:r>
            <a:r>
              <a:rPr lang="en-US" sz="2000" b="1" i="1">
                <a:solidFill>
                  <a:srgbClr val="FF0000"/>
                </a:solidFill>
              </a:rPr>
              <a:t>do</a:t>
            </a:r>
            <a:r>
              <a:rPr lang="en-US" sz="2000" b="1" i="1"/>
              <a:t> </a:t>
            </a:r>
            <a:r>
              <a:rPr lang="en-US" sz="2000" i="1"/>
              <a:t>not want to do their tasks.</a:t>
            </a:r>
            <a:endParaRPr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sz="2000" i="1"/>
              <a:t>The </a:t>
            </a:r>
            <a:r>
              <a:rPr lang="en-US" sz="2000" b="1" i="1">
                <a:solidFill>
                  <a:srgbClr val="00B050"/>
                </a:solidFill>
              </a:rPr>
              <a:t>students</a:t>
            </a:r>
            <a:r>
              <a:rPr lang="en-US" sz="2000" b="1" i="1"/>
              <a:t> </a:t>
            </a:r>
            <a:r>
              <a:rPr lang="en-US" sz="2000" b="1" i="1">
                <a:solidFill>
                  <a:srgbClr val="FF0000"/>
                </a:solidFill>
              </a:rPr>
              <a:t>were</a:t>
            </a:r>
            <a:r>
              <a:rPr lang="en-US" sz="2000" b="1" i="1"/>
              <a:t> </a:t>
            </a:r>
            <a:r>
              <a:rPr lang="en-US" sz="2000" i="1"/>
              <a:t>doing their tasks.</a:t>
            </a:r>
            <a:endParaRPr/>
          </a:p>
        </p:txBody>
      </p:sp>
      <p:sp>
        <p:nvSpPr>
          <p:cNvPr id="191" name="Google Shape;191;p21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>
            <a:spLocks noGrp="1"/>
          </p:cNvSpPr>
          <p:nvPr>
            <p:ph type="title"/>
          </p:nvPr>
        </p:nvSpPr>
        <p:spPr>
          <a:xfrm>
            <a:off x="1535371" y="962423"/>
            <a:ext cx="10013710" cy="121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82875" rIns="1097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eiryo"/>
              <a:buNone/>
            </a:pPr>
            <a:r>
              <a:rPr lang="en-US" sz="4400"/>
              <a:t>Modal Verbs </a:t>
            </a:r>
            <a:endParaRPr/>
          </a:p>
        </p:txBody>
      </p:sp>
      <p:sp>
        <p:nvSpPr>
          <p:cNvPr id="198" name="Google Shape;198;p22"/>
          <p:cNvSpPr txBox="1">
            <a:spLocks noGrp="1"/>
          </p:cNvSpPr>
          <p:nvPr>
            <p:ph type="body" idx="1"/>
          </p:nvPr>
        </p:nvSpPr>
        <p:spPr>
          <a:xfrm>
            <a:off x="1542563" y="2590800"/>
            <a:ext cx="10131986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sz="2000" dirty="0"/>
              <a:t>Modal verbs (may, might, can, could, must, shall, should, etc.) are always followed by an infinitive verb form (1</a:t>
            </a:r>
            <a:r>
              <a:rPr lang="en-US" sz="2000" baseline="30000" dirty="0"/>
              <a:t>st</a:t>
            </a:r>
            <a:r>
              <a:rPr lang="en-US" sz="2000" dirty="0"/>
              <a:t> form of the verb without –s/ es) no matter the subject. </a:t>
            </a:r>
            <a:endParaRPr dirty="0"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sz="2000" i="1" dirty="0"/>
              <a:t>My </a:t>
            </a:r>
            <a:r>
              <a:rPr lang="en-US" sz="2000" b="1" i="1" dirty="0">
                <a:solidFill>
                  <a:srgbClr val="00B050"/>
                </a:solidFill>
              </a:rPr>
              <a:t>friend</a:t>
            </a:r>
            <a:r>
              <a:rPr lang="en-US" sz="2000" b="1" i="1" dirty="0"/>
              <a:t> </a:t>
            </a:r>
            <a:r>
              <a:rPr lang="en-US" sz="2000" b="1" i="1" u="sng" dirty="0">
                <a:solidFill>
                  <a:srgbClr val="FF0000"/>
                </a:solidFill>
              </a:rPr>
              <a:t>might</a:t>
            </a:r>
            <a:r>
              <a:rPr lang="en-US" sz="2000" b="1" i="1" dirty="0">
                <a:solidFill>
                  <a:srgbClr val="FF0000"/>
                </a:solidFill>
              </a:rPr>
              <a:t> come. </a:t>
            </a:r>
            <a:endParaRPr dirty="0"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sz="2000" i="1" dirty="0"/>
              <a:t>My</a:t>
            </a:r>
            <a:r>
              <a:rPr lang="en-US" sz="2000" i="1" dirty="0">
                <a:solidFill>
                  <a:srgbClr val="00B050"/>
                </a:solidFill>
              </a:rPr>
              <a:t> </a:t>
            </a:r>
            <a:r>
              <a:rPr lang="en-US" sz="2000" b="1" i="1" dirty="0">
                <a:solidFill>
                  <a:srgbClr val="00B050"/>
                </a:solidFill>
              </a:rPr>
              <a:t>friends </a:t>
            </a:r>
            <a:r>
              <a:rPr lang="en-US" sz="2000" b="1" i="1" u="sng" dirty="0">
                <a:solidFill>
                  <a:srgbClr val="FF0000"/>
                </a:solidFill>
              </a:rPr>
              <a:t>might</a:t>
            </a:r>
            <a:r>
              <a:rPr lang="en-US" sz="2000" b="1" i="1" dirty="0">
                <a:solidFill>
                  <a:srgbClr val="FF0000"/>
                </a:solidFill>
              </a:rPr>
              <a:t> come.</a:t>
            </a:r>
            <a:endParaRPr dirty="0"/>
          </a:p>
        </p:txBody>
      </p:sp>
      <p:sp>
        <p:nvSpPr>
          <p:cNvPr id="199" name="Google Shape;199;p22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>
            <a:spLocks noGrp="1"/>
          </p:cNvSpPr>
          <p:nvPr>
            <p:ph type="title"/>
          </p:nvPr>
        </p:nvSpPr>
        <p:spPr>
          <a:xfrm>
            <a:off x="1535371" y="962423"/>
            <a:ext cx="10013710" cy="121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82875" rIns="1097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eiryo"/>
              <a:buNone/>
            </a:pPr>
            <a:r>
              <a:rPr lang="en-US" sz="4400" dirty="0"/>
              <a:t>Indefinite Pronouns</a:t>
            </a:r>
            <a:endParaRPr dirty="0"/>
          </a:p>
        </p:txBody>
      </p:sp>
      <p:sp>
        <p:nvSpPr>
          <p:cNvPr id="206" name="Google Shape;206;p23"/>
          <p:cNvSpPr txBox="1">
            <a:spLocks noGrp="1"/>
          </p:cNvSpPr>
          <p:nvPr>
            <p:ph type="body" idx="1"/>
          </p:nvPr>
        </p:nvSpPr>
        <p:spPr>
          <a:xfrm>
            <a:off x="1542563" y="2590800"/>
            <a:ext cx="10131986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solidFill>
                  <a:schemeClr val="dk1"/>
                </a:solidFill>
              </a:rPr>
              <a:t>Everybody, somebody, nobody, someone, etc.</a:t>
            </a:r>
            <a:endParaRPr dirty="0"/>
          </a:p>
          <a:p>
            <a:pPr marL="0" lvl="0" indent="0" algn="l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solidFill>
                  <a:schemeClr val="dk1"/>
                </a:solidFill>
              </a:rPr>
              <a:t>Usually, Indefinite pronouns take singular verb forms (with –s/es).</a:t>
            </a:r>
            <a:endParaRPr dirty="0"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lang="en-US" sz="2000" b="1" i="1" dirty="0">
                <a:solidFill>
                  <a:srgbClr val="00B050"/>
                </a:solidFill>
              </a:rPr>
              <a:t>Everybody</a:t>
            </a:r>
            <a:r>
              <a:rPr lang="en-US" sz="2000" b="1" i="1" dirty="0">
                <a:solidFill>
                  <a:schemeClr val="dk1"/>
                </a:solidFill>
              </a:rPr>
              <a:t> </a:t>
            </a:r>
            <a:r>
              <a:rPr lang="en-US" sz="2000" b="1" i="1" dirty="0">
                <a:solidFill>
                  <a:srgbClr val="FF0000"/>
                </a:solidFill>
              </a:rPr>
              <a:t>wants</a:t>
            </a:r>
            <a:r>
              <a:rPr lang="en-US" sz="2000" b="1" i="1" dirty="0">
                <a:solidFill>
                  <a:schemeClr val="dk1"/>
                </a:solidFill>
              </a:rPr>
              <a:t> </a:t>
            </a:r>
            <a:r>
              <a:rPr lang="en-US" sz="2000" i="1" dirty="0">
                <a:solidFill>
                  <a:schemeClr val="dk1"/>
                </a:solidFill>
              </a:rPr>
              <a:t>to go to the picnic.</a:t>
            </a:r>
            <a:endParaRPr dirty="0"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lang="en-US" sz="2000" b="1" i="1" dirty="0">
                <a:solidFill>
                  <a:srgbClr val="00B050"/>
                </a:solidFill>
              </a:rPr>
              <a:t>Someone</a:t>
            </a:r>
            <a:r>
              <a:rPr lang="en-US" sz="2000" b="1" i="1" dirty="0">
                <a:solidFill>
                  <a:schemeClr val="dk1"/>
                </a:solidFill>
              </a:rPr>
              <a:t> </a:t>
            </a:r>
            <a:r>
              <a:rPr lang="en-US" sz="2000" b="1" i="1" dirty="0">
                <a:solidFill>
                  <a:srgbClr val="FF0000"/>
                </a:solidFill>
              </a:rPr>
              <a:t>looks</a:t>
            </a:r>
            <a:r>
              <a:rPr lang="en-US" sz="2000" b="1" i="1" dirty="0">
                <a:solidFill>
                  <a:schemeClr val="dk1"/>
                </a:solidFill>
              </a:rPr>
              <a:t> </a:t>
            </a:r>
            <a:r>
              <a:rPr lang="en-US" sz="2000" i="1" dirty="0">
                <a:solidFill>
                  <a:schemeClr val="dk1"/>
                </a:solidFill>
              </a:rPr>
              <a:t>out for the animals in the zoo. </a:t>
            </a:r>
          </a:p>
          <a:p>
            <a:pPr marL="0" lvl="0" indent="0">
              <a:spcBef>
                <a:spcPts val="1530"/>
              </a:spcBef>
              <a:buClr>
                <a:srgbClr val="00B050"/>
              </a:buClr>
              <a:buSzPts val="2000"/>
            </a:pPr>
            <a:r>
              <a:rPr lang="en-US" sz="2000" b="1" dirty="0"/>
              <a:t>Always plural:</a:t>
            </a:r>
            <a:r>
              <a:rPr lang="en-US" sz="2000" dirty="0"/>
              <a:t> both, few, many, several → plural verb</a:t>
            </a:r>
            <a:endParaRPr sz="2000" dirty="0"/>
          </a:p>
          <a:p>
            <a:pPr marL="0" lvl="0" indent="0" algn="ctr">
              <a:spcBef>
                <a:spcPts val="1530"/>
              </a:spcBef>
              <a:buSzPts val="2000"/>
            </a:pPr>
            <a:r>
              <a:rPr lang="en-US" sz="2000" b="1" i="1" dirty="0">
                <a:solidFill>
                  <a:srgbClr val="00B050"/>
                </a:solidFill>
              </a:rPr>
              <a:t>Few</a:t>
            </a:r>
            <a:r>
              <a:rPr lang="en-US" sz="2000" b="1" i="1" dirty="0"/>
              <a:t> </a:t>
            </a:r>
            <a:r>
              <a:rPr lang="en-US" sz="2000" b="1" i="1" dirty="0">
                <a:solidFill>
                  <a:srgbClr val="FF0000"/>
                </a:solidFill>
              </a:rPr>
              <a:t>have</a:t>
            </a:r>
            <a:r>
              <a:rPr lang="en-US" sz="2000" b="1" i="1" dirty="0"/>
              <a:t> finished the task.</a:t>
            </a:r>
            <a:endParaRPr lang="en-US" sz="2000" b="1" i="1" dirty="0">
              <a:solidFill>
                <a:schemeClr val="dk1"/>
              </a:solidFill>
            </a:endParaRPr>
          </a:p>
        </p:txBody>
      </p:sp>
      <p:sp>
        <p:nvSpPr>
          <p:cNvPr id="207" name="Google Shape;207;p23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>
            <a:spLocks noGrp="1"/>
          </p:cNvSpPr>
          <p:nvPr>
            <p:ph type="title"/>
          </p:nvPr>
        </p:nvSpPr>
        <p:spPr>
          <a:xfrm>
            <a:off x="1535371" y="962423"/>
            <a:ext cx="10013710" cy="121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82875" rIns="1097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eiryo"/>
              <a:buNone/>
            </a:pPr>
            <a:r>
              <a:rPr lang="en-US" sz="4400" dirty="0"/>
              <a:t>Compound Subjects</a:t>
            </a:r>
            <a:endParaRPr dirty="0"/>
          </a:p>
        </p:txBody>
      </p:sp>
      <p:sp>
        <p:nvSpPr>
          <p:cNvPr id="214" name="Google Shape;214;p24"/>
          <p:cNvSpPr txBox="1">
            <a:spLocks noGrp="1"/>
          </p:cNvSpPr>
          <p:nvPr>
            <p:ph type="body" idx="1"/>
          </p:nvPr>
        </p:nvSpPr>
        <p:spPr>
          <a:xfrm>
            <a:off x="1542563" y="2590800"/>
            <a:ext cx="10131986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solidFill>
                  <a:schemeClr val="dk1"/>
                </a:solidFill>
              </a:rPr>
              <a:t>Two or more singular subjects joined by “and” take plural verb form.</a:t>
            </a:r>
            <a:endParaRPr dirty="0"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lang="en-US" sz="2000" b="1" i="1" dirty="0">
                <a:solidFill>
                  <a:srgbClr val="00B050"/>
                </a:solidFill>
              </a:rPr>
              <a:t>My mom and dad </a:t>
            </a:r>
            <a:r>
              <a:rPr lang="en-US" sz="2000" b="1" i="1" dirty="0">
                <a:solidFill>
                  <a:srgbClr val="FF0000"/>
                </a:solidFill>
              </a:rPr>
              <a:t>are</a:t>
            </a:r>
            <a:r>
              <a:rPr lang="en-US" sz="2000" i="1" dirty="0">
                <a:solidFill>
                  <a:schemeClr val="dk1"/>
                </a:solidFill>
              </a:rPr>
              <a:t> proud of me.</a:t>
            </a:r>
            <a:endParaRPr dirty="0"/>
          </a:p>
          <a:p>
            <a:pPr marL="0" lvl="0" indent="0" algn="l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solidFill>
                  <a:schemeClr val="dk1"/>
                </a:solidFill>
              </a:rPr>
              <a:t>Two or more singular subjects joined by “or” take singular verb form.</a:t>
            </a:r>
            <a:endParaRPr dirty="0"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lang="en-US" sz="2000" b="1" i="1" dirty="0">
                <a:solidFill>
                  <a:srgbClr val="00B050"/>
                </a:solidFill>
              </a:rPr>
              <a:t>The cat or the dog </a:t>
            </a:r>
            <a:r>
              <a:rPr lang="en-US" sz="2000" b="1" i="1" dirty="0">
                <a:solidFill>
                  <a:srgbClr val="FF0000"/>
                </a:solidFill>
              </a:rPr>
              <a:t>is</a:t>
            </a:r>
            <a:r>
              <a:rPr lang="en-US" sz="2000" i="1" dirty="0">
                <a:solidFill>
                  <a:schemeClr val="dk1"/>
                </a:solidFill>
              </a:rPr>
              <a:t> in the pantry.</a:t>
            </a:r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endParaRPr dirty="0"/>
          </a:p>
          <a:p>
            <a:pPr marL="0" lvl="0" indent="0" algn="l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215" name="Google Shape;215;p24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>
            <a:spLocks noGrp="1"/>
          </p:cNvSpPr>
          <p:nvPr>
            <p:ph type="title"/>
          </p:nvPr>
        </p:nvSpPr>
        <p:spPr>
          <a:xfrm>
            <a:off x="1535371" y="962423"/>
            <a:ext cx="10013710" cy="121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82875" rIns="1097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eiryo"/>
              <a:buNone/>
            </a:pPr>
            <a:r>
              <a:rPr lang="en-US" sz="4400"/>
              <a:t>Gerunds</a:t>
            </a:r>
            <a:endParaRPr/>
          </a:p>
        </p:txBody>
      </p:sp>
      <p:sp>
        <p:nvSpPr>
          <p:cNvPr id="222" name="Google Shape;222;p25"/>
          <p:cNvSpPr txBox="1">
            <a:spLocks noGrp="1"/>
          </p:cNvSpPr>
          <p:nvPr>
            <p:ph type="body" idx="1"/>
          </p:nvPr>
        </p:nvSpPr>
        <p:spPr>
          <a:xfrm>
            <a:off x="1542563" y="2590800"/>
            <a:ext cx="10131986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</a:rPr>
              <a:t>Gerunds as subjects always take singular verb form. </a:t>
            </a:r>
            <a:endParaRPr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lang="en-US" sz="2000" b="1" i="1">
                <a:solidFill>
                  <a:srgbClr val="00B050"/>
                </a:solidFill>
              </a:rPr>
              <a:t>Playing</a:t>
            </a:r>
            <a:r>
              <a:rPr lang="en-US" sz="2000" i="1">
                <a:solidFill>
                  <a:schemeClr val="dk1"/>
                </a:solidFill>
              </a:rPr>
              <a:t> football</a:t>
            </a:r>
            <a:r>
              <a:rPr lang="en-US" sz="2000" b="1" i="1">
                <a:solidFill>
                  <a:srgbClr val="FF0000"/>
                </a:solidFill>
              </a:rPr>
              <a:t> is </a:t>
            </a:r>
            <a:r>
              <a:rPr lang="en-US" sz="2000" i="1">
                <a:solidFill>
                  <a:schemeClr val="dk1"/>
                </a:solidFill>
              </a:rPr>
              <a:t>fun. </a:t>
            </a:r>
            <a:endParaRPr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lang="en-US" sz="2000" b="1" i="1">
                <a:solidFill>
                  <a:srgbClr val="00B050"/>
                </a:solidFill>
              </a:rPr>
              <a:t>Waiting</a:t>
            </a:r>
            <a:r>
              <a:rPr lang="en-US" sz="2000" i="1">
                <a:solidFill>
                  <a:schemeClr val="dk1"/>
                </a:solidFill>
              </a:rPr>
              <a:t> for the bus </a:t>
            </a:r>
            <a:r>
              <a:rPr lang="en-US" sz="2000" b="1" i="1">
                <a:solidFill>
                  <a:srgbClr val="FF0000"/>
                </a:solidFill>
              </a:rPr>
              <a:t>is</a:t>
            </a:r>
            <a:r>
              <a:rPr lang="en-US" sz="2000" i="1">
                <a:solidFill>
                  <a:schemeClr val="dk1"/>
                </a:solidFill>
              </a:rPr>
              <a:t> tiresome.</a:t>
            </a:r>
            <a:endParaRPr/>
          </a:p>
          <a:p>
            <a:pPr marL="0" lvl="0" indent="0" algn="l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</a:rPr>
              <a:t>But when two gerunds are linked by “and” they take plural verb form. </a:t>
            </a:r>
            <a:endParaRPr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lang="en-US" sz="2000" b="1" i="1">
                <a:solidFill>
                  <a:srgbClr val="00B050"/>
                </a:solidFill>
              </a:rPr>
              <a:t>Meeting</a:t>
            </a:r>
            <a:r>
              <a:rPr lang="en-US" sz="2000" i="1">
                <a:solidFill>
                  <a:schemeClr val="dk1"/>
                </a:solidFill>
              </a:rPr>
              <a:t> with my friends and </a:t>
            </a:r>
            <a:r>
              <a:rPr lang="en-US" sz="2000" b="1" i="1">
                <a:solidFill>
                  <a:srgbClr val="00B050"/>
                </a:solidFill>
              </a:rPr>
              <a:t>going out </a:t>
            </a:r>
            <a:r>
              <a:rPr lang="en-US" sz="2000" b="1" i="1">
                <a:solidFill>
                  <a:srgbClr val="FF0000"/>
                </a:solidFill>
              </a:rPr>
              <a:t>are</a:t>
            </a:r>
            <a:r>
              <a:rPr lang="en-US" sz="2000" i="1">
                <a:solidFill>
                  <a:schemeClr val="dk1"/>
                </a:solidFill>
              </a:rPr>
              <a:t> two of my favorite pastimes. </a:t>
            </a:r>
            <a:endParaRPr/>
          </a:p>
        </p:txBody>
      </p:sp>
      <p:sp>
        <p:nvSpPr>
          <p:cNvPr id="223" name="Google Shape;223;p25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1535371" y="962423"/>
            <a:ext cx="10013710" cy="121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82875" rIns="1097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eiryo"/>
              <a:buNone/>
            </a:pPr>
            <a:r>
              <a:rPr lang="en-US" sz="4400" dirty="0"/>
              <a:t>Collective Nouns</a:t>
            </a:r>
            <a:endParaRPr dirty="0"/>
          </a:p>
        </p:txBody>
      </p:sp>
      <p:sp>
        <p:nvSpPr>
          <p:cNvPr id="230" name="Google Shape;230;p26"/>
          <p:cNvSpPr txBox="1">
            <a:spLocks noGrp="1"/>
          </p:cNvSpPr>
          <p:nvPr>
            <p:ph type="body" idx="1"/>
          </p:nvPr>
        </p:nvSpPr>
        <p:spPr>
          <a:xfrm>
            <a:off x="1542563" y="2590800"/>
            <a:ext cx="10131986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solidFill>
                  <a:schemeClr val="dk1"/>
                </a:solidFill>
              </a:rPr>
              <a:t>The sentences with compound nouns as a subject can either take singular or plural verb forms, depending upon the individual sentences. </a:t>
            </a:r>
            <a:endParaRPr/>
          </a:p>
          <a:p>
            <a:pPr marL="457200" lvl="0" indent="-457200" algn="l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</a:rPr>
              <a:t>When talking about the multiple individual groups = plural verb forms.</a:t>
            </a:r>
            <a:endParaRPr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00B050"/>
              </a:buClr>
              <a:buSzPct val="100000"/>
              <a:buNone/>
            </a:pPr>
            <a:r>
              <a:rPr lang="en-US" sz="2000" b="1" i="1">
                <a:solidFill>
                  <a:srgbClr val="00B050"/>
                </a:solidFill>
              </a:rPr>
              <a:t>The teams </a:t>
            </a:r>
            <a:r>
              <a:rPr lang="en-US" sz="2000" b="1" i="1">
                <a:solidFill>
                  <a:srgbClr val="FF0000"/>
                </a:solidFill>
              </a:rPr>
              <a:t>are</a:t>
            </a:r>
            <a:r>
              <a:rPr lang="en-US" sz="2000" b="1" i="1">
                <a:solidFill>
                  <a:schemeClr val="dk1"/>
                </a:solidFill>
              </a:rPr>
              <a:t> </a:t>
            </a:r>
            <a:r>
              <a:rPr lang="en-US" sz="2000" i="1">
                <a:solidFill>
                  <a:schemeClr val="dk1"/>
                </a:solidFill>
              </a:rPr>
              <a:t>meeting today.</a:t>
            </a:r>
            <a:endParaRPr/>
          </a:p>
          <a:p>
            <a:pPr marL="457200" lvl="0" indent="-457200" algn="l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</a:rPr>
              <a:t>When talking about the group as a whole = singular verb forms.</a:t>
            </a:r>
            <a:endParaRPr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00B050"/>
              </a:buClr>
              <a:buSzPct val="100000"/>
              <a:buNone/>
            </a:pPr>
            <a:r>
              <a:rPr lang="en-US" sz="2000" b="1" i="1">
                <a:solidFill>
                  <a:srgbClr val="00B050"/>
                </a:solidFill>
              </a:rPr>
              <a:t>The team </a:t>
            </a:r>
            <a:r>
              <a:rPr lang="en-US" sz="2000" b="1" i="1">
                <a:solidFill>
                  <a:srgbClr val="FF0000"/>
                </a:solidFill>
              </a:rPr>
              <a:t>is</a:t>
            </a:r>
            <a:r>
              <a:rPr lang="en-US" sz="2000" b="1" i="1">
                <a:solidFill>
                  <a:schemeClr val="dk1"/>
                </a:solidFill>
              </a:rPr>
              <a:t> </a:t>
            </a:r>
            <a:r>
              <a:rPr lang="en-US" sz="2000" i="1">
                <a:solidFill>
                  <a:schemeClr val="dk1"/>
                </a:solidFill>
              </a:rPr>
              <a:t>organizing for the event.</a:t>
            </a:r>
            <a:endParaRPr/>
          </a:p>
        </p:txBody>
      </p:sp>
      <p:sp>
        <p:nvSpPr>
          <p:cNvPr id="231" name="Google Shape;231;p26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 txBox="1">
            <a:spLocks noGrp="1"/>
          </p:cNvSpPr>
          <p:nvPr>
            <p:ph type="title"/>
          </p:nvPr>
        </p:nvSpPr>
        <p:spPr>
          <a:xfrm>
            <a:off x="1535371" y="962423"/>
            <a:ext cx="10013710" cy="121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82875" rIns="1097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eiryo"/>
              <a:buNone/>
            </a:pPr>
            <a:r>
              <a:rPr lang="en-US" sz="4400"/>
              <a:t>Uncountable Nouns</a:t>
            </a:r>
            <a:endParaRPr/>
          </a:p>
        </p:txBody>
      </p:sp>
      <p:sp>
        <p:nvSpPr>
          <p:cNvPr id="238" name="Google Shape;238;p27"/>
          <p:cNvSpPr txBox="1">
            <a:spLocks noGrp="1"/>
          </p:cNvSpPr>
          <p:nvPr>
            <p:ph type="body" idx="1"/>
          </p:nvPr>
        </p:nvSpPr>
        <p:spPr>
          <a:xfrm>
            <a:off x="1542563" y="2590800"/>
            <a:ext cx="10131986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</a:rPr>
              <a:t>The uncountable nouns are always treated as singular subjects and take singular verb forms. </a:t>
            </a:r>
            <a:endParaRPr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lang="en-US" sz="2000" b="1" i="1">
                <a:solidFill>
                  <a:srgbClr val="00B050"/>
                </a:solidFill>
              </a:rPr>
              <a:t>Milk</a:t>
            </a:r>
            <a:r>
              <a:rPr lang="en-US" sz="2000" b="1" i="1">
                <a:solidFill>
                  <a:schemeClr val="dk1"/>
                </a:solidFill>
              </a:rPr>
              <a:t> </a:t>
            </a:r>
            <a:r>
              <a:rPr lang="en-US" sz="2000" b="1" i="1">
                <a:solidFill>
                  <a:srgbClr val="FF0000"/>
                </a:solidFill>
              </a:rPr>
              <a:t>is</a:t>
            </a:r>
            <a:r>
              <a:rPr lang="en-US" sz="2000" b="1" i="1">
                <a:solidFill>
                  <a:schemeClr val="dk1"/>
                </a:solidFill>
              </a:rPr>
              <a:t> </a:t>
            </a:r>
            <a:r>
              <a:rPr lang="en-US" sz="2000" i="1">
                <a:solidFill>
                  <a:schemeClr val="dk1"/>
                </a:solidFill>
              </a:rPr>
              <a:t>boiling on the stove. </a:t>
            </a:r>
            <a:endParaRPr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i="1">
                <a:solidFill>
                  <a:schemeClr val="dk1"/>
                </a:solidFill>
              </a:rPr>
              <a:t>Her </a:t>
            </a:r>
            <a:r>
              <a:rPr lang="en-US" sz="2000" b="1" i="1">
                <a:solidFill>
                  <a:srgbClr val="00B050"/>
                </a:solidFill>
              </a:rPr>
              <a:t>hair</a:t>
            </a:r>
            <a:r>
              <a:rPr lang="en-US" sz="2000" b="1" i="1">
                <a:solidFill>
                  <a:schemeClr val="dk1"/>
                </a:solidFill>
              </a:rPr>
              <a:t> </a:t>
            </a:r>
            <a:r>
              <a:rPr lang="en-US" sz="2000" b="1" i="1">
                <a:solidFill>
                  <a:srgbClr val="FF0000"/>
                </a:solidFill>
              </a:rPr>
              <a:t>is</a:t>
            </a:r>
            <a:r>
              <a:rPr lang="en-US" sz="2000" b="1" i="1">
                <a:solidFill>
                  <a:schemeClr val="dk1"/>
                </a:solidFill>
              </a:rPr>
              <a:t> </a:t>
            </a:r>
            <a:r>
              <a:rPr lang="en-US" sz="2000" i="1">
                <a:solidFill>
                  <a:schemeClr val="dk1"/>
                </a:solidFill>
              </a:rPr>
              <a:t>blonde.</a:t>
            </a:r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9EB83283-5744-3B8C-5A09-397AC9009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>
            <a:extLst>
              <a:ext uri="{FF2B5EF4-FFF2-40B4-BE49-F238E27FC236}">
                <a16:creationId xmlns:a16="http://schemas.microsoft.com/office/drawing/2014/main" id="{8159D6C1-6E4A-DA47-A4F7-75C32EC5C7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5371" y="962423"/>
            <a:ext cx="10013710" cy="121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82875" rIns="1097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eiryo"/>
              <a:buNone/>
            </a:pPr>
            <a:r>
              <a:rPr lang="en-US" sz="4400" dirty="0"/>
              <a:t>Amounts and Quantities</a:t>
            </a:r>
            <a:endParaRPr dirty="0"/>
          </a:p>
        </p:txBody>
      </p:sp>
      <p:sp>
        <p:nvSpPr>
          <p:cNvPr id="238" name="Google Shape;238;p27">
            <a:extLst>
              <a:ext uri="{FF2B5EF4-FFF2-40B4-BE49-F238E27FC236}">
                <a16:creationId xmlns:a16="http://schemas.microsoft.com/office/drawing/2014/main" id="{A1FC3CE4-F025-8ECF-D521-0F6E278250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42563" y="2590800"/>
            <a:ext cx="10131986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/>
          <a:p>
            <a:r>
              <a:rPr lang="en-US" sz="2000" dirty="0"/>
              <a:t>Singular or plural depending on meaning:</a:t>
            </a:r>
          </a:p>
          <a:p>
            <a:pPr algn="ctr"/>
            <a:r>
              <a:rPr lang="en-US" sz="2000" b="1" i="1" dirty="0">
                <a:solidFill>
                  <a:srgbClr val="00B050"/>
                </a:solidFill>
              </a:rPr>
              <a:t>Ten dollars </a:t>
            </a:r>
            <a:r>
              <a:rPr lang="en-US" sz="2000" b="1" i="1" dirty="0">
                <a:solidFill>
                  <a:srgbClr val="FF0000"/>
                </a:solidFill>
              </a:rPr>
              <a:t>is</a:t>
            </a:r>
            <a:r>
              <a:rPr lang="en-US" sz="2000" b="1" i="1" dirty="0"/>
              <a:t> </a:t>
            </a:r>
            <a:r>
              <a:rPr lang="en-US" sz="2000" i="1" dirty="0"/>
              <a:t>enough. (amount considered as a single sum)</a:t>
            </a:r>
          </a:p>
          <a:p>
            <a:pPr algn="ctr"/>
            <a:r>
              <a:rPr lang="en-US" sz="2000" b="1" i="1" dirty="0">
                <a:solidFill>
                  <a:srgbClr val="00B050"/>
                </a:solidFill>
              </a:rPr>
              <a:t>Ten dollars </a:t>
            </a:r>
            <a:r>
              <a:rPr lang="en-US" sz="2000" b="1" i="1" dirty="0">
                <a:solidFill>
                  <a:srgbClr val="FF0000"/>
                </a:solidFill>
              </a:rPr>
              <a:t>were</a:t>
            </a:r>
            <a:r>
              <a:rPr lang="en-US" sz="2000" b="1" i="1" dirty="0"/>
              <a:t> </a:t>
            </a:r>
            <a:r>
              <a:rPr lang="en-US" sz="2000" i="1" dirty="0"/>
              <a:t>scattered on the floor. (individual coins)</a:t>
            </a: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</p:txBody>
      </p:sp>
      <p:sp>
        <p:nvSpPr>
          <p:cNvPr id="239" name="Google Shape;239;p27">
            <a:extLst>
              <a:ext uri="{FF2B5EF4-FFF2-40B4-BE49-F238E27FC236}">
                <a16:creationId xmlns:a16="http://schemas.microsoft.com/office/drawing/2014/main" id="{F13F0250-C36C-11B8-1ABD-8211004421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3464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E08C2378-CB98-38E3-8CFA-BDAF2E38B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>
            <a:extLst>
              <a:ext uri="{FF2B5EF4-FFF2-40B4-BE49-F238E27FC236}">
                <a16:creationId xmlns:a16="http://schemas.microsoft.com/office/drawing/2014/main" id="{3A5AAE00-58BE-1BD0-2301-5C37AEA33D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5371" y="962423"/>
            <a:ext cx="10013710" cy="121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82875" rIns="1097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eiryo"/>
              <a:buNone/>
            </a:pPr>
            <a:r>
              <a:rPr lang="en-US" sz="4400" dirty="0"/>
              <a:t>Fractions and Percentages</a:t>
            </a:r>
            <a:endParaRPr dirty="0"/>
          </a:p>
        </p:txBody>
      </p:sp>
      <p:sp>
        <p:nvSpPr>
          <p:cNvPr id="238" name="Google Shape;238;p27">
            <a:extLst>
              <a:ext uri="{FF2B5EF4-FFF2-40B4-BE49-F238E27FC236}">
                <a16:creationId xmlns:a16="http://schemas.microsoft.com/office/drawing/2014/main" id="{7BFD0F32-E130-74FC-DF05-17EED93CF0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42563" y="2590800"/>
            <a:ext cx="10131986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/>
          <a:p>
            <a:r>
              <a:rPr lang="en-US" sz="2000" dirty="0"/>
              <a:t>The verb depends on what the fraction or percentage refers to:</a:t>
            </a:r>
          </a:p>
          <a:p>
            <a:pPr algn="ctr"/>
            <a:r>
              <a:rPr lang="en-US" sz="2000" b="1" i="1" dirty="0">
                <a:solidFill>
                  <a:srgbClr val="00B050"/>
                </a:solidFill>
              </a:rPr>
              <a:t>Half of the cake </a:t>
            </a:r>
            <a:r>
              <a:rPr lang="en-US" sz="2000" b="1" i="1" dirty="0">
                <a:solidFill>
                  <a:srgbClr val="FF0000"/>
                </a:solidFill>
              </a:rPr>
              <a:t>is</a:t>
            </a:r>
            <a:r>
              <a:rPr lang="en-US" sz="2000" b="1" i="1" dirty="0"/>
              <a:t> </a:t>
            </a:r>
            <a:r>
              <a:rPr lang="en-US" sz="2000" i="1" dirty="0"/>
              <a:t>gone. (cake = singular)</a:t>
            </a:r>
          </a:p>
          <a:p>
            <a:pPr algn="ctr"/>
            <a:r>
              <a:rPr lang="en-US" sz="2000" b="1" i="1" dirty="0">
                <a:solidFill>
                  <a:srgbClr val="00B050"/>
                </a:solidFill>
              </a:rPr>
              <a:t>Half of the students </a:t>
            </a:r>
            <a:r>
              <a:rPr lang="en-US" sz="2000" b="1" i="1" dirty="0">
                <a:solidFill>
                  <a:srgbClr val="FF0000"/>
                </a:solidFill>
              </a:rPr>
              <a:t>are</a:t>
            </a:r>
            <a:r>
              <a:rPr lang="en-US" sz="2000" b="1" i="1" dirty="0"/>
              <a:t> </a:t>
            </a:r>
            <a:r>
              <a:rPr lang="en-US" sz="2000" i="1" dirty="0"/>
              <a:t>absent. (students = plural)</a:t>
            </a:r>
          </a:p>
        </p:txBody>
      </p:sp>
      <p:sp>
        <p:nvSpPr>
          <p:cNvPr id="239" name="Google Shape;239;p27">
            <a:extLst>
              <a:ext uri="{FF2B5EF4-FFF2-40B4-BE49-F238E27FC236}">
                <a16:creationId xmlns:a16="http://schemas.microsoft.com/office/drawing/2014/main" id="{E1D71599-820B-8DBB-84B0-C65566CD57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047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22AA2556-93BE-873C-396A-6FD63C20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>
            <a:extLst>
              <a:ext uri="{FF2B5EF4-FFF2-40B4-BE49-F238E27FC236}">
                <a16:creationId xmlns:a16="http://schemas.microsoft.com/office/drawing/2014/main" id="{865D10E6-321F-EA62-1F26-738DDFD0F5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5371" y="962423"/>
            <a:ext cx="10013710" cy="121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82875" rIns="109725" bIns="91425" anchor="ctr" anchorCtr="0">
            <a:noAutofit/>
          </a:bodyPr>
          <a:lstStyle/>
          <a:p>
            <a:pPr lvl="0" algn="ctr">
              <a:buSzPts val="4400"/>
            </a:pPr>
            <a:r>
              <a:rPr lang="en-US" sz="4400" dirty="0"/>
              <a:t>Words like “along with,” “together with,” “as well as”</a:t>
            </a:r>
            <a:endParaRPr dirty="0"/>
          </a:p>
        </p:txBody>
      </p:sp>
      <p:sp>
        <p:nvSpPr>
          <p:cNvPr id="238" name="Google Shape;238;p27">
            <a:extLst>
              <a:ext uri="{FF2B5EF4-FFF2-40B4-BE49-F238E27FC236}">
                <a16:creationId xmlns:a16="http://schemas.microsoft.com/office/drawing/2014/main" id="{03E3EEB0-B735-76FA-A17D-BA6FA69E96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42563" y="2590800"/>
            <a:ext cx="10131986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/>
          <a:p>
            <a:r>
              <a:rPr lang="en-US" sz="2000" dirty="0"/>
              <a:t>These </a:t>
            </a:r>
            <a:r>
              <a:rPr lang="en-US" sz="2000" b="1" dirty="0"/>
              <a:t>do not make the subject plural</a:t>
            </a:r>
            <a:r>
              <a:rPr lang="en-US" sz="2000" dirty="0"/>
              <a:t>. Verb agrees with the main subject:</a:t>
            </a:r>
          </a:p>
          <a:p>
            <a:pPr algn="ctr"/>
            <a:r>
              <a:rPr lang="en-US" sz="2000" b="1" i="1" dirty="0">
                <a:solidFill>
                  <a:srgbClr val="00B050"/>
                </a:solidFill>
              </a:rPr>
              <a:t>The manager</a:t>
            </a:r>
            <a:r>
              <a:rPr lang="en-US" sz="2000" b="1" i="1" dirty="0"/>
              <a:t>, </a:t>
            </a:r>
            <a:r>
              <a:rPr lang="en-US" sz="2000" i="1" dirty="0"/>
              <a:t>along with his assistants</a:t>
            </a:r>
            <a:r>
              <a:rPr lang="en-US" sz="2000" b="1" i="1" dirty="0"/>
              <a:t>, </a:t>
            </a:r>
            <a:r>
              <a:rPr lang="en-US" sz="2000" b="1" i="1" dirty="0">
                <a:solidFill>
                  <a:srgbClr val="FF0000"/>
                </a:solidFill>
              </a:rPr>
              <a:t>is</a:t>
            </a:r>
            <a:r>
              <a:rPr lang="en-US" sz="2000" b="1" i="1" dirty="0"/>
              <a:t> </a:t>
            </a:r>
            <a:r>
              <a:rPr lang="en-US" sz="2000" i="1" dirty="0"/>
              <a:t>attending the meeting.</a:t>
            </a:r>
          </a:p>
          <a:p>
            <a:pPr algn="ctr"/>
            <a:r>
              <a:rPr lang="en-US" sz="2000" b="1" i="1" dirty="0">
                <a:solidFill>
                  <a:srgbClr val="00B050"/>
                </a:solidFill>
              </a:rPr>
              <a:t>The singer</a:t>
            </a:r>
            <a:r>
              <a:rPr lang="en-US" sz="2000" b="1" i="1" dirty="0"/>
              <a:t>, </a:t>
            </a:r>
            <a:r>
              <a:rPr lang="en-US" sz="2000" i="1" dirty="0"/>
              <a:t>together with her band</a:t>
            </a:r>
            <a:r>
              <a:rPr lang="en-US" sz="2000" b="1" i="1" dirty="0"/>
              <a:t>, </a:t>
            </a:r>
            <a:r>
              <a:rPr lang="en-US" sz="2000" b="1" i="1" dirty="0">
                <a:solidFill>
                  <a:srgbClr val="FF0000"/>
                </a:solidFill>
              </a:rPr>
              <a:t>was</a:t>
            </a:r>
            <a:r>
              <a:rPr lang="en-US" sz="2000" b="1" i="1" dirty="0"/>
              <a:t> </a:t>
            </a:r>
            <a:r>
              <a:rPr lang="en-US" sz="2000" i="1" dirty="0"/>
              <a:t>applauded.</a:t>
            </a:r>
          </a:p>
        </p:txBody>
      </p:sp>
      <p:sp>
        <p:nvSpPr>
          <p:cNvPr id="239" name="Google Shape;239;p27">
            <a:extLst>
              <a:ext uri="{FF2B5EF4-FFF2-40B4-BE49-F238E27FC236}">
                <a16:creationId xmlns:a16="http://schemas.microsoft.com/office/drawing/2014/main" id="{5C220750-9DC1-EC1C-5A37-0938BF9EFD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8444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9EC6A9FC-689F-192C-9F60-034A8BF35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>
            <a:extLst>
              <a:ext uri="{FF2B5EF4-FFF2-40B4-BE49-F238E27FC236}">
                <a16:creationId xmlns:a16="http://schemas.microsoft.com/office/drawing/2014/main" id="{0C7191E3-A2D5-E2D8-B405-63762A299D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5371" y="962423"/>
            <a:ext cx="10013710" cy="121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82875" rIns="109725" bIns="91425" anchor="ctr" anchorCtr="0">
            <a:noAutofit/>
          </a:bodyPr>
          <a:lstStyle/>
          <a:p>
            <a:pPr lvl="0" algn="ctr">
              <a:buSzPts val="4400"/>
            </a:pPr>
            <a:r>
              <a:rPr lang="en-US" sz="4400" dirty="0"/>
              <a:t>“Each of,” “Every one of”</a:t>
            </a:r>
            <a:endParaRPr dirty="0"/>
          </a:p>
        </p:txBody>
      </p:sp>
      <p:sp>
        <p:nvSpPr>
          <p:cNvPr id="238" name="Google Shape;238;p27">
            <a:extLst>
              <a:ext uri="{FF2B5EF4-FFF2-40B4-BE49-F238E27FC236}">
                <a16:creationId xmlns:a16="http://schemas.microsoft.com/office/drawing/2014/main" id="{287AF4E6-1C4E-5CBB-083B-5D9EF0977F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42563" y="2590800"/>
            <a:ext cx="10131986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/>
          <a:p>
            <a:r>
              <a:rPr lang="en-US" sz="2000" dirty="0"/>
              <a:t>These are always singular:</a:t>
            </a:r>
          </a:p>
          <a:p>
            <a:pPr algn="ctr"/>
            <a:r>
              <a:rPr lang="en-US" sz="2000" b="1" i="1" dirty="0">
                <a:solidFill>
                  <a:srgbClr val="00B050"/>
                </a:solidFill>
              </a:rPr>
              <a:t>Each of the players </a:t>
            </a:r>
            <a:r>
              <a:rPr lang="en-US" sz="2000" b="1" i="1" dirty="0">
                <a:solidFill>
                  <a:srgbClr val="FF0000"/>
                </a:solidFill>
              </a:rPr>
              <a:t>is</a:t>
            </a:r>
            <a:r>
              <a:rPr lang="en-US" sz="2000" b="1" i="1" dirty="0"/>
              <a:t> </a:t>
            </a:r>
            <a:r>
              <a:rPr lang="en-US" sz="2000" i="1" dirty="0"/>
              <a:t>skilled</a:t>
            </a:r>
            <a:r>
              <a:rPr lang="en-US" sz="2000" b="1" i="1" dirty="0"/>
              <a:t>.</a:t>
            </a:r>
          </a:p>
          <a:p>
            <a:pPr algn="ctr"/>
            <a:r>
              <a:rPr lang="en-US" sz="2000" b="1" i="1" dirty="0">
                <a:solidFill>
                  <a:srgbClr val="00B050"/>
                </a:solidFill>
              </a:rPr>
              <a:t>Every one of the books </a:t>
            </a:r>
            <a:r>
              <a:rPr lang="en-US" sz="2000" b="1" i="1" dirty="0">
                <a:solidFill>
                  <a:srgbClr val="FF0000"/>
                </a:solidFill>
              </a:rPr>
              <a:t>has</a:t>
            </a:r>
            <a:r>
              <a:rPr lang="en-US" sz="2000" b="1" i="1" dirty="0"/>
              <a:t> </a:t>
            </a:r>
            <a:r>
              <a:rPr lang="en-US" sz="2000" i="1" dirty="0"/>
              <a:t>a cover.</a:t>
            </a:r>
          </a:p>
        </p:txBody>
      </p:sp>
      <p:sp>
        <p:nvSpPr>
          <p:cNvPr id="239" name="Google Shape;239;p27">
            <a:extLst>
              <a:ext uri="{FF2B5EF4-FFF2-40B4-BE49-F238E27FC236}">
                <a16:creationId xmlns:a16="http://schemas.microsoft.com/office/drawing/2014/main" id="{F17EF3A2-CF0F-B730-8D4C-5193BCE609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7718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3AC19009-5196-DADD-12DB-23433B86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>
            <a:extLst>
              <a:ext uri="{FF2B5EF4-FFF2-40B4-BE49-F238E27FC236}">
                <a16:creationId xmlns:a16="http://schemas.microsoft.com/office/drawing/2014/main" id="{13B2095E-CA49-DEB0-B424-FDCD0986EF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5371" y="962423"/>
            <a:ext cx="10013710" cy="121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82875" rIns="109725" bIns="91425" anchor="ctr" anchorCtr="0">
            <a:noAutofit/>
          </a:bodyPr>
          <a:lstStyle/>
          <a:p>
            <a:pPr lvl="0" algn="ctr">
              <a:buSzPts val="4400"/>
            </a:pPr>
            <a:r>
              <a:rPr lang="en-US" sz="4400" dirty="0"/>
              <a:t>“Either…or” “Neither…nor”</a:t>
            </a:r>
            <a:endParaRPr dirty="0"/>
          </a:p>
        </p:txBody>
      </p:sp>
      <p:sp>
        <p:nvSpPr>
          <p:cNvPr id="238" name="Google Shape;238;p27">
            <a:extLst>
              <a:ext uri="{FF2B5EF4-FFF2-40B4-BE49-F238E27FC236}">
                <a16:creationId xmlns:a16="http://schemas.microsoft.com/office/drawing/2014/main" id="{DD877943-7993-6F93-6627-0DF6CC7C72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42563" y="2590800"/>
            <a:ext cx="10131986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/>
          <a:p>
            <a:r>
              <a:rPr lang="en-US" sz="2000" dirty="0"/>
              <a:t>When subjects are joined by either…or </a:t>
            </a:r>
            <a:r>
              <a:rPr lang="en-US" sz="2000" dirty="0" err="1"/>
              <a:t>or</a:t>
            </a:r>
            <a:r>
              <a:rPr lang="en-US" sz="2000" dirty="0"/>
              <a:t> neither…nor, the verb agrees with the subject closest to it.</a:t>
            </a:r>
          </a:p>
          <a:p>
            <a:pPr algn="ctr"/>
            <a:r>
              <a:rPr lang="en-US" sz="2000" b="1" dirty="0"/>
              <a:t>Pattern:</a:t>
            </a:r>
            <a:br>
              <a:rPr lang="en-US" sz="2000" dirty="0"/>
            </a:br>
            <a:r>
              <a:rPr lang="en-US" dirty="0"/>
              <a:t>Either A or B → verb agrees with B</a:t>
            </a:r>
            <a:br>
              <a:rPr lang="en-US" sz="2000" dirty="0"/>
            </a:br>
            <a:r>
              <a:rPr lang="en-US" dirty="0"/>
              <a:t>Neither A nor B → verb agrees with B</a:t>
            </a:r>
          </a:p>
          <a:p>
            <a:pPr algn="ctr"/>
            <a:r>
              <a:rPr lang="en-US" sz="2000" i="1" dirty="0">
                <a:solidFill>
                  <a:schemeClr val="tx1"/>
                </a:solidFill>
              </a:rPr>
              <a:t>Either the teacher or </a:t>
            </a:r>
            <a:r>
              <a:rPr lang="en-US" sz="2000" b="1" i="1" dirty="0">
                <a:solidFill>
                  <a:srgbClr val="00B050"/>
                </a:solidFill>
              </a:rPr>
              <a:t>the student </a:t>
            </a:r>
            <a:r>
              <a:rPr lang="en-US" sz="2000" b="1" i="1" dirty="0">
                <a:solidFill>
                  <a:srgbClr val="FF0000"/>
                </a:solidFill>
              </a:rPr>
              <a:t>is</a:t>
            </a:r>
            <a:r>
              <a:rPr lang="en-US" sz="2000" b="1" i="1" dirty="0"/>
              <a:t> </a:t>
            </a:r>
            <a:r>
              <a:rPr lang="en-US" sz="2000" i="1" dirty="0"/>
              <a:t>responsible</a:t>
            </a:r>
            <a:r>
              <a:rPr lang="en-US" sz="2000" b="1" i="1" dirty="0"/>
              <a:t>.</a:t>
            </a:r>
          </a:p>
          <a:p>
            <a:pPr algn="ctr"/>
            <a:r>
              <a:rPr lang="en-US" sz="2000" i="1" dirty="0">
                <a:solidFill>
                  <a:schemeClr val="tx1"/>
                </a:solidFill>
              </a:rPr>
              <a:t>Neither the manager nor </a:t>
            </a:r>
            <a:r>
              <a:rPr lang="en-US" sz="2000" b="1" i="1" dirty="0">
                <a:solidFill>
                  <a:srgbClr val="00B050"/>
                </a:solidFill>
              </a:rPr>
              <a:t>the employees </a:t>
            </a:r>
            <a:r>
              <a:rPr lang="en-US" sz="2000" b="1" i="1" dirty="0">
                <a:solidFill>
                  <a:srgbClr val="FF0000"/>
                </a:solidFill>
              </a:rPr>
              <a:t>are</a:t>
            </a:r>
            <a:r>
              <a:rPr lang="en-US" sz="2000" b="1" i="1" dirty="0"/>
              <a:t> </a:t>
            </a:r>
            <a:r>
              <a:rPr lang="en-US" sz="2000" i="1" dirty="0"/>
              <a:t>attending</a:t>
            </a:r>
            <a:r>
              <a:rPr lang="en-US" sz="2000" b="1" i="1" dirty="0"/>
              <a:t>.</a:t>
            </a:r>
          </a:p>
          <a:p>
            <a:pPr algn="ctr"/>
            <a:endParaRPr lang="en-US" sz="2000" dirty="0"/>
          </a:p>
        </p:txBody>
      </p:sp>
      <p:sp>
        <p:nvSpPr>
          <p:cNvPr id="239" name="Google Shape;239;p27">
            <a:extLst>
              <a:ext uri="{FF2B5EF4-FFF2-40B4-BE49-F238E27FC236}">
                <a16:creationId xmlns:a16="http://schemas.microsoft.com/office/drawing/2014/main" id="{651D201D-51F6-8BA1-587E-885A3E75CB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798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>
            <a:spLocks noGrp="1"/>
          </p:cNvSpPr>
          <p:nvPr>
            <p:ph type="title"/>
          </p:nvPr>
        </p:nvSpPr>
        <p:spPr>
          <a:xfrm>
            <a:off x="1535372" y="4873752"/>
            <a:ext cx="10013709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82875" rIns="1097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eiryo"/>
              <a:buNone/>
            </a:pPr>
            <a:r>
              <a:rPr lang="en-US" sz="4400"/>
              <a:t>Finding the Subject</a:t>
            </a:r>
            <a:endParaRPr/>
          </a:p>
        </p:txBody>
      </p:sp>
      <p:sp>
        <p:nvSpPr>
          <p:cNvPr id="246" name="Google Shape;246;p28"/>
          <p:cNvSpPr txBox="1">
            <a:spLocks noGrp="1"/>
          </p:cNvSpPr>
          <p:nvPr>
            <p:ph type="body" idx="1"/>
          </p:nvPr>
        </p:nvSpPr>
        <p:spPr>
          <a:xfrm>
            <a:off x="1542563" y="502269"/>
            <a:ext cx="10227679" cy="371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/>
              <a:t>Sometimes, it can be tricky to find the subject in a sentence, because subjects and verbs change their positions change position in English sentences.  </a:t>
            </a:r>
            <a:endParaRPr/>
          </a:p>
          <a:p>
            <a:pPr marL="0" lvl="0" indent="0" algn="l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/>
              <a:t>Relative clauses and noun phrases can make it difficult to find the subject. </a:t>
            </a:r>
            <a:endParaRPr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00B050"/>
              </a:buClr>
              <a:buSzPts val="1800"/>
              <a:buNone/>
            </a:pPr>
            <a:r>
              <a:rPr lang="en-US" b="1" i="1">
                <a:solidFill>
                  <a:srgbClr val="00B050"/>
                </a:solidFill>
              </a:rPr>
              <a:t>The car</a:t>
            </a:r>
            <a:r>
              <a:rPr lang="en-US" i="1"/>
              <a:t>, which belongs to my brother, </a:t>
            </a:r>
            <a:r>
              <a:rPr lang="en-US" b="1" i="1">
                <a:solidFill>
                  <a:srgbClr val="FF0000"/>
                </a:solidFill>
              </a:rPr>
              <a:t>is</a:t>
            </a:r>
            <a:r>
              <a:rPr lang="en-US" i="1"/>
              <a:t> new. </a:t>
            </a:r>
            <a:endParaRPr/>
          </a:p>
          <a:p>
            <a:pPr marL="0" lvl="0" indent="0" algn="ctr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00B050"/>
              </a:buClr>
              <a:buSzPts val="1800"/>
              <a:buNone/>
            </a:pPr>
            <a:r>
              <a:rPr lang="en-US" b="1" i="1">
                <a:solidFill>
                  <a:srgbClr val="00B050"/>
                </a:solidFill>
              </a:rPr>
              <a:t>The new features </a:t>
            </a:r>
            <a:r>
              <a:rPr lang="en-US" i="1"/>
              <a:t>of the car </a:t>
            </a:r>
            <a:r>
              <a:rPr lang="en-US" b="1" i="1">
                <a:solidFill>
                  <a:srgbClr val="FF0000"/>
                </a:solidFill>
              </a:rPr>
              <a:t>are</a:t>
            </a:r>
            <a:r>
              <a:rPr lang="en-US" i="1"/>
              <a:t> interesting.</a:t>
            </a:r>
            <a:endParaRPr/>
          </a:p>
          <a:p>
            <a:pPr marL="0" lvl="0" indent="0" algn="l" rtl="0">
              <a:lnSpc>
                <a:spcPct val="125000"/>
              </a:lnSpc>
              <a:spcBef>
                <a:spcPts val="15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/>
              <a:t>Removing the subject of the sentence leaves you with the question “what?”</a:t>
            </a:r>
            <a:endParaRPr/>
          </a:p>
        </p:txBody>
      </p:sp>
      <p:sp>
        <p:nvSpPr>
          <p:cNvPr id="247" name="Google Shape;247;p28"/>
          <p:cNvSpPr txBox="1">
            <a:spLocks noGrp="1"/>
          </p:cNvSpPr>
          <p:nvPr>
            <p:ph type="sldNum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rgbClr val="000000"/>
      </a:dk1>
      <a:lt1>
        <a:srgbClr val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854</Words>
  <Application>Microsoft Office PowerPoint</Application>
  <PresentationFormat>Widescreen</PresentationFormat>
  <Paragraphs>113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Meiryo</vt:lpstr>
      <vt:lpstr>Arial</vt:lpstr>
      <vt:lpstr>Calibri</vt:lpstr>
      <vt:lpstr>Corbel</vt:lpstr>
      <vt:lpstr>Noto Sans Symbols</vt:lpstr>
      <vt:lpstr>ShojiVTI</vt:lpstr>
      <vt:lpstr>SUBJECT- VERB AGREEMENT</vt:lpstr>
      <vt:lpstr>In any sentence, the subject and verb must agree.</vt:lpstr>
      <vt:lpstr>Plurals</vt:lpstr>
      <vt:lpstr>Plurals</vt:lpstr>
      <vt:lpstr>Auxiliary Verbs </vt:lpstr>
      <vt:lpstr>Modal Verbs </vt:lpstr>
      <vt:lpstr>Indefinite Pronouns</vt:lpstr>
      <vt:lpstr>Compound Subjects</vt:lpstr>
      <vt:lpstr>Gerunds</vt:lpstr>
      <vt:lpstr>Collective Nouns</vt:lpstr>
      <vt:lpstr>Uncountable Nouns</vt:lpstr>
      <vt:lpstr>Amounts and Quantities</vt:lpstr>
      <vt:lpstr>Fractions and Percentages</vt:lpstr>
      <vt:lpstr>Words like “along with,” “together with,” “as well as”</vt:lpstr>
      <vt:lpstr>“Each of,” “Every one of”</vt:lpstr>
      <vt:lpstr>“Either…or” “Neither…nor”</vt:lpstr>
      <vt:lpstr>Finding the Subject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Nimra Nazim</cp:lastModifiedBy>
  <cp:revision>4</cp:revision>
  <dcterms:modified xsi:type="dcterms:W3CDTF">2026-03-25T04:55:10Z</dcterms:modified>
</cp:coreProperties>
</file>